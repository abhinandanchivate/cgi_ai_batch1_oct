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2. GenAI. Source IDs S006, S007, S008, S009, S010. Today's guided increment: BankAssist: transaction explanation prototype. Input: Masked transaction sample and approved response examples. Output: Model selection note plus 5 test explanations.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Hour 1 (00:00–01:00): Theory and 5W1H. S006. Activity: GenAI foundations and risk
Hour 2 (01:00–02:00): Instructor demonstration. S007. Activity: Compare AI, ML and GenAI options; prototype grounded transaction-language responses.
Hour 3 (02:00–03:00): Guided BankAssist implementation. S008. Activity: Compare AI, ML and GenAI options; prototype grounded transaction-language responses.
Hour 4 (03:00–04:00): ReconAI assignment launch and evidence. S009, S010. Activity: GenAI foundations and risk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topic lines exactly as written. Repeated (application) IDs today: S001, S003, S004, S005.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S006: AI is the field; ML learns patterns from data; GenAI creates new content such as text or images.
S007: GenAI models learn the probability of the next token and generate output by sampling from it.
S008: Main families: text LLMs, image/diffusion models, code models, speech and multimodal models.
S009: Models generate by predicting likely continuations — which brings bias, hallucination and run-to-run variation.
S010: Deployment hurdles: cost, latency, data privacy, compliance approval, accountability and monitoring.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(AI vs ML vs GenAI) — How: For each task record input, output, need for determinism and cost of error; choose rules, ML or GenAI with a one-line rationale; mark transaction explanation as the GenAI candidate. Why: Using GenAI only where language generation adds value reduces cost and risk.
Step 2 (Core principles demo) — How: Run one masked transaction prompt three times; highlight variation; mark each statement as grounded in a record field or not. Why: Learners must see that output is probabilistic generation, not a database look-up.
Step 3 (Model type choice) — How: Score each candidate 1–5 on quality, latency, cost, privacy and availability; record the chosen type, rejected alternatives and a fallback option. Why: Model type drives quality, latency, cost, data residency and availability in the bank.
Step 4 (5 grounded explanations) — How: Pass the masked record and two approved examples; instruct the model to reference field names it used; compare each output with the approved style guide. Why: Restricting the model to record fields limits hallucination and keeps tone consistent.
Step 5 (Risk &amp; deployment review) — How: Tag every output grounded/ungrounded, tone OK/not OK, fairness concern Y/N; list deployment challenges (cost, latency, compliance sign-off, monitoring) with an owner each. Why: Makes GenAI risk concrete on banking data before anything scales.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focus: Run the same explanation prompt three times on screen and highlight where wording and facts drift.
Run the scenario live; point out the expected result and the human boundary.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flow left to right: Banking record → AI task boundary → Draft explanation → Reviewer. Relate each box to today's steps: AI vs ML vs GenAI, Core principles demo, Model type choice, 5 grounded explanations, Risk &amp; deployment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Expected answers:
Q1: Transaction categorisation by MCC or amount thresholds.
Q2: The same input can produce different outputs because generation samples from a probability distribution.
Q3: Compliance sign-off, cost per interaction, or accountability for wrong answers.
Common mistakes:
Using GenAI for tasks rules can do (e.g., categorising by MCC). → Apply the task-to-technique table first.
Letting the model add facts not in the record. → Instruct the model to use only listed fields and name them.
Judging quality on one run. → Run each case at least twice and compare.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GenAI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AI &amp; Challenges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31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Source-locked 5W1H · Live use case · Architecture flow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2560320" cy="1051560"/>
          </a:xfrm>
          <a:prstGeom prst="roundRect">
            <a:avLst>
              <a:gd name="adj" fmla="val 6957"/>
            </a:avLst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31729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hours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345643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1.25h concept · 2.75h lab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3063240"/>
            <a:ext cx="2560320" cy="1051560"/>
          </a:xfrm>
          <a:prstGeom prst="roundRect">
            <a:avLst>
              <a:gd name="adj" fmla="val 6957"/>
            </a:avLst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56432" y="31729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IDs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456432" y="345643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S006, S007, S008, S009, S010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3063240"/>
            <a:ext cx="2560320" cy="1051560"/>
          </a:xfrm>
          <a:prstGeom prst="roundRect">
            <a:avLst>
              <a:gd name="adj" fmla="val 6957"/>
            </a:avLst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99632" y="31729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199632" y="345643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SOL-B02 · SOL-R02 · CAP-02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343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case: BankAssist: transaction explanation prototype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68172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Day02_SourceLocked_5W1H_Architecture.pptx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502920" cy="50292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2181" y="413309"/>
            <a:ext cx="261518" cy="26151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51560" y="256032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at a glance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1051560" y="676656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1-hour blocks from the workbook Hourly Plan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7818120" y="3108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02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309360" y="4828032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BankAssist 360 · Source-locked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11480" y="1143000"/>
            <a:ext cx="1965960" cy="352044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1280160"/>
            <a:ext cx="457200" cy="45720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097280" y="134416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00:00–01:00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18288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and 5W1H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239572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S006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2697480"/>
            <a:ext cx="1691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AI &amp; Challenges | AI vs ML vs GenAI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41148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514600" y="1143000"/>
            <a:ext cx="1965960" cy="352044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651760" y="1280160"/>
            <a:ext cx="457200" cy="45720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65176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3200400" y="134416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01:00–02:00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2651760" y="18288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demonstration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2651760" y="239572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S007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2651760" y="2697480"/>
            <a:ext cx="1691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Principles of GenAI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2651760" y="41148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2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617720" y="1143000"/>
            <a:ext cx="1965960" cy="352044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754880" y="1280160"/>
            <a:ext cx="457200" cy="45720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75488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5303520" y="134416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02:00–03:00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4754880" y="18288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BankAssist implementation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4754880" y="239572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S008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4754880" y="2697480"/>
            <a:ext cx="1691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GenAI Models</a:t>
            </a:r>
            <a:endParaRPr lang="en-US" sz="95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148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3, 4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6720840" y="1143000"/>
            <a:ext cx="1965960" cy="352044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6858000" y="1280160"/>
            <a:ext cx="457200" cy="45720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85800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5" name="Text 32"/>
          <p:cNvSpPr txBox="1"/>
          <p:nvPr/>
        </p:nvSpPr>
        <p:spPr>
          <a:xfrm>
            <a:off x="7406640" y="134416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03:00–04:00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6858000" y="18288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ReconAI assignment launch and evidence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6858000" y="239572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S009, S010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6858000" y="2697480"/>
            <a:ext cx="1691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Generative Models Create Data; Key Challenges: Bias, Hallucination, Stochasticity · Business and Technical Challenges in Deployment</a:t>
            </a:r>
            <a:endParaRPr lang="en-US" sz="950" dirty="0"/>
          </a:p>
        </p:txBody>
      </p:sp>
      <p:sp>
        <p:nvSpPr>
          <p:cNvPr id="39" name="Text 36"/>
          <p:cNvSpPr txBox="1"/>
          <p:nvPr/>
        </p:nvSpPr>
        <p:spPr>
          <a:xfrm>
            <a:off x="6858000" y="41148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502920" cy="50292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2181" y="413309"/>
            <a:ext cx="261518" cy="26151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51560" y="256032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Exact TOC topics (unchanged)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1051560" y="676656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Wording copied verbatim from the source-locked TOC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7818120" y="3108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02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309360" y="4828032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BankAssist 360 · Source-locked</a:t>
            </a:r>
            <a:endParaRPr lang="en-US" sz="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97280"/>
          <a:ext cx="83210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72237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 topic + subtopic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99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 AI &amp; Challenges  | AI vs ML vs GenAI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99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Principles of GenAI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99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Types of GenAI Models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99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S009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Generative Models Create Data; Key Challenges: Bias, Hallucination, Stochasticity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99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and Technical Challenges in Deployment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502920" cy="50292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2181" y="413309"/>
            <a:ext cx="261518" cy="26151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51560" y="256032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Concepts in plain language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1051560" y="676656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card per source ID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7818120" y="3108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02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309360" y="4828032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BankAssist 360 · Source-locked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11480" y="1097280"/>
            <a:ext cx="4091940" cy="1112520"/>
          </a:xfrm>
          <a:prstGeom prst="roundRect">
            <a:avLst>
              <a:gd name="adj" fmla="val 6575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548640" y="11887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S006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1408176"/>
            <a:ext cx="38176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vs ML vs GenAI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1810512"/>
            <a:ext cx="3817620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the field; ML learns patterns from data; GenAI creates new content such as text or images.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640580" y="1097280"/>
            <a:ext cx="4091940" cy="1112520"/>
          </a:xfrm>
          <a:prstGeom prst="roundRect">
            <a:avLst>
              <a:gd name="adj" fmla="val 6575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4777740" y="11887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S007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4777740" y="1408176"/>
            <a:ext cx="38176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Principles of GenAI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4777740" y="1810512"/>
            <a:ext cx="3817620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models learn the probability of the next token and generate output by sampling from it.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11480" y="2346960"/>
            <a:ext cx="4091940" cy="1112520"/>
          </a:xfrm>
          <a:prstGeom prst="roundRect">
            <a:avLst>
              <a:gd name="adj" fmla="val 6575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548640" y="24384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S008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2657856"/>
            <a:ext cx="38176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GenAI Models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3060192"/>
            <a:ext cx="3817620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families: text LLMs, image/diffusion models, code models, speech and multimodal models.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640580" y="2346960"/>
            <a:ext cx="4091940" cy="1112520"/>
          </a:xfrm>
          <a:prstGeom prst="roundRect">
            <a:avLst>
              <a:gd name="adj" fmla="val 6575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4777740" y="24384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S009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4777740" y="2657856"/>
            <a:ext cx="38176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Generative Models Create Data; Key Challenges: Bias, Hallucination, Stochasticity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4777740" y="3060192"/>
            <a:ext cx="3817620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generate by predicting likely continuations — which brings bias, hallucination and run-to-run variation.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11480" y="3596640"/>
            <a:ext cx="4091940" cy="1112520"/>
          </a:xfrm>
          <a:prstGeom prst="roundRect">
            <a:avLst>
              <a:gd name="adj" fmla="val 6575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548640" y="36880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S010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3907536"/>
            <a:ext cx="38176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and Technical Challenges in Deployment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4309872"/>
            <a:ext cx="3817620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hurdles: cost, latency, data privacy, compliance approval, accountability and monitoring.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502920" cy="50292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2181" y="413309"/>
            <a:ext cx="261518" cy="26151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51560" y="256032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5W1H at a glance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1051560" y="676656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BankAssist: transaction explanation prototype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7818120" y="3108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02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309360" y="4828032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BankAssist 360 · Source-locked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11480" y="1097280"/>
            <a:ext cx="2670048" cy="1709928"/>
          </a:xfrm>
          <a:prstGeom prst="roundRect">
            <a:avLst>
              <a:gd name="adj" fmla="val 4278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1234440"/>
            <a:ext cx="457200" cy="45720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34416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124712" y="131673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1810512"/>
            <a:ext cx="2395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 between AI, ML and GenAI and where each fits in banking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3218688" y="1097280"/>
            <a:ext cx="2670048" cy="1709928"/>
          </a:xfrm>
          <a:prstGeom prst="roundRect">
            <a:avLst>
              <a:gd name="adj" fmla="val 4278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355848" y="1234440"/>
            <a:ext cx="457200" cy="45720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5576" y="1344168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931920" y="131673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3355848" y="1810512"/>
            <a:ext cx="2395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tool — GenAI is costly and probabilistic — use it only where language generation adds value.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6025896" y="1097280"/>
            <a:ext cx="2670048" cy="1709928"/>
          </a:xfrm>
          <a:prstGeom prst="roundRect">
            <a:avLst>
              <a:gd name="adj" fmla="val 4278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163056" y="1234440"/>
            <a:ext cx="457200" cy="45720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2784" y="1344168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739128" y="131673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6163056" y="1810512"/>
            <a:ext cx="2395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Explaining a transaction in plain language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411480" y="2944368"/>
            <a:ext cx="2670048" cy="1709928"/>
          </a:xfrm>
          <a:prstGeom prst="roundRect">
            <a:avLst>
              <a:gd name="adj" fmla="val 4278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548640" y="3081528"/>
            <a:ext cx="457200" cy="45720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3191256"/>
            <a:ext cx="237744" cy="23774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124712" y="316382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548640" y="3657600"/>
            <a:ext cx="2395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&amp; prompts · Data &amp; validation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3218688" y="2944368"/>
            <a:ext cx="2670048" cy="1709928"/>
          </a:xfrm>
          <a:prstGeom prst="roundRect">
            <a:avLst>
              <a:gd name="adj" fmla="val 4278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3355848" y="3081528"/>
            <a:ext cx="457200" cy="45720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65576" y="3191256"/>
            <a:ext cx="237744" cy="237744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3931920" y="316382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3355848" y="3657600"/>
            <a:ext cx="2395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 · Learners · Product owner · Risk officer</a:t>
            </a:r>
            <a:endParaRPr lang="en-US" sz="1050" dirty="0"/>
          </a:p>
        </p:txBody>
      </p:sp>
      <p:sp>
        <p:nvSpPr>
          <p:cNvPr id="33" name="Shape 25"/>
          <p:cNvSpPr/>
          <p:nvPr/>
        </p:nvSpPr>
        <p:spPr>
          <a:xfrm>
            <a:off x="6025896" y="2944368"/>
            <a:ext cx="2670048" cy="1709928"/>
          </a:xfrm>
          <a:prstGeom prst="roundRect">
            <a:avLst>
              <a:gd name="adj" fmla="val 4278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6163056" y="3081528"/>
            <a:ext cx="457200" cy="45720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2784" y="3191256"/>
            <a:ext cx="237744" cy="237744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6739128" y="316382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</a:t>
            </a:r>
            <a:endParaRPr lang="en-US" sz="1500" dirty="0"/>
          </a:p>
        </p:txBody>
      </p:sp>
      <p:sp>
        <p:nvSpPr>
          <p:cNvPr id="37" name="Text 28"/>
          <p:cNvSpPr txBox="1"/>
          <p:nvPr/>
        </p:nvSpPr>
        <p:spPr>
          <a:xfrm>
            <a:off x="6163056" y="3657600"/>
            <a:ext cx="2395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vs ML vs GenAI → Core principles demo → Model type choice → 5 grounded explanations → Risk &amp; deployment review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502920" cy="50292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2181" y="413309"/>
            <a:ext cx="261518" cy="26151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51560" y="256032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are we learning and building?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7818120" y="3108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02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6309360" y="4828032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BankAssist 360 · Source-locked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234440"/>
            <a:ext cx="502920" cy="50292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143000" y="114300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 between AI, ML and GenAI and where each fits in banking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2377440"/>
            <a:ext cx="502920" cy="50292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143000" y="228600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generative models create output — and why it varies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3520440"/>
            <a:ext cx="502920" cy="50292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143000" y="342900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families and the real challenges of deploying them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212080" y="109728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0B2545"/>
          </a:solidFill>
          <a:ln w="9525">
            <a:solidFill>
              <a:srgbClr val="D5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5440680" y="1280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BANKASSIST INCREMENT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5440680" y="16002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 explanation prototype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5440680" y="24231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5440680" y="265176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AI, ML and GenAI options; prototype grounded transaction-language responses.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5440680" y="36576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5440680" y="38862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 note plus 5 test explanations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502920" cy="50292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2181" y="413309"/>
            <a:ext cx="261518" cy="26151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51560" y="256032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does it matter in banking?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7818120" y="3108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02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6309360" y="4828032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BankAssist 360 · Source-locked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11480" y="1188720"/>
            <a:ext cx="2670048" cy="301752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40080" y="1417320"/>
            <a:ext cx="640080" cy="64008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699" y="1570939"/>
            <a:ext cx="332842" cy="33284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40080" y="22402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Right tool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640080" y="2743200"/>
            <a:ext cx="2240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is costly and probabilistic — use it only where language generation adds value.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218688" y="1188720"/>
            <a:ext cx="2670048" cy="301752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447288" y="1417320"/>
            <a:ext cx="640080" cy="64008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0907" y="1570939"/>
            <a:ext cx="332842" cy="33284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447288" y="22402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risks</a:t>
            </a:r>
            <a:endParaRPr lang="en-US" sz="1700" dirty="0"/>
          </a:p>
        </p:txBody>
      </p:sp>
      <p:sp>
        <p:nvSpPr>
          <p:cNvPr id="16" name="Text 11"/>
          <p:cNvSpPr txBox="1"/>
          <p:nvPr/>
        </p:nvSpPr>
        <p:spPr>
          <a:xfrm>
            <a:off x="3447288" y="2743200"/>
            <a:ext cx="2240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Bias, hallucination and variation must be visible before customers see output.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025896" y="1188720"/>
            <a:ext cx="2670048" cy="301752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254496" y="1417320"/>
            <a:ext cx="640080" cy="64008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8115" y="1570939"/>
            <a:ext cx="332842" cy="33284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254496" y="22402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Deployability</a:t>
            </a:r>
            <a:endParaRPr lang="en-US" sz="1700" dirty="0"/>
          </a:p>
        </p:txBody>
      </p:sp>
      <p:sp>
        <p:nvSpPr>
          <p:cNvPr id="21" name="Text 15"/>
          <p:cNvSpPr txBox="1"/>
          <p:nvPr/>
        </p:nvSpPr>
        <p:spPr>
          <a:xfrm>
            <a:off x="6254496" y="2743200"/>
            <a:ext cx="2240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Cost, latency and compliance decide whether a prototype can go live.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502920" cy="50292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2181" y="413309"/>
            <a:ext cx="261518" cy="26151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51560" y="256032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to use it — and when not to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7818120" y="3108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02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6309360" y="4828032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BankAssist 360 · Source-locked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11480" y="1097280"/>
            <a:ext cx="4069080" cy="3566160"/>
          </a:xfrm>
          <a:prstGeom prst="roundRect">
            <a:avLst>
              <a:gd name="adj" fmla="val 2051"/>
            </a:avLst>
          </a:prstGeom>
          <a:solidFill>
            <a:srgbClr val="E3F4F2"/>
          </a:solidFill>
          <a:ln w="9525">
            <a:solidFill>
              <a:srgbClr val="D5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40080" y="1280160"/>
            <a:ext cx="502920" cy="50292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781" y="1400861"/>
            <a:ext cx="261518" cy="26151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80160" y="13258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when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205740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Explaining a transaction in plain language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685800" y="288036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Summarising long case notes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685800" y="370332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Drafting a customer-friendly response for staff review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663440" y="1097280"/>
            <a:ext cx="4069080" cy="3566160"/>
          </a:xfrm>
          <a:prstGeom prst="roundRect">
            <a:avLst>
              <a:gd name="adj" fmla="val 2051"/>
            </a:avLst>
          </a:prstGeom>
          <a:solidFill>
            <a:srgbClr val="FCF1DF"/>
          </a:solidFill>
          <a:ln w="9525">
            <a:solidFill>
              <a:srgbClr val="D5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892040" y="1280160"/>
            <a:ext cx="502920" cy="50292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2741" y="1400861"/>
            <a:ext cx="261518" cy="26151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532120" y="13258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Avoid when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4937760" y="205740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Categorising by merchant code or thresholds (use rules)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4937760" y="288036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Calculating balances or fees (use code)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4937760" y="370332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requiring a guaranteed identical answer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502920" cy="50292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2181" y="413309"/>
            <a:ext cx="261518" cy="26151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51560" y="256032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sits in the architecture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1051560" y="676656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BankAssist 360 reference layers — highlighted layers change today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7818120" y="3108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02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309360" y="4828032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BankAssist 360 · Source-locked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11480" y="1051560"/>
            <a:ext cx="4572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105156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channel &amp; UI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11480" y="1453896"/>
            <a:ext cx="4572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94360" y="145389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service (FastAPI)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11480" y="1856232"/>
            <a:ext cx="4572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94360" y="18562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(chains · agents · graphs)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11480" y="2258568"/>
            <a:ext cx="4572000" cy="347472"/>
          </a:xfrm>
          <a:prstGeom prst="roundRect">
            <a:avLst>
              <a:gd name="adj" fmla="val 13158"/>
            </a:avLst>
          </a:prstGeom>
          <a:solidFill>
            <a:srgbClr val="1B998B"/>
          </a:solidFill>
          <a:ln w="9525">
            <a:solidFill>
              <a:srgbClr val="1B998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94360" y="225856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&amp; prompts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11480" y="2660904"/>
            <a:ext cx="4572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94360" y="266090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&amp; knowledge (RAG)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11480" y="3063240"/>
            <a:ext cx="4572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94360" y="306324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protocols (APIs · MCP · A2A)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11480" y="3465576"/>
            <a:ext cx="4572000" cy="347472"/>
          </a:xfrm>
          <a:prstGeom prst="roundRect">
            <a:avLst>
              <a:gd name="adj" fmla="val 13158"/>
            </a:avLst>
          </a:prstGeom>
          <a:solidFill>
            <a:srgbClr val="1B998B"/>
          </a:solidFill>
          <a:ln w="9525">
            <a:solidFill>
              <a:srgbClr val="1B998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94360" y="346557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validation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411480" y="3867912"/>
            <a:ext cx="4572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94360" y="386791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HITL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411480" y="4270248"/>
            <a:ext cx="4572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94360" y="427024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operations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5303520" y="105156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Text 24"/>
          <p:cNvSpPr txBox="1"/>
          <p:nvPr/>
        </p:nvSpPr>
        <p:spPr>
          <a:xfrm>
            <a:off x="5532120" y="1234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changes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532120" y="164592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&amp; prompts layer: first model call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only masked fields from the Day 1 data layer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5532120" y="33375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5532120" y="36118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lab with synthetic, masked data; enterprise services (Gemini, ADK) only where access is approved — mocks otherwise.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502920" cy="50292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2181" y="413309"/>
            <a:ext cx="261518" cy="26151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51560" y="256032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is involved?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7818120" y="3108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02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6309360" y="4828032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BankAssist 360 · Source-locked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11480" y="1051560"/>
            <a:ext cx="4087368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94360" y="1325880"/>
            <a:ext cx="640080" cy="64008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979" y="1479499"/>
            <a:ext cx="332842" cy="33284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17320" y="12070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1417320" y="152704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one prompt three times to show variation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636008" y="1051560"/>
            <a:ext cx="4087368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818888" y="1325880"/>
            <a:ext cx="640080" cy="64008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2507" y="1479499"/>
            <a:ext cx="332842" cy="33284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641848" y="12070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Learners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5641848" y="152704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tasks; prototype 5 explanations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411480" y="2377440"/>
            <a:ext cx="4087368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594360" y="2651760"/>
            <a:ext cx="640080" cy="64008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979" y="2805379"/>
            <a:ext cx="332842" cy="33284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417320" y="25328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</a:t>
            </a:r>
            <a:endParaRPr lang="en-US" sz="1400" dirty="0"/>
          </a:p>
        </p:txBody>
      </p:sp>
      <p:sp>
        <p:nvSpPr>
          <p:cNvPr id="21" name="Text 15"/>
          <p:cNvSpPr txBox="1"/>
          <p:nvPr/>
        </p:nvSpPr>
        <p:spPr>
          <a:xfrm>
            <a:off x="1417320" y="285292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where GenAI adds customer value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4636008" y="2377440"/>
            <a:ext cx="4087368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4818888" y="2651760"/>
            <a:ext cx="640080" cy="64008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2507" y="2805379"/>
            <a:ext cx="332842" cy="332842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641848" y="25328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officer</a:t>
            </a:r>
            <a:endParaRPr lang="en-US" sz="1400" dirty="0"/>
          </a:p>
        </p:txBody>
      </p:sp>
      <p:sp>
        <p:nvSpPr>
          <p:cNvPr id="26" name="Text 19"/>
          <p:cNvSpPr txBox="1"/>
          <p:nvPr/>
        </p:nvSpPr>
        <p:spPr>
          <a:xfrm>
            <a:off x="5641848" y="285292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bias and hallucination findings</a:t>
            </a:r>
            <a:endParaRPr lang="en-US" sz="1150" dirty="0"/>
          </a:p>
        </p:txBody>
      </p:sp>
      <p:sp>
        <p:nvSpPr>
          <p:cNvPr id="27" name="Shape 20"/>
          <p:cNvSpPr/>
          <p:nvPr/>
        </p:nvSpPr>
        <p:spPr>
          <a:xfrm>
            <a:off x="411480" y="374904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E6ECF5"/>
          </a:solidFill>
          <a:ln w="9525">
            <a:solidFill>
              <a:srgbClr val="D5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566928" y="3904488"/>
            <a:ext cx="566928" cy="566928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2991" y="4040551"/>
            <a:ext cx="294803" cy="294803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1325880" y="3813048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decision boundary</a:t>
            </a:r>
            <a:endParaRPr lang="en-US" sz="1100" dirty="0"/>
          </a:p>
        </p:txBody>
      </p:sp>
      <p:sp>
        <p:nvSpPr>
          <p:cNvPr id="31" name="Text 23"/>
          <p:cNvSpPr txBox="1"/>
          <p:nvPr/>
        </p:nvSpPr>
        <p:spPr>
          <a:xfrm>
            <a:off x="1325880" y="406908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BankAssist may explain, retrieve cited policy and draft using read-only tools. Refunds, reversals, fee waivers, account changes and complaint outcomes remain with authorised staff.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502920" cy="50292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2181" y="413309"/>
            <a:ext cx="261518" cy="26151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51560" y="256032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build it — step by step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1051560" y="676656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is pinned to its hour block and source IDs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7818120" y="3108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02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309360" y="4828032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BankAssist 360 · Source-locked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11480" y="1097280"/>
            <a:ext cx="1576426" cy="2926080"/>
          </a:xfrm>
          <a:prstGeom prst="roundRect">
            <a:avLst>
              <a:gd name="adj" fmla="val 4640"/>
            </a:avLst>
          </a:prstGeom>
          <a:solidFill>
            <a:srgbClr val="E6ECF5"/>
          </a:solidFill>
          <a:ln w="9525">
            <a:solidFill>
              <a:srgbClr val="D5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521208" y="1188720"/>
            <a:ext cx="13569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· S006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521208" y="1444752"/>
            <a:ext cx="135697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AI vs ML vs GenAI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521208" y="2029968"/>
            <a:ext cx="135697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candidate BankAssist tasks (categorise a transaction, flag an anomaly, explain a transaction in plain language) as rules, ML or GenAI.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1942186" y="2423160"/>
            <a:ext cx="201168" cy="274320"/>
          </a:xfrm>
          <a:prstGeom prst="rightArrow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097634" y="1097280"/>
            <a:ext cx="1576426" cy="2926080"/>
          </a:xfrm>
          <a:prstGeom prst="roundRect">
            <a:avLst>
              <a:gd name="adj" fmla="val 4640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2207362" y="1188720"/>
            <a:ext cx="13569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· S007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2207362" y="1444752"/>
            <a:ext cx="135697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Core principles demo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2207362" y="2029968"/>
            <a:ext cx="135697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how a generative model produces an explanation from instructions plus context, running the same prompt several times.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628339" y="2423160"/>
            <a:ext cx="201168" cy="274320"/>
          </a:xfrm>
          <a:prstGeom prst="rightArrow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783787" y="1097280"/>
            <a:ext cx="1576426" cy="2926080"/>
          </a:xfrm>
          <a:prstGeom prst="roundRect">
            <a:avLst>
              <a:gd name="adj" fmla="val 4640"/>
            </a:avLst>
          </a:prstGeom>
          <a:solidFill>
            <a:srgbClr val="E6ECF5"/>
          </a:solidFill>
          <a:ln w="9525">
            <a:solidFill>
              <a:srgbClr val="D5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3893515" y="1188720"/>
            <a:ext cx="13569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 · S008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3893515" y="1444752"/>
            <a:ext cx="135697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Model type choice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3893515" y="2029968"/>
            <a:ext cx="135697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GenAI model types (general LLM, small instruct model, multimodal model) for the explanation task.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314493" y="2423160"/>
            <a:ext cx="201168" cy="274320"/>
          </a:xfrm>
          <a:prstGeom prst="rightArrow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469941" y="1097280"/>
            <a:ext cx="1576426" cy="2926080"/>
          </a:xfrm>
          <a:prstGeom prst="roundRect">
            <a:avLst>
              <a:gd name="adj" fmla="val 4640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5579669" y="1188720"/>
            <a:ext cx="13569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 · S008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5579669" y="1444752"/>
            <a:ext cx="135697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5 grounded explanations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5579669" y="2029968"/>
            <a:ext cx="135697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explanations for five masked transactions using only record fields and the approved response examples.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7000646" y="2423160"/>
            <a:ext cx="201168" cy="274320"/>
          </a:xfrm>
          <a:prstGeom prst="rightArrow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156094" y="1097280"/>
            <a:ext cx="1576426" cy="2926080"/>
          </a:xfrm>
          <a:prstGeom prst="roundRect">
            <a:avLst>
              <a:gd name="adj" fmla="val 4640"/>
            </a:avLst>
          </a:prstGeom>
          <a:solidFill>
            <a:srgbClr val="E6ECF5"/>
          </a:solidFill>
          <a:ln w="9525">
            <a:solidFill>
              <a:srgbClr val="D5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Text 26"/>
          <p:cNvSpPr txBox="1"/>
          <p:nvPr/>
        </p:nvSpPr>
        <p:spPr>
          <a:xfrm>
            <a:off x="7265822" y="1188720"/>
            <a:ext cx="13569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 · S009, S010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7265822" y="1444752"/>
            <a:ext cx="135697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Risk &amp; deployment review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7265822" y="2029968"/>
            <a:ext cx="135697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each explanation for bias, hallucination and stochasticity, and list business and technical deployment challenges.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411480" y="4160520"/>
            <a:ext cx="8321040" cy="548640"/>
          </a:xfrm>
          <a:prstGeom prst="roundRect">
            <a:avLst>
              <a:gd name="adj" fmla="val 13333"/>
            </a:avLst>
          </a:prstGeom>
          <a:solidFill>
            <a:srgbClr val="E3F4F2"/>
          </a:solidFill>
          <a:ln w="9525">
            <a:solidFill>
              <a:srgbClr val="D5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3" name="Text 30"/>
          <p:cNvSpPr txBox="1"/>
          <p:nvPr/>
        </p:nvSpPr>
        <p:spPr>
          <a:xfrm>
            <a:off x="594360" y="42062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output: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 note plus 5 test explanations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502920" cy="50292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2181" y="413309"/>
            <a:ext cx="261518" cy="26151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51560" y="256032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use case: Explain a confusing card transaction</a:t>
            </a:r>
            <a:endParaRPr lang="en-US" sz="1700" dirty="0"/>
          </a:p>
        </p:txBody>
      </p:sp>
      <p:sp>
        <p:nvSpPr>
          <p:cNvPr id="5" name="Text 2"/>
          <p:cNvSpPr txBox="1"/>
          <p:nvPr/>
        </p:nvSpPr>
        <p:spPr>
          <a:xfrm>
            <a:off x="1051560" y="676656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live in the Hour 2 demonstration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7818120" y="3108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02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309360" y="4828032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BankAssist 360 · Source-locked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11480" y="1097280"/>
            <a:ext cx="2743200" cy="356616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594360" y="1234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15087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customer calls asking why an unfamiliar merchant appears on their statement.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2697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input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66928" y="2971800"/>
            <a:ext cx="2432304" cy="1554480"/>
          </a:xfrm>
          <a:prstGeom prst="roundRect">
            <a:avLst>
              <a:gd name="adj" fmla="val 2941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5800" y="3044952"/>
            <a:ext cx="2194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Masked record: merchant 'SQ *COFFEE HSE 0412', amount 4.80, channel contactless, MCC 5814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337560" y="1097280"/>
            <a:ext cx="26517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429000" y="1271016"/>
            <a:ext cx="402336" cy="402336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29000" y="1271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3931920" y="1097280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selects the transaction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337560" y="1993392"/>
            <a:ext cx="26517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429000" y="2167128"/>
            <a:ext cx="402336" cy="402336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429000" y="21671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3931920" y="1993392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gets masked fields + 2 approved examples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337560" y="2889504"/>
            <a:ext cx="26517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429000" y="3063240"/>
            <a:ext cx="402336" cy="402336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429000" y="3063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3931920" y="2889504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drafts a plain-language explanation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337560" y="3785616"/>
            <a:ext cx="26517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429000" y="3959352"/>
            <a:ext cx="402336" cy="402336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429000" y="3959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3931920" y="3785616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checks each fact against the record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172200" y="1097280"/>
            <a:ext cx="2560320" cy="2240280"/>
          </a:xfrm>
          <a:prstGeom prst="roundRect">
            <a:avLst>
              <a:gd name="adj" fmla="val 3265"/>
            </a:avLst>
          </a:prstGeom>
          <a:solidFill>
            <a:srgbClr val="E3F4F2"/>
          </a:solidFill>
          <a:ln w="9525">
            <a:solidFill>
              <a:srgbClr val="D5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Text 28"/>
          <p:cNvSpPr txBox="1"/>
          <p:nvPr/>
        </p:nvSpPr>
        <p:spPr>
          <a:xfrm>
            <a:off x="6336792" y="121615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6336792" y="1490472"/>
            <a:ext cx="2240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Draft: 'A 4.80 contactless payment at a coffee shop processed by Square…' citing merchant, amount and channel fields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6172200" y="347472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FCF1DF"/>
          </a:solidFill>
          <a:ln w="9525">
            <a:solidFill>
              <a:srgbClr val="D5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Text 31"/>
          <p:cNvSpPr txBox="1"/>
          <p:nvPr/>
        </p:nvSpPr>
        <p:spPr>
          <a:xfrm>
            <a:off x="6336792" y="356616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boundary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6336792" y="3822192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 is advisory for staff; no dispute or refund is raised by the model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502920" cy="50292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2181" y="413309"/>
            <a:ext cx="261518" cy="26151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51560" y="256032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flow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1051560" y="676656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 flow: Banking record → AI task boundary → Draft explanation → Reviewer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7818120" y="3108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02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309360" y="4828032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BankAssist 360 · Source-locked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29768" y="1600200"/>
            <a:ext cx="1783080" cy="1247242"/>
          </a:xfrm>
          <a:prstGeom prst="roundRect">
            <a:avLst>
              <a:gd name="adj" fmla="val 5865"/>
            </a:avLst>
          </a:prstGeom>
          <a:solidFill>
            <a:srgbClr val="0B2545"/>
          </a:solidFill>
          <a:ln w="15875">
            <a:solidFill>
              <a:srgbClr val="0B254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502920" y="1600200"/>
            <a:ext cx="1636776" cy="1247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record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249424" y="2223821"/>
            <a:ext cx="310896" cy="0"/>
          </a:xfrm>
          <a:prstGeom prst="line">
            <a:avLst/>
          </a:prstGeom>
          <a:noFill/>
          <a:ln w="31750">
            <a:solidFill>
              <a:srgbClr val="E9A23B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2596896" y="1600200"/>
            <a:ext cx="1783080" cy="1247242"/>
          </a:xfrm>
          <a:prstGeom prst="roundRect">
            <a:avLst>
              <a:gd name="adj" fmla="val 5865"/>
            </a:avLst>
          </a:prstGeom>
          <a:solidFill>
            <a:srgbClr val="FFFFFF"/>
          </a:solidFill>
          <a:ln w="15875">
            <a:solidFill>
              <a:srgbClr val="1B998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2670048" y="1600200"/>
            <a:ext cx="1636776" cy="1247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task boundary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416552" y="2223821"/>
            <a:ext cx="310896" cy="0"/>
          </a:xfrm>
          <a:prstGeom prst="line">
            <a:avLst/>
          </a:prstGeom>
          <a:noFill/>
          <a:ln w="31750">
            <a:solidFill>
              <a:srgbClr val="E9A23B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4764024" y="1600200"/>
            <a:ext cx="1783080" cy="1247242"/>
          </a:xfrm>
          <a:prstGeom prst="roundRect">
            <a:avLst>
              <a:gd name="adj" fmla="val 5865"/>
            </a:avLst>
          </a:prstGeom>
          <a:solidFill>
            <a:srgbClr val="FFFFFF"/>
          </a:solidFill>
          <a:ln w="15875">
            <a:solidFill>
              <a:srgbClr val="1B998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4837176" y="1600200"/>
            <a:ext cx="1636776" cy="1247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explanation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583680" y="2223821"/>
            <a:ext cx="310896" cy="0"/>
          </a:xfrm>
          <a:prstGeom prst="line">
            <a:avLst/>
          </a:prstGeom>
          <a:noFill/>
          <a:ln w="31750">
            <a:solidFill>
              <a:srgbClr val="E9A23B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6931152" y="1600200"/>
            <a:ext cx="1783080" cy="1247242"/>
          </a:xfrm>
          <a:prstGeom prst="roundRect">
            <a:avLst>
              <a:gd name="adj" fmla="val 5865"/>
            </a:avLst>
          </a:prstGeom>
          <a:solidFill>
            <a:srgbClr val="1B998B"/>
          </a:solidFill>
          <a:ln w="15875">
            <a:solidFill>
              <a:srgbClr val="1B998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7004304" y="1600200"/>
            <a:ext cx="1636776" cy="1247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11480" y="3246120"/>
            <a:ext cx="8321040" cy="1417320"/>
          </a:xfrm>
          <a:prstGeom prst="roundRect">
            <a:avLst>
              <a:gd name="adj" fmla="val 5161"/>
            </a:avLst>
          </a:prstGeom>
          <a:solidFill>
            <a:srgbClr val="E6ECF5"/>
          </a:solidFill>
          <a:ln w="9525">
            <a:solidFill>
              <a:srgbClr val="D5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594360" y="3319272"/>
            <a:ext cx="7955280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flow: 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navy = entry point, teal = outcome. Models &amp; prompts layer: first model call. Uses only masked fields from the Day 1 data layer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502920" cy="50292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2181" y="413309"/>
            <a:ext cx="261518" cy="26151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51560" y="256032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workflow by hour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1051560" y="676656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→ steps in each hour → output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7818120" y="3108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02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309360" y="4828032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BankAssist 360 · Source-locked</a:t>
            </a:r>
            <a:endParaRPr lang="en-US" sz="800" dirty="0"/>
          </a:p>
        </p:txBody>
      </p:sp>
      <p:pic>
        <p:nvPicPr>
          <p:cNvPr id="8" name="Image 1" descr="/home/claude/build/img/B_day0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88720"/>
            <a:ext cx="8321040" cy="276674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11480" y="41605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Carry-forward: Model selection note plus 5 test explanations becomes an explicit input for Day 3 — BankAssist: safer customer communication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502920" cy="50292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2181" y="413309"/>
            <a:ext cx="261518" cy="26151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51560" y="256032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topics, applied: assignment &amp; capstone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1051560" y="676656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Launched in Hour 4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7818120" y="3108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02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309360" y="4828032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BankAssist 360 · Source-locked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11480" y="1097280"/>
            <a:ext cx="406908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94360" y="1261872"/>
            <a:ext cx="1051560" cy="329184"/>
          </a:xfrm>
          <a:prstGeom prst="roundRect">
            <a:avLst>
              <a:gd name="adj" fmla="val 13889"/>
            </a:avLst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1261872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SOL-R02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1783080" y="126187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ReconAI — assignment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94360" y="173736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exception explanation prototype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594360" y="2331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594360" y="2560320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non-authoritative exception narratives and document evidence gaps.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594360" y="35204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594360" y="37490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reviewed exception examples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663440" y="1097280"/>
            <a:ext cx="406908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846320" y="1261872"/>
            <a:ext cx="1051560" cy="329184"/>
          </a:xfrm>
          <a:prstGeom prst="roundRect">
            <a:avLst>
              <a:gd name="adj" fmla="val 13889"/>
            </a:avLst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846320" y="1261872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CAP-02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6035040" y="126187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ChargebackIQ — capstone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4846320" y="173736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establish AI suitability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4846320" y="2331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4846320" y="2560320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which tasks need deterministic code versus GenAI.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4846320" y="35204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4846320" y="37490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Human-versus-AI responsibility table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502920" cy="50292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2181" y="413309"/>
            <a:ext cx="261518" cy="26151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51560" y="256032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 stack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1051560" y="676656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TOC = named in source TOC · Workbook = named in mapping workbook · Recommended = replaceable default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7818120" y="3108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02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309360" y="4828032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BankAssist 360 · Source-locked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11480" y="1097280"/>
            <a:ext cx="408736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337560" y="1188720"/>
            <a:ext cx="1051560" cy="237744"/>
          </a:xfrm>
          <a:prstGeom prst="roundRect">
            <a:avLst>
              <a:gd name="adj" fmla="val 19231"/>
            </a:avLst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337560" y="118872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118872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SERVICE</a:t>
            </a:r>
            <a:endParaRPr lang="en-US" sz="8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1463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Bank-approved LLM API (e.g., Gemini on Vertex AI)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1737360"/>
            <a:ext cx="3840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transaction explanations · steps 2–4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636008" y="1097280"/>
            <a:ext cx="408736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562088" y="1188720"/>
            <a:ext cx="1051560" cy="237744"/>
          </a:xfrm>
          <a:prstGeom prst="roundRect">
            <a:avLst>
              <a:gd name="adj" fmla="val 19231"/>
            </a:avLst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562088" y="118872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4773168" y="118872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</a:t>
            </a:r>
            <a:endParaRPr lang="en-US" sz="800" dirty="0"/>
          </a:p>
        </p:txBody>
      </p:sp>
      <p:sp>
        <p:nvSpPr>
          <p:cNvPr id="18" name="Text 15"/>
          <p:cNvSpPr txBox="1"/>
          <p:nvPr/>
        </p:nvSpPr>
        <p:spPr>
          <a:xfrm>
            <a:off x="4773168" y="1463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4773168" y="1737360"/>
            <a:ext cx="3840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of repeated generations · steps 2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11480" y="2258568"/>
            <a:ext cx="408736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337560" y="2350008"/>
            <a:ext cx="1051560" cy="237744"/>
          </a:xfrm>
          <a:prstGeom prst="roundRect">
            <a:avLst>
              <a:gd name="adj" fmla="val 19231"/>
            </a:avLst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337560" y="2350008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235000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26243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2898648"/>
            <a:ext cx="3840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masked sample; risk findings log · steps 4–5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4636008" y="2258568"/>
            <a:ext cx="408736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7562088" y="2350008"/>
            <a:ext cx="1051560" cy="237744"/>
          </a:xfrm>
          <a:prstGeom prst="roundRect">
            <a:avLst>
              <a:gd name="adj" fmla="val 19231"/>
            </a:avLst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562088" y="2350008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850" dirty="0"/>
          </a:p>
        </p:txBody>
      </p:sp>
      <p:sp>
        <p:nvSpPr>
          <p:cNvPr id="29" name="Text 26"/>
          <p:cNvSpPr txBox="1"/>
          <p:nvPr/>
        </p:nvSpPr>
        <p:spPr>
          <a:xfrm>
            <a:off x="4773168" y="235000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</a:t>
            </a:r>
            <a:endParaRPr lang="en-US" sz="800" dirty="0"/>
          </a:p>
        </p:txBody>
      </p:sp>
      <p:sp>
        <p:nvSpPr>
          <p:cNvPr id="30" name="Text 27"/>
          <p:cNvSpPr txBox="1"/>
          <p:nvPr/>
        </p:nvSpPr>
        <p:spPr>
          <a:xfrm>
            <a:off x="4773168" y="26243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decision note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4773168" y="2898648"/>
            <a:ext cx="3840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 note · steps 3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502920" cy="50292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2181" y="413309"/>
            <a:ext cx="261518" cy="26151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51560" y="256032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Exit criteria &amp; check for understanding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7818120" y="3108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02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6309360" y="4828032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BankAssist 360 · Source-locked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11480" y="1097280"/>
            <a:ext cx="406908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594360" y="1234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Exit criteria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1645920"/>
            <a:ext cx="3703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exists: Model selection note plus 5 test explanations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the 5 explanations uses only fields present in the masked record.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selection note names the chosen type, rejected alternatives and reasons.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663440" y="1097280"/>
            <a:ext cx="4069080" cy="3566160"/>
          </a:xfrm>
          <a:prstGeom prst="roundRect">
            <a:avLst>
              <a:gd name="adj" fmla="val 2051"/>
            </a:avLst>
          </a:prstGeom>
          <a:solidFill>
            <a:srgbClr val="E6ECF5"/>
          </a:solidFill>
          <a:ln w="9525">
            <a:solidFill>
              <a:srgbClr val="D5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4846320" y="1234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the room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846320" y="1737360"/>
            <a:ext cx="365760" cy="36576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84632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5349240" y="16916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one BankAssist task that should stay rule-based.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846320" y="2697480"/>
            <a:ext cx="365760" cy="36576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846320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5349240" y="26517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stochasticity in GenAI?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846320" y="3657600"/>
            <a:ext cx="365760" cy="36576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846320" y="3657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5349240" y="36118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one business challenge of deploying GenAI in banking.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Save your evidence</a:t>
            </a:r>
            <a:endParaRPr lang="en-US" sz="3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43584"/>
            <a:ext cx="274320" cy="2743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60120" y="1188720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day02/task_technique_table.md</a:t>
            </a:r>
            <a:endParaRPr lang="en-US" sz="13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00784"/>
            <a:ext cx="274320" cy="2743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960120" y="1645920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day02/model_selection_note.md</a:t>
            </a:r>
            <a:endParaRPr lang="en-US" sz="13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57984"/>
            <a:ext cx="274320" cy="2743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960120" y="2103120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day02/explanations_x5.json</a:t>
            </a:r>
            <a:endParaRPr lang="en-US" sz="13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615184"/>
            <a:ext cx="274320" cy="27432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960120" y="2560320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day02/risk_findings.csv</a:t>
            </a:r>
            <a:endParaRPr lang="en-US" sz="1300" dirty="0"/>
          </a:p>
        </p:txBody>
      </p:sp>
      <p:sp>
        <p:nvSpPr>
          <p:cNvPr id="11" name="Shape 5"/>
          <p:cNvSpPr/>
          <p:nvPr/>
        </p:nvSpPr>
        <p:spPr>
          <a:xfrm>
            <a:off x="548640" y="3749040"/>
            <a:ext cx="8046720" cy="914400"/>
          </a:xfrm>
          <a:prstGeom prst="roundRect">
            <a:avLst>
              <a:gd name="adj" fmla="val 8000"/>
            </a:avLst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12" name="Text 6"/>
          <p:cNvSpPr txBox="1"/>
          <p:nvPr/>
        </p:nvSpPr>
        <p:spPr>
          <a:xfrm>
            <a:off x="777240" y="384048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· DAY 03</a:t>
            </a:r>
            <a:endParaRPr lang="en-US" sz="1100" dirty="0"/>
          </a:p>
        </p:txBody>
      </p:sp>
      <p:sp>
        <p:nvSpPr>
          <p:cNvPr id="13" name="Text 7"/>
          <p:cNvSpPr txBox="1"/>
          <p:nvPr/>
        </p:nvSpPr>
        <p:spPr>
          <a:xfrm>
            <a:off x="777240" y="41148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+ Prompts — safer customer communication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AI Banking Curriculum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02 – GenAI</dc:title>
  <dc:subject>PptxGenJS Presentation</dc:subject>
  <dc:creator>PptxGenJS</dc:creator>
  <cp:lastModifiedBy>PptxGenJS</cp:lastModifiedBy>
  <cp:revision>1</cp:revision>
  <dcterms:created xsi:type="dcterms:W3CDTF">2026-09-28T10:02:56Z</dcterms:created>
  <dcterms:modified xsi:type="dcterms:W3CDTF">2026-09-28T10:02:56Z</dcterms:modified>
</cp:coreProperties>
</file>