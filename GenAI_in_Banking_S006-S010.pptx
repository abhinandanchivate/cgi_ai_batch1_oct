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eef12a-90f7-383c-d352-634769cb0316}">
          <p14:sldIdLst>
            <p14:sldId id="256"/>
            <p14:sldId id="257"/>
          </p14:sldIdLst>
        </p14:section>
        <p14:section name="S006–S007 Foundations" id="{5f631132-35ac-0db3-ead6-e0d9389c035d}">
          <p14:sldIdLst>
            <p14:sldId id="258"/>
            <p14:sldId id="259"/>
            <p14:sldId id="260"/>
            <p14:sldId id="261"/>
            <p14:sldId id="262"/>
            <p14:sldId id="263"/>
          </p14:sldIdLst>
        </p14:section>
        <p14:section name="S008–S009 Models &amp; Internals" id="{20ef6ef2-538b-af63-acda-a1639a9eddb6}">
          <p14:sldIdLst>
            <p14:sldId id="264"/>
            <p14:sldId id="265"/>
            <p14:sldId id="266"/>
            <p14:sldId id="267"/>
            <p14:sldId id="268"/>
            <p14:sldId id="269"/>
            <p14:sldId id="270"/>
            <p14:sldId id="271"/>
          </p14:sldIdLst>
        </p14:section>
        <p14:section name="S010 Deployment" id="{20c19194-c0ab-d9e6-4c41-3aabcafd5187}">
          <p14:sldIdLst>
            <p14:sldId id="272"/>
            <p14:sldId id="273"/>
            <p14:sldId id="274"/>
            <p14:sldId id="275"/>
          </p14:sldIdLst>
        </p14:section>
        <p14:section name="Banking Use Cases" id="{6f6db270-1df4-f226-6c5c-e49490f9f282}">
          <p14:sldIdLst>
            <p14:sldId id="276"/>
            <p14:sldId id="277"/>
            <p14:sldId id="278"/>
            <p14:sldId id="279"/>
            <p14:sldId id="280"/>
            <p14:sldId id="281"/>
            <p14:sldId id="282"/>
            <p14:sldId id="283"/>
            <p14:sldId id="284"/>
            <p14:sldId id="285"/>
            <p14:sldId id="286"/>
          </p14:sldIdLst>
        </p14:section>
        <p14:section name="Responsible Practice" id="{d4514022-dd6d-52cc-55b5-f046f4571cda}">
          <p14:sldIdLst>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3C"/>
                </a:solidFill>
                <a:latin typeface="+mn-lt"/>
              </a:defRPr>
            </a:pPr>
            <a:r>
              <a:rPr sz="1300" b="0" i="0" u="none" strike="noStrike">
                <a:solidFill>
                  <a:srgbClr val="0E3B3C"/>
                </a:solidFill>
                <a:latin typeface="+mn-lt"/>
              </a:rPr>
              <a:t>Where does “it” attend? (illustrative)</a:t>
            </a:r>
          </a:p>
        </c:rich>
      </c:tx>
      <c:layout/>
      <c:overlay val="0"/>
    </c:title>
    <c:autoTitleDeleted val="0"/>
    <c:plotArea>
      <c:layout/>
      <c:barChart>
        <c:barDir val="col"/>
        <c:grouping val="clustered"/>
        <c:varyColors val="0"/>
        <c:ser>
          <c:idx val="0"/>
          <c:order val="0"/>
          <c:tx>
            <c:strRef>
              <c:f>Sheet1!$B$1</c:f>
              <c:strCache>
                <c:ptCount val="1"/>
                <c:pt idx="0">
                  <c:v>Attention weight</c:v>
                </c:pt>
              </c:strCache>
            </c:strRef>
          </c:tx>
          <c:spPr>
            <a:solidFill>
              <a:srgbClr val="0F6E62"/>
            </a:solidFill>
            <a:effectLst/>
          </c:spPr>
          <c:invertIfNegative val="0"/>
          <c:dLbls>
            <c:numFmt formatCode="0%" sourceLinked="0"/>
            <c:txPr>
              <a:bodyPr/>
              <a:lstStyle/>
              <a:p>
                <a:pPr>
                  <a:defRPr b="0" i="0" strike="noStrike" sz="1000" u="none">
                    <a:solidFill>
                      <a:srgbClr val="16242B"/>
                    </a:solidFill>
                    <a:latin typeface="+mn-lt"/>
                  </a:defRPr>
                </a:pPr>
              </a:p>
            </c:txPr>
            <c:showLegendKey val="0"/>
            <c:showVal val="1"/>
            <c:showCatName val="0"/>
            <c:showSerName val="0"/>
            <c:showPercent val="0"/>
            <c:showBubbleSize val="0"/>
            <c:showLeaderLines val="0"/>
          </c:dLbls>
          <c:cat>
            <c:multiLvlStrRef>
              <c:f>Sheet1!$A$2:$A$8</c:f>
              <c:multiLvlStrCache>
                <c:ptCount val="7"/>
                <c:lvl>
                  <c:pt idx="0">
                    <c:v>The</c:v>
                  </c:pt>
                  <c:pt idx="1">
                    <c:v>customer</c:v>
                  </c:pt>
                  <c:pt idx="2">
                    <c:v>repaid</c:v>
                  </c:pt>
                  <c:pt idx="3">
                    <c:v>the</c:v>
                  </c:pt>
                  <c:pt idx="4">
                    <c:v>loan</c:v>
                  </c:pt>
                  <c:pt idx="5">
                    <c:v>because</c:v>
                  </c:pt>
                  <c:pt idx="6">
                    <c:v>it</c:v>
                  </c:pt>
                </c:lvl>
              </c:multiLvlStrCache>
            </c:multiLvlStrRef>
          </c:cat>
          <c:val>
            <c:numRef>
              <c:f>Sheet1!$B$2:$B$8</c:f>
              <c:numCache>
                <c:formatCode>General</c:formatCode>
                <c:ptCount val="7"/>
                <c:pt idx="0">
                  <c:v>0.03</c:v>
                </c:pt>
                <c:pt idx="1">
                  <c:v>0.14</c:v>
                </c:pt>
                <c:pt idx="2">
                  <c:v>0.07</c:v>
                </c:pt>
                <c:pt idx="3">
                  <c:v>0.02</c:v>
                </c:pt>
                <c:pt idx="4">
                  <c:v>0.61</c:v>
                </c:pt>
                <c:pt idx="5">
                  <c:v>0.05</c:v>
                </c:pt>
                <c:pt idx="6">
                  <c:v>0.08</c:v>
                </c:pt>
              </c:numCache>
            </c:numRef>
          </c:val>
        </c:ser>
        <c:dLbls>
          <c:numFmt formatCode="0%" sourceLinked="0"/>
          <c:txPr>
            <a:bodyPr/>
            <a:lstStyle/>
            <a:p>
              <a:pPr>
                <a:defRPr b="0" i="0" strike="noStrike" sz="1000" u="none">
                  <a:solidFill>
                    <a:srgbClr val="1624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42B"/>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DE5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6242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3C"/>
                </a:solidFill>
                <a:latin typeface="+mn-lt"/>
              </a:defRPr>
            </a:pPr>
            <a:r>
              <a:rPr sz="1300" b="0" i="0" u="none" strike="noStrike">
                <a:solidFill>
                  <a:srgbClr val="0E3B3C"/>
                </a:solidFill>
                <a:latin typeface="+mn-lt"/>
              </a:rPr>
              <a:t>Next-token probabilities: “The loan application was ___”</a:t>
            </a:r>
          </a:p>
        </c:rich>
      </c:tx>
      <c:layout/>
      <c:overlay val="0"/>
    </c:title>
    <c:autoTitleDeleted val="0"/>
    <c:plotArea>
      <c:layout/>
      <c:barChart>
        <c:barDir val="col"/>
        <c:grouping val="clustered"/>
        <c:varyColors val="0"/>
        <c:ser>
          <c:idx val="0"/>
          <c:order val="0"/>
          <c:tx>
            <c:strRef>
              <c:f>Sheet1!$B$1</c:f>
              <c:strCache>
                <c:ptCount val="1"/>
                <c:pt idx="0">
                  <c:v>T = 0.5 (focused)</c:v>
                </c:pt>
              </c:strCache>
            </c:strRef>
          </c:tx>
          <c:spPr>
            <a:solidFill>
              <a:srgbClr val="0F6E62"/>
            </a:solidFill>
            <a:effectLst/>
          </c:spPr>
          <c:invertIfNegative val="0"/>
          <c:dLbls>
            <c:numFmt formatCode="0%" sourceLinked="0"/>
            <c:txPr>
              <a:bodyPr/>
              <a:lstStyle/>
              <a:p>
                <a:pPr>
                  <a:defRPr b="0" i="0" strike="noStrike" sz="900" u="none">
                    <a:solidFill>
                      <a:srgbClr val="16242B"/>
                    </a:solidFill>
                    <a:latin typeface="+mn-lt"/>
                  </a:defRPr>
                </a:pPr>
              </a:p>
            </c:txPr>
            <c:showLegendKey val="0"/>
            <c:showVal val="1"/>
            <c:showCatName val="0"/>
            <c:showSerName val="0"/>
            <c:showPercent val="0"/>
            <c:showBubbleSize val="0"/>
            <c:showLeaderLines val="0"/>
          </c:dLbls>
          <c:cat>
            <c:multiLvlStrRef>
              <c:f>Sheet1!$A$2:$A$6</c:f>
              <c:multiLvlStrCache>
                <c:ptCount val="5"/>
                <c:lvl>
                  <c:pt idx="0">
                    <c:v>approved</c:v>
                  </c:pt>
                  <c:pt idx="1">
                    <c:v>rejected</c:v>
                  </c:pt>
                  <c:pt idx="2">
                    <c:v>processed</c:v>
                  </c:pt>
                  <c:pt idx="3">
                    <c:v>delayed</c:v>
                  </c:pt>
                  <c:pt idx="4">
                    <c:v>cancelled</c:v>
                  </c:pt>
                </c:lvl>
              </c:multiLvlStrCache>
            </c:multiLvlStrRef>
          </c:cat>
          <c:val>
            <c:numRef>
              <c:f>Sheet1!$B$2:$B$6</c:f>
              <c:numCache>
                <c:formatCode>General</c:formatCode>
                <c:ptCount val="5"/>
                <c:pt idx="0">
                  <c:v>0.79</c:v>
                </c:pt>
                <c:pt idx="1">
                  <c:v>0.13</c:v>
                </c:pt>
                <c:pt idx="2">
                  <c:v>0.06</c:v>
                </c:pt>
                <c:pt idx="3">
                  <c:v>0.02</c:v>
                </c:pt>
                <c:pt idx="4">
                  <c:v>0.01</c:v>
                </c:pt>
              </c:numCache>
            </c:numRef>
          </c:val>
        </c:ser>
        <c:ser>
          <c:idx val="1"/>
          <c:order val="1"/>
          <c:tx>
            <c:strRef>
              <c:f>Sheet1!$C$1</c:f>
              <c:strCache>
                <c:ptCount val="1"/>
                <c:pt idx="0">
                  <c:v>T = 1.0 (default)</c:v>
                </c:pt>
              </c:strCache>
            </c:strRef>
          </c:tx>
          <c:spPr>
            <a:solidFill>
              <a:srgbClr val="D99A1E"/>
            </a:solidFill>
            <a:effectLst/>
          </c:spPr>
          <c:invertIfNegative val="0"/>
          <c:dLbls>
            <c:numFmt formatCode="0%" sourceLinked="0"/>
            <c:txPr>
              <a:bodyPr/>
              <a:lstStyle/>
              <a:p>
                <a:pPr>
                  <a:defRPr b="0" i="0" strike="noStrike" sz="900" u="none">
                    <a:solidFill>
                      <a:srgbClr val="16242B"/>
                    </a:solidFill>
                    <a:latin typeface="+mn-lt"/>
                  </a:defRPr>
                </a:pPr>
              </a:p>
            </c:txPr>
            <c:showLegendKey val="0"/>
            <c:showVal val="1"/>
            <c:showCatName val="0"/>
            <c:showSerName val="0"/>
            <c:showPercent val="0"/>
            <c:showBubbleSize val="0"/>
            <c:showLeaderLines val="0"/>
          </c:dLbls>
          <c:cat>
            <c:multiLvlStrRef>
              <c:f>Sheet1!$A$2:$A$6</c:f>
              <c:multiLvlStrCache>
                <c:ptCount val="5"/>
                <c:lvl>
                  <c:pt idx="0">
                    <c:v>approved</c:v>
                  </c:pt>
                  <c:pt idx="1">
                    <c:v>rejected</c:v>
                  </c:pt>
                  <c:pt idx="2">
                    <c:v>processed</c:v>
                  </c:pt>
                  <c:pt idx="3">
                    <c:v>delayed</c:v>
                  </c:pt>
                  <c:pt idx="4">
                    <c:v>cancelled</c:v>
                  </c:pt>
                </c:lvl>
              </c:multiLvlStrCache>
            </c:multiLvlStrRef>
          </c:cat>
          <c:val>
            <c:numRef>
              <c:f>Sheet1!$C$2:$C$6</c:f>
              <c:numCache>
                <c:formatCode>General</c:formatCode>
                <c:ptCount val="5"/>
                <c:pt idx="0">
                  <c:v>0.52</c:v>
                </c:pt>
                <c:pt idx="1">
                  <c:v>0.21</c:v>
                </c:pt>
                <c:pt idx="2">
                  <c:v>0.14</c:v>
                </c:pt>
                <c:pt idx="3">
                  <c:v>0.08</c:v>
                </c:pt>
                <c:pt idx="4">
                  <c:v>0.05</c:v>
                </c:pt>
              </c:numCache>
            </c:numRef>
          </c:val>
        </c:ser>
        <c:ser>
          <c:idx val="2"/>
          <c:order val="2"/>
          <c:tx>
            <c:strRef>
              <c:f>Sheet1!$D$1</c:f>
              <c:strCache>
                <c:ptCount val="1"/>
                <c:pt idx="0">
                  <c:v>T = 1.5 (creative)</c:v>
                </c:pt>
              </c:strCache>
            </c:strRef>
          </c:tx>
          <c:spPr>
            <a:solidFill>
              <a:srgbClr val="B5523B"/>
            </a:solidFill>
            <a:effectLst/>
          </c:spPr>
          <c:invertIfNegative val="0"/>
          <c:dLbls>
            <c:numFmt formatCode="0%" sourceLinked="0"/>
            <c:txPr>
              <a:bodyPr/>
              <a:lstStyle/>
              <a:p>
                <a:pPr>
                  <a:defRPr b="0" i="0" strike="noStrike" sz="900" u="none">
                    <a:solidFill>
                      <a:srgbClr val="16242B"/>
                    </a:solidFill>
                    <a:latin typeface="+mn-lt"/>
                  </a:defRPr>
                </a:pPr>
              </a:p>
            </c:txPr>
            <c:showLegendKey val="0"/>
            <c:showVal val="1"/>
            <c:showCatName val="0"/>
            <c:showSerName val="0"/>
            <c:showPercent val="0"/>
            <c:showBubbleSize val="0"/>
            <c:showLeaderLines val="0"/>
          </c:dLbls>
          <c:cat>
            <c:multiLvlStrRef>
              <c:f>Sheet1!$A$2:$A$6</c:f>
              <c:multiLvlStrCache>
                <c:ptCount val="5"/>
                <c:lvl>
                  <c:pt idx="0">
                    <c:v>approved</c:v>
                  </c:pt>
                  <c:pt idx="1">
                    <c:v>rejected</c:v>
                  </c:pt>
                  <c:pt idx="2">
                    <c:v>processed</c:v>
                  </c:pt>
                  <c:pt idx="3">
                    <c:v>delayed</c:v>
                  </c:pt>
                  <c:pt idx="4">
                    <c:v>cancelled</c:v>
                  </c:pt>
                </c:lvl>
              </c:multiLvlStrCache>
            </c:multiLvlStrRef>
          </c:cat>
          <c:val>
            <c:numRef>
              <c:f>Sheet1!$D$2:$D$6</c:f>
              <c:numCache>
                <c:formatCode>General</c:formatCode>
                <c:ptCount val="5"/>
                <c:pt idx="0">
                  <c:v>0.41</c:v>
                </c:pt>
                <c:pt idx="1">
                  <c:v>0.22</c:v>
                </c:pt>
                <c:pt idx="2">
                  <c:v>0.17</c:v>
                </c:pt>
                <c:pt idx="3">
                  <c:v>0.12</c:v>
                </c:pt>
                <c:pt idx="4">
                  <c:v>0.09</c:v>
                </c:pt>
              </c:numCache>
            </c:numRef>
          </c:val>
        </c:ser>
        <c:dLbls>
          <c:numFmt formatCode="0%" sourceLinked="0"/>
          <c:txPr>
            <a:bodyPr/>
            <a:lstStyle/>
            <a:p>
              <a:pPr>
                <a:defRPr b="0" i="0" strike="noStrike" sz="900" u="none">
                  <a:solidFill>
                    <a:srgbClr val="1624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42B"/>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DDE5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6242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4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covers sessions S006 to S010: what Generative AI is and how it differs from AI and ML, its core principles, model types, how models generate data internally, the key risks (bias, hallucination, stochasticity), deployment challenges, and three end-to-end banking use cases with architecture and implementation workflows, closing with dos, don'ts and standard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theory sessions followed by an applied block. Each theory session builds on the previous one: definitions first, then principles, model families, internals and risks, and finally what makes deployment hard in a regulated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these as nested sets. Every GenAI model is a deep learning model, every deep learning model is an ML model, and all ML is AI. The key shift: classic ML answers 'which class / what number?' (discriminative, models P(y|x)), while GenAI answers 'produce a new example' (generative, models P(x) or P(next token | previous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position GenAI correctly: it complements, not replaces, rules and ML. In a bank, credit scoring stays with explainable ML; GenAI handles language-heavy work around it, such as reading documents and drafting memos.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5W1H frames GenAI for any audience. WHEN is the most important for banks: use GenAI where a human can review a draft and errors are recoverable; keep deterministic systems for calculations (EMI, interest) and keep humans accountable for final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principles explain almost every GenAI behaviour. Example: hallucination follows from principles 1 and 5 — the model samples what is plausible given the distribution, not what is verified. In-context learning (8) is why RAG works: we put bank facts into the prompt and the model uses them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bank use cases are solved with prompting plus RAG. Fine-tune only when prompting and RAG cannot achieve the needed format or accuracy and you have clean, consented training data. Pre-training is almost never justified for a single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dominate enterprise GenAI today, but other families still matter. Within transformers note the variants: encoder-only (BERT, good for classification and embeddings), decoder-only (GPT-style, generation), and encoder-decoder (T5, translation/summarisation). Banks often use GANs or VAEs to generate privacy-safe synthetic data for training fraud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1–2 create a base model that continues text but does not follow instructions well. Stage 3 (SFT) turns it into an instruction follower. Stage 4 aligns behaviour with human preferences: RLHF trains a reward model from human rankings and optimises the LLM against it with reinforcement learning (e.g., PPO); DPO achieves similar results directly from preference pairs without a separate reward model. Banks consume models after stage 6 and typically add their own evaluation and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1) Tokenizer: text is split into sub-word tokens using Byte-Pair Encoding; rare words become several tokens. Cost and context limits are measured in tokens.
2) Token IDs: each token maps to an integer in the vocabulary.
3) Embeddings: each ID looks up a learned vector; positional information (e.g., RoPE) is added so the model knows word order.
4) Transformer stack: the vectors pass through N identical blocks. In each block, masked multi-head self-attention lets every token gather context from earlier tokens; a feed-forward network then transforms each token independently (this is where much factual knowledge is stored). Residual connections and LayerNorm keep training stable.
5) LM head: the final vector of the last position is projected to a score (logit) for every token in the vocabulary.
6) Softmax converts logits to probabilities; the sampler picks one token according to temperature / top-k / top-p.
7) The chosen token is appended and the loop repeats. The KV cache stores keys and values of earlier tokens so each new step only computes the newest token — this is why the first token is slow (prefill) and later tokens stream quickly (decode).
Key insight: the model never 'looks up' an answer; it computes a probability distribution over the next token, one step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Self-attention is the heart of the transformer. In the example, when the model processes 'it', most of the attention weight lands on 'loan', so the representation of 'it' absorbs the meaning of 'loan'. The same mechanism lets 'bank' mean a financial institution in 'the bank approved the loan' and a riverside in 'the river bank'. Different heads specialise: some track grammar, some coreference, some numbers. Attention cost grows with the square of the sequence length, which is why long contexts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probabilities shown are illustrative. Temperature reshapes the distribution: p_i ∝ exp(logit_i / T). At T=0.5 'approved' dominates; at T=1.5 unlikely words like 'cancelled' get picked far more often. This sampling step is the direct source of stochasticity, which we discuss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 the generator turns random noise into samples; the discriminator learns to tell real from fake; each improves against the other. VAE: the encoder maps an input to a probability distribution in latent space, we sample from it, and the decoder reconstructs; sampling fresh latents creates new data. Diffusion: training adds noise to real data in small steps; the network learns to predict and remove that noise; generation starts from pure noise and denoises over many steps, optionally steered by a text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risks are inherent to how generative models work, so they can be reduced but never fully eliminated. Design the system around them: ground answers, constrain outputs, log everything and keep humans accountable for consequential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challenges usually block deployment more than technology does. Check the latest RBI circulars and the RBI FREE-AI framework (2025) for current expectations on responsible AI; they evolve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technical challenge maps to a control in the reference architecture on the next slides: PII masking and private deployment for privacy; input/output guardrails for injection; API gateways for legacy integration; caching, smaller models and streaming for latency; evaluation pipelines and monitoring for quality and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layered view is shared by all three use cases that follow. Channels sit on top; an orchestration layer manages prompts, retrieval and tool calls; a model gateway abstracts models so the bank can switch providers and route sensitive workloads to private models; data stays in governed stores; and the governance pillar cuts across every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selected use cases span front, middle and risk/compliance functions and illustrate three patterns: RAG plus tools (assistant), document extraction plus drafting (underwriting), and data aggregation plus summarisation (AML). In all three, GenAI drafts and assists; humans and deterministic systems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informational queries (low risk), then authenticated servicing (balance, statement), and only later actions like card blocking. Agent-assist mode, where the assistant suggests answers to human agents, is a safe first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the customer message enters through the gateway, where identity is verified. Input guardrails mask PII (account numbers, Aadhaar, PAN) and block prompt-injection attempts. The orchestrator classifies intent, retrieves relevant policy chunks from the vector DB, and if needed calls read-only APIs (e.g., balance). It assembles a prompt with system instructions, retrieved context and conversation history, and sends it to a privately hosted LLM. Output guardrails check that every claim is supported by retrieved context and that the response is compliant before it reaches the customer with citations. Low confidence or sensitive intents (complaints, fraud) trigger a human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Timelines are indicative and depend on data readiness and approvals. The biggest effort is usually knowledge curation (step 2): a RAG system is only as good as the documents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design principle: GenAI never makes the credit decision. It reads, extracts, checks and drafts. The decision uses an explainable, validated scorecard plus the underwriter's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are uploaded to the LOS and processed by OCR / document AI that preserves layout and tables. A multimodal LLM extracts fields into a strict JSON schema with a confidence score per field; low-confidence fields go to a human queue. Deterministic rules cross-check values (e.g., salary credits in bank statements vs payslips, PAN and name matches) and enrich with bureau and Account Aggregator data. A traditional, validated scorecard produces the risk score. The LLM then drafts the credit memo, retrieving relevant policy clauses and citing source documents, and the underwriter reviews, edits and approves. The decision is recorded in the 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shadow run (step 6) is critical: it proves accuracy on real files without customer impact and produces the evidence Model Risk Management needs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copilot never auto-closes alerts or files reports. Every statement in the draft narrative must link to a transaction, document or system record so the investigator can verify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from the transaction monitoring system (rules and ML) open a case. The aggregation service pulls transactions, KYC, CRM notes and prior alerts, and screening results. Graph analysis finds linked accounts and mule patterns. The LLM summariser produces a chronological timeline and maps observed behaviour to known typologies retrieved from the bank's AML knowledge base. The drafter writes the STR narrative in the required structure, with each fact linked to its evidence. The investigator decides whether to close or escalate, edits the draft, and the case management system handles filing with FIU-IND. Access controls are strict because AML data is highly sensitive and tipping-off must be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quality, not just speed: a faster but weaker STR is a regulatory risk. Use QA reviewers to score drafts on completeness, accuracy and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rule of thumb: GenAI drafts, humans decide, systems calculate. Everything on the 'Don't' list has caused real incidents in industry, from data leaks via public chatbots to customer-facing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practices form a lightweight GenAI governance framework that slots into a bank's existing model risk and IT risk processes. RBI's FREE-AI committee report (2025) sets out principles such as trust, fairness, accountability and explainability; verify the latest RBI guidance before relying on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prompts as code: store them in a prompt library, version them, review changes and run regression evaluations before deploying. Fixed templates also reduce stochasticity and make outputs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five takeaways and open the floor for questions. Suggested follow-up exercise: pick one use case from the landscape slide and draft its 5W1H, architecture and risk tier using the templates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7665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58368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10515600" cy="73152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chemeClr val="accent5"/>
                </a:solidFill>
              </a:rPr>
              <a:t>Generative AI in Banking  |  S006 – S010</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600200"/>
            <a:ext cx="54864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SESSIONS S006 – S010</a:t>
            </a:r>
            <a:endParaRPr lang="en-US" sz="1400" dirty="0"/>
          </a:p>
        </p:txBody>
      </p:sp>
      <p:sp>
        <p:nvSpPr>
          <p:cNvPr id="3" name="Text 0"/>
          <p:cNvSpPr/>
          <p:nvPr>
            <p:ph idx="100" type="title" hasCustomPrompt="1"/>
          </p:nvPr>
        </p:nvSpPr>
        <p:spPr>
          <a:xfrm>
            <a:off x="731520" y="2103120"/>
            <a:ext cx="6766560" cy="1554480"/>
          </a:xfrm>
          <a:prstGeom prst="rect">
            <a:avLst/>
          </a:prstGeom>
          <a:noFill/>
          <a:ln/>
        </p:spPr>
        <p:txBody>
          <a:bodyPr wrap="square" rtlCol="0" anchor="b"/>
          <a:lstStyle/>
          <a:p>
            <a:pPr algn="l" indent="0" marL="0">
              <a:buNone/>
            </a:pPr>
            <a:r>
              <a:rPr lang="en-US" sz="4400" b="1" dirty="0">
                <a:solidFill>
                  <a:schemeClr val="bg1"/>
                </a:solidFill>
              </a:rPr>
              <a:t>Generative AI in Banking</a:t>
            </a:r>
            <a:endParaRPr lang="en-US" sz="4400" dirty="0"/>
          </a:p>
        </p:txBody>
      </p:sp>
      <p:sp>
        <p:nvSpPr>
          <p:cNvPr id="4" name="Text 0"/>
          <p:cNvSpPr/>
          <p:nvPr>
            <p:ph idx="101" type="body" hasCustomPrompt="1"/>
          </p:nvPr>
        </p:nvSpPr>
        <p:spPr>
          <a:xfrm>
            <a:off x="731520" y="3794760"/>
            <a:ext cx="6583680" cy="1005840"/>
          </a:xfrm>
          <a:prstGeom prst="rect">
            <a:avLst/>
          </a:prstGeom>
          <a:noFill/>
          <a:ln/>
        </p:spPr>
        <p:txBody>
          <a:bodyPr wrap="square" rtlCol="0" anchor="t"/>
          <a:lstStyle/>
          <a:p>
            <a:pPr algn="l" indent="0" marL="0">
              <a:buNone/>
            </a:pPr>
            <a:r>
              <a:rPr lang="en-US" sz="1800" dirty="0">
                <a:solidFill>
                  <a:schemeClr val="bg2"/>
                </a:solidFill>
              </a:rPr>
              <a:t>How GenAI works inside, where it fits in a bank, and how to deploy it responsibly</a:t>
            </a:r>
            <a:endParaRPr lang="en-US" sz="1800" dirty="0"/>
          </a:p>
        </p:txBody>
      </p:sp>
      <p:sp>
        <p:nvSpPr>
          <p:cNvPr id="5" name="Shape 3"/>
          <p:cNvSpPr/>
          <p:nvPr/>
        </p:nvSpPr>
        <p:spPr>
          <a:xfrm>
            <a:off x="7955280" y="1097280"/>
            <a:ext cx="4572000" cy="4572000"/>
          </a:xfrm>
          <a:prstGeom prst="ellipse">
            <a:avLst/>
          </a:prstGeom>
          <a:solidFill>
            <a:schemeClr val="accent3">
              <a:alpha val="45000"/>
            </a:schemeClr>
          </a:solidFill>
          <a:ln w="12700">
            <a:solidFill>
              <a:schemeClr val="accent3"/>
            </a:solidFill>
            <a:prstDash val="solid"/>
          </a:ln>
        </p:spPr>
      </p:sp>
      <p:sp>
        <p:nvSpPr>
          <p:cNvPr id="6" name="Text 4"/>
          <p:cNvSpPr txBox="1"/>
          <p:nvPr/>
        </p:nvSpPr>
        <p:spPr>
          <a:xfrm>
            <a:off x="7955280" y="1261872"/>
            <a:ext cx="4572000" cy="320040"/>
          </a:xfrm>
          <a:prstGeom prst="rect">
            <a:avLst/>
          </a:prstGeom>
          <a:noFill/>
          <a:ln/>
        </p:spPr>
        <p:txBody>
          <a:bodyPr wrap="square" lIns="0" tIns="0" rIns="0" bIns="0" rtlCol="0" anchor="t"/>
          <a:lstStyle/>
          <a:p>
            <a:pPr algn="ctr" indent="0" marL="0">
              <a:buNone/>
            </a:pPr>
            <a:r>
              <a:rPr lang="en-US" sz="1300" b="1" dirty="0">
                <a:solidFill>
                  <a:schemeClr val="bg1"/>
                </a:solidFill>
              </a:rPr>
              <a:t>AI</a:t>
            </a:r>
            <a:endParaRPr lang="en-US" sz="1300" dirty="0"/>
          </a:p>
        </p:txBody>
      </p:sp>
      <p:sp>
        <p:nvSpPr>
          <p:cNvPr id="7" name="Shape 5"/>
          <p:cNvSpPr/>
          <p:nvPr/>
        </p:nvSpPr>
        <p:spPr>
          <a:xfrm>
            <a:off x="8458200" y="1920240"/>
            <a:ext cx="3566160" cy="3566160"/>
          </a:xfrm>
          <a:prstGeom prst="ellipse">
            <a:avLst/>
          </a:prstGeom>
          <a:solidFill>
            <a:schemeClr val="accent1">
              <a:alpha val="55000"/>
            </a:schemeClr>
          </a:solidFill>
          <a:ln w="12700">
            <a:solidFill>
              <a:schemeClr val="accent1"/>
            </a:solidFill>
            <a:prstDash val="solid"/>
          </a:ln>
        </p:spPr>
      </p:sp>
      <p:sp>
        <p:nvSpPr>
          <p:cNvPr id="8" name="Text 6"/>
          <p:cNvSpPr txBox="1"/>
          <p:nvPr/>
        </p:nvSpPr>
        <p:spPr>
          <a:xfrm>
            <a:off x="8458200" y="2084832"/>
            <a:ext cx="3566160" cy="320040"/>
          </a:xfrm>
          <a:prstGeom prst="rect">
            <a:avLst/>
          </a:prstGeom>
          <a:noFill/>
          <a:ln/>
        </p:spPr>
        <p:txBody>
          <a:bodyPr wrap="square" lIns="0" tIns="0" rIns="0" bIns="0" rtlCol="0" anchor="t"/>
          <a:lstStyle/>
          <a:p>
            <a:pPr algn="ctr" indent="0" marL="0">
              <a:buNone/>
            </a:pPr>
            <a:r>
              <a:rPr lang="en-US" sz="1300" b="1" dirty="0">
                <a:solidFill>
                  <a:schemeClr val="bg1"/>
                </a:solidFill>
              </a:rPr>
              <a:t>Machine Learning</a:t>
            </a:r>
            <a:endParaRPr lang="en-US" sz="1300" dirty="0"/>
          </a:p>
        </p:txBody>
      </p:sp>
      <p:sp>
        <p:nvSpPr>
          <p:cNvPr id="9" name="Shape 7"/>
          <p:cNvSpPr/>
          <p:nvPr/>
        </p:nvSpPr>
        <p:spPr>
          <a:xfrm>
            <a:off x="8961120" y="2743200"/>
            <a:ext cx="2560320" cy="2560320"/>
          </a:xfrm>
          <a:prstGeom prst="ellipse">
            <a:avLst/>
          </a:prstGeom>
          <a:solidFill>
            <a:schemeClr val="accent5">
              <a:alpha val="70000"/>
            </a:schemeClr>
          </a:solidFill>
          <a:ln w="12700">
            <a:solidFill>
              <a:schemeClr val="accent5"/>
            </a:solidFill>
            <a:prstDash val="solid"/>
          </a:ln>
        </p:spPr>
      </p:sp>
      <p:sp>
        <p:nvSpPr>
          <p:cNvPr id="10" name="Text 8"/>
          <p:cNvSpPr txBox="1"/>
          <p:nvPr/>
        </p:nvSpPr>
        <p:spPr>
          <a:xfrm>
            <a:off x="8961120" y="2907792"/>
            <a:ext cx="2560320" cy="320040"/>
          </a:xfrm>
          <a:prstGeom prst="rect">
            <a:avLst/>
          </a:prstGeom>
          <a:noFill/>
          <a:ln/>
        </p:spPr>
        <p:txBody>
          <a:bodyPr wrap="square" lIns="0" tIns="0" rIns="0" bIns="0" rtlCol="0" anchor="t"/>
          <a:lstStyle/>
          <a:p>
            <a:pPr algn="ctr" indent="0" marL="0">
              <a:buNone/>
            </a:pPr>
            <a:r>
              <a:rPr lang="en-US" sz="1300" b="1" dirty="0">
                <a:solidFill>
                  <a:schemeClr val="bg1"/>
                </a:solidFill>
              </a:rPr>
              <a:t>Deep Learning</a:t>
            </a:r>
            <a:endParaRPr lang="en-US" sz="1300" dirty="0"/>
          </a:p>
        </p:txBody>
      </p:sp>
      <p:sp>
        <p:nvSpPr>
          <p:cNvPr id="11" name="Shape 9"/>
          <p:cNvSpPr/>
          <p:nvPr/>
        </p:nvSpPr>
        <p:spPr>
          <a:xfrm>
            <a:off x="9464040" y="3566160"/>
            <a:ext cx="1554480" cy="1554480"/>
          </a:xfrm>
          <a:prstGeom prst="ellipse">
            <a:avLst/>
          </a:prstGeom>
          <a:solidFill>
            <a:schemeClr val="accent2"/>
          </a:solidFill>
          <a:ln w="12700">
            <a:solidFill>
              <a:schemeClr val="accent2"/>
            </a:solidFill>
            <a:prstDash val="solid"/>
          </a:ln>
        </p:spPr>
      </p:sp>
      <p:sp>
        <p:nvSpPr>
          <p:cNvPr id="12" name="Text 10"/>
          <p:cNvSpPr txBox="1"/>
          <p:nvPr/>
        </p:nvSpPr>
        <p:spPr>
          <a:xfrm>
            <a:off x="9464040" y="3566160"/>
            <a:ext cx="1554480" cy="1554480"/>
          </a:xfrm>
          <a:prstGeom prst="rect">
            <a:avLst/>
          </a:prstGeom>
          <a:noFill/>
          <a:ln/>
        </p:spPr>
        <p:txBody>
          <a:bodyPr wrap="square" lIns="0" tIns="0" rIns="0" bIns="0" rtlCol="0" anchor="ctr"/>
          <a:lstStyle/>
          <a:p>
            <a:pPr algn="ctr" indent="0" marL="0">
              <a:buNone/>
            </a:pPr>
            <a:r>
              <a:rPr lang="en-US" sz="1600" b="1" dirty="0">
                <a:solidFill>
                  <a:schemeClr val="tx1"/>
                </a:solidFill>
              </a:rPr>
              <a:t>GenAI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Agenda</a:t>
            </a:r>
            <a:endParaRPr lang="en-US" sz="3200" dirty="0"/>
          </a:p>
        </p:txBody>
      </p:sp>
      <p:sp>
        <p:nvSpPr>
          <p:cNvPr id="3" name="Shape 1"/>
          <p:cNvSpPr/>
          <p:nvPr/>
        </p:nvSpPr>
        <p:spPr>
          <a:xfrm>
            <a:off x="548640" y="1371600"/>
            <a:ext cx="11064240" cy="658368"/>
          </a:xfrm>
          <a:prstGeom prst="roundRect">
            <a:avLst>
              <a:gd name="adj" fmla="val 13889"/>
            </a:avLst>
          </a:prstGeom>
          <a:solidFill>
            <a:schemeClr val="bg2"/>
          </a:solidFill>
          <a:ln w="9525">
            <a:solidFill>
              <a:schemeClr val="bg2"/>
            </a:solidFill>
            <a:prstDash val="solid"/>
          </a:ln>
        </p:spPr>
      </p:sp>
      <p:sp>
        <p:nvSpPr>
          <p:cNvPr id="4" name="Text 2"/>
          <p:cNvSpPr txBox="1"/>
          <p:nvPr/>
        </p:nvSpPr>
        <p:spPr>
          <a:xfrm>
            <a:off x="713232" y="1499616"/>
            <a:ext cx="1005840" cy="402336"/>
          </a:xfrm>
          <a:prstGeom prst="roundRect">
            <a:avLst>
              <a:gd name="adj" fmla="val 1818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S006</a:t>
            </a:r>
            <a:endParaRPr lang="en-US" sz="1300" dirty="0"/>
          </a:p>
        </p:txBody>
      </p:sp>
      <p:sp>
        <p:nvSpPr>
          <p:cNvPr id="5" name="Text 3"/>
          <p:cNvSpPr txBox="1"/>
          <p:nvPr/>
        </p:nvSpPr>
        <p:spPr>
          <a:xfrm>
            <a:off x="1920240" y="1371600"/>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Gen AI &amp; Challenges</a:t>
            </a:r>
            <a:endParaRPr lang="en-US" sz="1600" dirty="0"/>
          </a:p>
        </p:txBody>
      </p:sp>
      <p:sp>
        <p:nvSpPr>
          <p:cNvPr id="6" name="Text 4"/>
          <p:cNvSpPr txBox="1"/>
          <p:nvPr/>
        </p:nvSpPr>
        <p:spPr>
          <a:xfrm>
            <a:off x="5852160" y="1371600"/>
            <a:ext cx="5577840" cy="658368"/>
          </a:xfrm>
          <a:prstGeom prst="rect">
            <a:avLst/>
          </a:prstGeom>
          <a:noFill/>
          <a:ln/>
        </p:spPr>
        <p:txBody>
          <a:bodyPr wrap="square" lIns="0" tIns="0" rIns="0" bIns="0" rtlCol="0" anchor="ctr"/>
          <a:lstStyle/>
          <a:p>
            <a:pPr indent="0" marL="0">
              <a:buNone/>
            </a:pPr>
            <a:r>
              <a:rPr lang="en-US" sz="1400" dirty="0">
                <a:solidFill>
                  <a:schemeClr val="tx1"/>
                </a:solidFill>
              </a:rPr>
              <a:t>AI vs ML vs GenAI · 5W1H of Generative AI</a:t>
            </a:r>
            <a:endParaRPr lang="en-US" sz="1400" dirty="0"/>
          </a:p>
        </p:txBody>
      </p:sp>
      <p:sp>
        <p:nvSpPr>
          <p:cNvPr id="7" name="Shape 5"/>
          <p:cNvSpPr/>
          <p:nvPr/>
        </p:nvSpPr>
        <p:spPr>
          <a:xfrm>
            <a:off x="548640" y="2157984"/>
            <a:ext cx="11064240" cy="658368"/>
          </a:xfrm>
          <a:prstGeom prst="roundRect">
            <a:avLst>
              <a:gd name="adj" fmla="val 13889"/>
            </a:avLst>
          </a:prstGeom>
          <a:solidFill>
            <a:schemeClr val="bg2"/>
          </a:solidFill>
          <a:ln w="9525">
            <a:solidFill>
              <a:schemeClr val="bg2"/>
            </a:solidFill>
            <a:prstDash val="solid"/>
          </a:ln>
        </p:spPr>
      </p:sp>
      <p:sp>
        <p:nvSpPr>
          <p:cNvPr id="8" name="Text 6"/>
          <p:cNvSpPr txBox="1"/>
          <p:nvPr/>
        </p:nvSpPr>
        <p:spPr>
          <a:xfrm>
            <a:off x="713232" y="2286000"/>
            <a:ext cx="1005840" cy="402336"/>
          </a:xfrm>
          <a:prstGeom prst="roundRect">
            <a:avLst>
              <a:gd name="adj" fmla="val 1818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S007</a:t>
            </a:r>
            <a:endParaRPr lang="en-US" sz="1300" dirty="0"/>
          </a:p>
        </p:txBody>
      </p:sp>
      <p:sp>
        <p:nvSpPr>
          <p:cNvPr id="9" name="Text 7"/>
          <p:cNvSpPr txBox="1"/>
          <p:nvPr/>
        </p:nvSpPr>
        <p:spPr>
          <a:xfrm>
            <a:off x="1920240" y="2157984"/>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Core Principles of GenAI</a:t>
            </a:r>
            <a:endParaRPr lang="en-US" sz="1600" dirty="0"/>
          </a:p>
        </p:txBody>
      </p:sp>
      <p:sp>
        <p:nvSpPr>
          <p:cNvPr id="10" name="Text 8"/>
          <p:cNvSpPr txBox="1"/>
          <p:nvPr/>
        </p:nvSpPr>
        <p:spPr>
          <a:xfrm>
            <a:off x="5852160" y="2157984"/>
            <a:ext cx="5577840" cy="658368"/>
          </a:xfrm>
          <a:prstGeom prst="rect">
            <a:avLst/>
          </a:prstGeom>
          <a:noFill/>
          <a:ln/>
        </p:spPr>
        <p:txBody>
          <a:bodyPr wrap="square" lIns="0" tIns="0" rIns="0" bIns="0" rtlCol="0" anchor="ctr"/>
          <a:lstStyle/>
          <a:p>
            <a:pPr indent="0" marL="0">
              <a:buNone/>
            </a:pPr>
            <a:r>
              <a:rPr lang="en-US" sz="1400" dirty="0">
                <a:solidFill>
                  <a:schemeClr val="tx1"/>
                </a:solidFill>
              </a:rPr>
              <a:t>How foundation models learn, adapt and align</a:t>
            </a:r>
            <a:endParaRPr lang="en-US" sz="1400" dirty="0"/>
          </a:p>
        </p:txBody>
      </p:sp>
      <p:sp>
        <p:nvSpPr>
          <p:cNvPr id="11" name="Shape 9"/>
          <p:cNvSpPr/>
          <p:nvPr/>
        </p:nvSpPr>
        <p:spPr>
          <a:xfrm>
            <a:off x="548640" y="2944368"/>
            <a:ext cx="11064240" cy="658368"/>
          </a:xfrm>
          <a:prstGeom prst="roundRect">
            <a:avLst>
              <a:gd name="adj" fmla="val 13889"/>
            </a:avLst>
          </a:prstGeom>
          <a:solidFill>
            <a:schemeClr val="bg2"/>
          </a:solidFill>
          <a:ln w="9525">
            <a:solidFill>
              <a:schemeClr val="bg2"/>
            </a:solidFill>
            <a:prstDash val="solid"/>
          </a:ln>
        </p:spPr>
      </p:sp>
      <p:sp>
        <p:nvSpPr>
          <p:cNvPr id="12" name="Text 10"/>
          <p:cNvSpPr txBox="1"/>
          <p:nvPr/>
        </p:nvSpPr>
        <p:spPr>
          <a:xfrm>
            <a:off x="713232" y="3072384"/>
            <a:ext cx="1005840" cy="402336"/>
          </a:xfrm>
          <a:prstGeom prst="roundRect">
            <a:avLst>
              <a:gd name="adj" fmla="val 1818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S008</a:t>
            </a:r>
            <a:endParaRPr lang="en-US" sz="1300" dirty="0"/>
          </a:p>
        </p:txBody>
      </p:sp>
      <p:sp>
        <p:nvSpPr>
          <p:cNvPr id="13" name="Text 11"/>
          <p:cNvSpPr txBox="1"/>
          <p:nvPr/>
        </p:nvSpPr>
        <p:spPr>
          <a:xfrm>
            <a:off x="1920240" y="2944368"/>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Types of GenAI Models</a:t>
            </a:r>
            <a:endParaRPr lang="en-US" sz="1600" dirty="0"/>
          </a:p>
        </p:txBody>
      </p:sp>
      <p:sp>
        <p:nvSpPr>
          <p:cNvPr id="14" name="Text 12"/>
          <p:cNvSpPr txBox="1"/>
          <p:nvPr/>
        </p:nvSpPr>
        <p:spPr>
          <a:xfrm>
            <a:off x="5852160" y="2944368"/>
            <a:ext cx="5577840" cy="658368"/>
          </a:xfrm>
          <a:prstGeom prst="rect">
            <a:avLst/>
          </a:prstGeom>
          <a:noFill/>
          <a:ln/>
        </p:spPr>
        <p:txBody>
          <a:bodyPr wrap="square" lIns="0" tIns="0" rIns="0" bIns="0" rtlCol="0" anchor="ctr"/>
          <a:lstStyle/>
          <a:p>
            <a:pPr indent="0" marL="0">
              <a:buNone/>
            </a:pPr>
            <a:r>
              <a:rPr lang="en-US" sz="1400" dirty="0">
                <a:solidFill>
                  <a:schemeClr val="tx1"/>
                </a:solidFill>
              </a:rPr>
              <a:t>LLMs, GANs, VAEs, diffusion and multimodal models</a:t>
            </a:r>
            <a:endParaRPr lang="en-US" sz="1400" dirty="0"/>
          </a:p>
        </p:txBody>
      </p:sp>
      <p:sp>
        <p:nvSpPr>
          <p:cNvPr id="15" name="Shape 13"/>
          <p:cNvSpPr/>
          <p:nvPr/>
        </p:nvSpPr>
        <p:spPr>
          <a:xfrm>
            <a:off x="548640" y="3730752"/>
            <a:ext cx="11064240" cy="658368"/>
          </a:xfrm>
          <a:prstGeom prst="roundRect">
            <a:avLst>
              <a:gd name="adj" fmla="val 13889"/>
            </a:avLst>
          </a:prstGeom>
          <a:solidFill>
            <a:schemeClr val="bg2"/>
          </a:solidFill>
          <a:ln w="9525">
            <a:solidFill>
              <a:schemeClr val="bg2"/>
            </a:solidFill>
            <a:prstDash val="solid"/>
          </a:ln>
        </p:spPr>
      </p:sp>
      <p:sp>
        <p:nvSpPr>
          <p:cNvPr id="16" name="Text 14"/>
          <p:cNvSpPr txBox="1"/>
          <p:nvPr/>
        </p:nvSpPr>
        <p:spPr>
          <a:xfrm>
            <a:off x="713232" y="3858768"/>
            <a:ext cx="1005840" cy="402336"/>
          </a:xfrm>
          <a:prstGeom prst="roundRect">
            <a:avLst>
              <a:gd name="adj" fmla="val 1818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S009</a:t>
            </a:r>
            <a:endParaRPr lang="en-US" sz="1300" dirty="0"/>
          </a:p>
        </p:txBody>
      </p:sp>
      <p:sp>
        <p:nvSpPr>
          <p:cNvPr id="17" name="Text 15"/>
          <p:cNvSpPr txBox="1"/>
          <p:nvPr/>
        </p:nvSpPr>
        <p:spPr>
          <a:xfrm>
            <a:off x="1920240" y="3730752"/>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How Generative Models Create Data</a:t>
            </a:r>
            <a:endParaRPr lang="en-US" sz="1600" dirty="0"/>
          </a:p>
        </p:txBody>
      </p:sp>
      <p:sp>
        <p:nvSpPr>
          <p:cNvPr id="18" name="Text 16"/>
          <p:cNvSpPr txBox="1"/>
          <p:nvPr/>
        </p:nvSpPr>
        <p:spPr>
          <a:xfrm>
            <a:off x="5852160" y="3730752"/>
            <a:ext cx="5577840" cy="658368"/>
          </a:xfrm>
          <a:prstGeom prst="rect">
            <a:avLst/>
          </a:prstGeom>
          <a:noFill/>
          <a:ln/>
        </p:spPr>
        <p:txBody>
          <a:bodyPr wrap="square" lIns="0" tIns="0" rIns="0" bIns="0" rtlCol="0" anchor="ctr"/>
          <a:lstStyle/>
          <a:p>
            <a:pPr indent="0" marL="0">
              <a:buNone/>
            </a:pPr>
            <a:r>
              <a:rPr lang="en-US" sz="1400" dirty="0">
                <a:solidFill>
                  <a:schemeClr val="tx1"/>
                </a:solidFill>
              </a:rPr>
              <a:t>LLM internals, attention, decoding · bias, hallucination, stochasticity</a:t>
            </a:r>
            <a:endParaRPr lang="en-US" sz="1400" dirty="0"/>
          </a:p>
        </p:txBody>
      </p:sp>
      <p:sp>
        <p:nvSpPr>
          <p:cNvPr id="19" name="Shape 17"/>
          <p:cNvSpPr/>
          <p:nvPr/>
        </p:nvSpPr>
        <p:spPr>
          <a:xfrm>
            <a:off x="548640" y="4517136"/>
            <a:ext cx="11064240" cy="658368"/>
          </a:xfrm>
          <a:prstGeom prst="roundRect">
            <a:avLst>
              <a:gd name="adj" fmla="val 13889"/>
            </a:avLst>
          </a:prstGeom>
          <a:solidFill>
            <a:schemeClr val="bg2"/>
          </a:solidFill>
          <a:ln w="9525">
            <a:solidFill>
              <a:schemeClr val="bg2"/>
            </a:solidFill>
            <a:prstDash val="solid"/>
          </a:ln>
        </p:spPr>
      </p:sp>
      <p:sp>
        <p:nvSpPr>
          <p:cNvPr id="20" name="Text 18"/>
          <p:cNvSpPr txBox="1"/>
          <p:nvPr/>
        </p:nvSpPr>
        <p:spPr>
          <a:xfrm>
            <a:off x="713232" y="4645152"/>
            <a:ext cx="1005840" cy="402336"/>
          </a:xfrm>
          <a:prstGeom prst="roundRect">
            <a:avLst>
              <a:gd name="adj" fmla="val 1818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S010</a:t>
            </a:r>
            <a:endParaRPr lang="en-US" sz="1300" dirty="0"/>
          </a:p>
        </p:txBody>
      </p:sp>
      <p:sp>
        <p:nvSpPr>
          <p:cNvPr id="21" name="Text 19"/>
          <p:cNvSpPr txBox="1"/>
          <p:nvPr/>
        </p:nvSpPr>
        <p:spPr>
          <a:xfrm>
            <a:off x="1920240" y="4517136"/>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Deployment Challenges</a:t>
            </a:r>
            <a:endParaRPr lang="en-US" sz="1600" dirty="0"/>
          </a:p>
        </p:txBody>
      </p:sp>
      <p:sp>
        <p:nvSpPr>
          <p:cNvPr id="22" name="Text 20"/>
          <p:cNvSpPr txBox="1"/>
          <p:nvPr/>
        </p:nvSpPr>
        <p:spPr>
          <a:xfrm>
            <a:off x="5852160" y="4517136"/>
            <a:ext cx="5577840" cy="658368"/>
          </a:xfrm>
          <a:prstGeom prst="rect">
            <a:avLst/>
          </a:prstGeom>
          <a:noFill/>
          <a:ln/>
        </p:spPr>
        <p:txBody>
          <a:bodyPr wrap="square" lIns="0" tIns="0" rIns="0" bIns="0" rtlCol="0" anchor="ctr"/>
          <a:lstStyle/>
          <a:p>
            <a:pPr indent="0" marL="0">
              <a:buNone/>
            </a:pPr>
            <a:r>
              <a:rPr lang="en-US" sz="1400" dirty="0">
                <a:solidFill>
                  <a:schemeClr val="tx1"/>
                </a:solidFill>
              </a:rPr>
              <a:t>Business &amp; technical hurdles · reference architecture for a bank</a:t>
            </a:r>
            <a:endParaRPr lang="en-US" sz="1400" dirty="0"/>
          </a:p>
        </p:txBody>
      </p:sp>
      <p:sp>
        <p:nvSpPr>
          <p:cNvPr id="23" name="Shape 21"/>
          <p:cNvSpPr/>
          <p:nvPr/>
        </p:nvSpPr>
        <p:spPr>
          <a:xfrm>
            <a:off x="548640" y="5303520"/>
            <a:ext cx="11064240" cy="658368"/>
          </a:xfrm>
          <a:prstGeom prst="roundRect">
            <a:avLst>
              <a:gd name="adj" fmla="val 13889"/>
            </a:avLst>
          </a:prstGeom>
          <a:solidFill>
            <a:schemeClr val="bg2"/>
          </a:solidFill>
          <a:ln w="9525">
            <a:solidFill>
              <a:schemeClr val="bg2"/>
            </a:solidFill>
            <a:prstDash val="solid"/>
          </a:ln>
        </p:spPr>
      </p:sp>
      <p:sp>
        <p:nvSpPr>
          <p:cNvPr id="24" name="Text 22"/>
          <p:cNvSpPr txBox="1"/>
          <p:nvPr/>
        </p:nvSpPr>
        <p:spPr>
          <a:xfrm>
            <a:off x="713232" y="5431536"/>
            <a:ext cx="1005840" cy="402336"/>
          </a:xfrm>
          <a:prstGeom prst="roundRect">
            <a:avLst>
              <a:gd name="adj" fmla="val 18182"/>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300" b="1" dirty="0">
                <a:solidFill>
                  <a:schemeClr val="tx1"/>
                </a:solidFill>
              </a:rPr>
              <a:t>LAB</a:t>
            </a:r>
            <a:endParaRPr lang="en-US" sz="1300" dirty="0"/>
          </a:p>
        </p:txBody>
      </p:sp>
      <p:sp>
        <p:nvSpPr>
          <p:cNvPr id="25" name="Text 23"/>
          <p:cNvSpPr txBox="1"/>
          <p:nvPr/>
        </p:nvSpPr>
        <p:spPr>
          <a:xfrm>
            <a:off x="1920240" y="5303520"/>
            <a:ext cx="3931920" cy="658368"/>
          </a:xfrm>
          <a:prstGeom prst="rect">
            <a:avLst/>
          </a:prstGeom>
          <a:noFill/>
          <a:ln/>
        </p:spPr>
        <p:txBody>
          <a:bodyPr wrap="square" lIns="0" tIns="0" rIns="0" bIns="0" rtlCol="0" anchor="ctr"/>
          <a:lstStyle/>
          <a:p>
            <a:pPr indent="0" marL="0">
              <a:buNone/>
            </a:pPr>
            <a:r>
              <a:rPr lang="en-US" sz="1600" b="1" dirty="0">
                <a:solidFill>
                  <a:schemeClr val="tx2"/>
                </a:solidFill>
              </a:rPr>
              <a:t>Banking Use Cases &amp; Practice</a:t>
            </a:r>
            <a:endParaRPr lang="en-US" sz="1600" dirty="0"/>
          </a:p>
        </p:txBody>
      </p:sp>
      <p:sp>
        <p:nvSpPr>
          <p:cNvPr id="26" name="Text 24"/>
          <p:cNvSpPr txBox="1"/>
          <p:nvPr/>
        </p:nvSpPr>
        <p:spPr>
          <a:xfrm>
            <a:off x="5852160" y="5303520"/>
            <a:ext cx="5577840" cy="658368"/>
          </a:xfrm>
          <a:prstGeom prst="rect">
            <a:avLst/>
          </a:prstGeom>
          <a:noFill/>
          <a:ln/>
        </p:spPr>
        <p:txBody>
          <a:bodyPr wrap="square" lIns="0" tIns="0" rIns="0" bIns="0" rtlCol="0" anchor="ctr"/>
          <a:lstStyle/>
          <a:p>
            <a:pPr indent="0" marL="0">
              <a:buNone/>
            </a:pPr>
            <a:r>
              <a:rPr lang="en-US" sz="1400" dirty="0">
                <a:solidFill>
                  <a:schemeClr val="tx1"/>
                </a:solidFill>
              </a:rPr>
              <a:t>3 use cases with architecture &amp; workflow · dos, don'ts, standards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463040"/>
            <a:ext cx="2743200" cy="10972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01</a:t>
            </a:r>
            <a:endParaRPr lang="en-US" sz="6000" dirty="0"/>
          </a:p>
        </p:txBody>
      </p:sp>
      <p:sp>
        <p:nvSpPr>
          <p:cNvPr id="3"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rPr>
              <a:t>Foundations</a:t>
            </a:r>
            <a:endParaRPr lang="en-US" sz="4000" dirty="0"/>
          </a:p>
        </p:txBody>
      </p:sp>
      <p:sp>
        <p:nvSpPr>
          <p:cNvPr id="4" name="Text 0"/>
          <p:cNvSpPr/>
          <p:nvPr>
            <p:ph idx="101" type="body" hasCustomPrompt="1"/>
          </p:nvPr>
        </p:nvSpPr>
        <p:spPr>
          <a:xfrm>
            <a:off x="731520" y="3794760"/>
            <a:ext cx="10515600" cy="731520"/>
          </a:xfrm>
          <a:prstGeom prst="rect">
            <a:avLst/>
          </a:prstGeom>
          <a:noFill/>
          <a:ln/>
        </p:spPr>
        <p:txBody>
          <a:bodyPr wrap="square" rtlCol="0" anchor="t"/>
          <a:lstStyle/>
          <a:p>
            <a:pPr algn="l" indent="0" marL="0">
              <a:buNone/>
            </a:pPr>
            <a:r>
              <a:rPr lang="en-US" sz="1800" dirty="0">
                <a:solidFill>
                  <a:schemeClr val="accent2"/>
                </a:solidFill>
              </a:rPr>
              <a:t>S006 Gen AI &amp; Challenges  ·  S007 Core Principles</a:t>
            </a:r>
            <a:endParaRPr lang="en-US" sz="1800" dirty="0"/>
          </a:p>
        </p:txBody>
      </p:sp>
      <p:sp>
        <p:nvSpPr>
          <p:cNvPr id="5" name="Shape 3"/>
          <p:cNvSpPr/>
          <p:nvPr/>
        </p:nvSpPr>
        <p:spPr>
          <a:xfrm>
            <a:off x="9326880" y="4206240"/>
            <a:ext cx="3108960" cy="3108960"/>
          </a:xfrm>
          <a:prstGeom prst="ellipse">
            <a:avLst/>
          </a:prstGeom>
          <a:solidFill>
            <a:schemeClr val="accent1">
              <a:alpha val="0"/>
            </a:schemeClr>
          </a:solidFill>
          <a:ln w="25400">
            <a:solidFill>
              <a:schemeClr val="accent1">
                <a:alpha val="40000"/>
              </a:schemeClr>
            </a:solidFill>
            <a:prstDash val="solid"/>
          </a:ln>
        </p:spPr>
      </p:sp>
      <p:sp>
        <p:nvSpPr>
          <p:cNvPr id="6" name="Shape 4"/>
          <p:cNvSpPr/>
          <p:nvPr/>
        </p:nvSpPr>
        <p:spPr>
          <a:xfrm>
            <a:off x="9829800" y="4709160"/>
            <a:ext cx="2103120" cy="2103120"/>
          </a:xfrm>
          <a:prstGeom prst="ellipse">
            <a:avLst/>
          </a:prstGeom>
          <a:solidFill>
            <a:schemeClr val="accent2">
              <a:alpha val="0"/>
            </a:schemeClr>
          </a:solidFill>
          <a:ln w="25400">
            <a:solidFill>
              <a:schemeClr val="accent2">
                <a:alpha val="60000"/>
              </a:schemeClr>
            </a:solidFill>
            <a:prstDash val="solid"/>
          </a:ln>
        </p:spPr>
      </p:sp>
      <p:sp>
        <p:nvSpPr>
          <p:cNvPr id="7" name="Shape 5"/>
          <p:cNvSpPr/>
          <p:nvPr/>
        </p:nvSpPr>
        <p:spPr>
          <a:xfrm>
            <a:off x="10287000" y="5166360"/>
            <a:ext cx="1188720" cy="1188720"/>
          </a:xfrm>
          <a:prstGeom prst="ellipse">
            <a:avLst/>
          </a:prstGeom>
          <a:solidFill>
            <a:schemeClr val="accent2"/>
          </a:solidFill>
          <a:ln w="25400">
            <a:solidFill>
              <a:schemeClr val="accent2"/>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AI vs ML vs Deep Learning vs GenAI</a:t>
            </a:r>
            <a:endParaRPr lang="en-US" sz="3200" dirty="0"/>
          </a:p>
        </p:txBody>
      </p:sp>
      <p:sp>
        <p:nvSpPr>
          <p:cNvPr id="3" name="Shape 1"/>
          <p:cNvSpPr/>
          <p:nvPr/>
        </p:nvSpPr>
        <p:spPr>
          <a:xfrm>
            <a:off x="548640" y="1371600"/>
            <a:ext cx="4754880" cy="4754880"/>
          </a:xfrm>
          <a:prstGeom prst="ellipse">
            <a:avLst/>
          </a:prstGeom>
          <a:solidFill>
            <a:schemeClr val="accent3">
              <a:alpha val="18000"/>
            </a:schemeClr>
          </a:solidFill>
          <a:ln w="12700">
            <a:solidFill>
              <a:schemeClr val="accent3"/>
            </a:solidFill>
            <a:prstDash val="solid"/>
          </a:ln>
        </p:spPr>
      </p:sp>
      <p:sp>
        <p:nvSpPr>
          <p:cNvPr id="4" name="Text 2"/>
          <p:cNvSpPr txBox="1"/>
          <p:nvPr/>
        </p:nvSpPr>
        <p:spPr>
          <a:xfrm>
            <a:off x="548640" y="1600200"/>
            <a:ext cx="4754880" cy="320040"/>
          </a:xfrm>
          <a:prstGeom prst="rect">
            <a:avLst/>
          </a:prstGeom>
          <a:noFill/>
          <a:ln/>
        </p:spPr>
        <p:txBody>
          <a:bodyPr wrap="square" lIns="0" tIns="0" rIns="0" bIns="0" rtlCol="0" anchor="t"/>
          <a:lstStyle/>
          <a:p>
            <a:pPr algn="ctr" indent="0" marL="0">
              <a:buNone/>
            </a:pPr>
            <a:r>
              <a:rPr lang="en-US" sz="1400" b="1" dirty="0">
                <a:solidFill>
                  <a:schemeClr val="tx2"/>
                </a:solidFill>
              </a:rPr>
              <a:t>Artificial Intelligence</a:t>
            </a:r>
            <a:endParaRPr lang="en-US" sz="1400" dirty="0"/>
          </a:p>
        </p:txBody>
      </p:sp>
      <p:sp>
        <p:nvSpPr>
          <p:cNvPr id="5" name="Shape 3"/>
          <p:cNvSpPr/>
          <p:nvPr/>
        </p:nvSpPr>
        <p:spPr>
          <a:xfrm>
            <a:off x="1051560" y="2377440"/>
            <a:ext cx="3749040" cy="3749040"/>
          </a:xfrm>
          <a:prstGeom prst="ellipse">
            <a:avLst/>
          </a:prstGeom>
          <a:solidFill>
            <a:schemeClr val="accent1">
              <a:alpha val="28000"/>
            </a:schemeClr>
          </a:solidFill>
          <a:ln w="12700">
            <a:solidFill>
              <a:schemeClr val="accent1"/>
            </a:solidFill>
            <a:prstDash val="solid"/>
          </a:ln>
        </p:spPr>
      </p:sp>
      <p:sp>
        <p:nvSpPr>
          <p:cNvPr id="6" name="Text 4"/>
          <p:cNvSpPr txBox="1"/>
          <p:nvPr/>
        </p:nvSpPr>
        <p:spPr>
          <a:xfrm>
            <a:off x="1051560" y="2606040"/>
            <a:ext cx="3749040" cy="320040"/>
          </a:xfrm>
          <a:prstGeom prst="rect">
            <a:avLst/>
          </a:prstGeom>
          <a:noFill/>
          <a:ln/>
        </p:spPr>
        <p:txBody>
          <a:bodyPr wrap="square" lIns="0" tIns="0" rIns="0" bIns="0" rtlCol="0" anchor="t"/>
          <a:lstStyle/>
          <a:p>
            <a:pPr algn="ctr" indent="0" marL="0">
              <a:buNone/>
            </a:pPr>
            <a:r>
              <a:rPr lang="en-US" sz="1400" b="1" dirty="0">
                <a:solidFill>
                  <a:schemeClr val="tx2"/>
                </a:solidFill>
              </a:rPr>
              <a:t>Machine Learning</a:t>
            </a:r>
            <a:endParaRPr lang="en-US" sz="1400" dirty="0"/>
          </a:p>
        </p:txBody>
      </p:sp>
      <p:sp>
        <p:nvSpPr>
          <p:cNvPr id="7" name="Shape 5"/>
          <p:cNvSpPr/>
          <p:nvPr/>
        </p:nvSpPr>
        <p:spPr>
          <a:xfrm>
            <a:off x="1554480" y="3383280"/>
            <a:ext cx="2743200" cy="2743200"/>
          </a:xfrm>
          <a:prstGeom prst="ellipse">
            <a:avLst/>
          </a:prstGeom>
          <a:solidFill>
            <a:schemeClr val="accent1">
              <a:alpha val="55000"/>
            </a:schemeClr>
          </a:solidFill>
          <a:ln w="12700">
            <a:solidFill>
              <a:schemeClr val="accent1"/>
            </a:solidFill>
            <a:prstDash val="solid"/>
          </a:ln>
        </p:spPr>
      </p:sp>
      <p:sp>
        <p:nvSpPr>
          <p:cNvPr id="8" name="Text 6"/>
          <p:cNvSpPr txBox="1"/>
          <p:nvPr/>
        </p:nvSpPr>
        <p:spPr>
          <a:xfrm>
            <a:off x="1554480" y="3611880"/>
            <a:ext cx="2743200" cy="320040"/>
          </a:xfrm>
          <a:prstGeom prst="rect">
            <a:avLst/>
          </a:prstGeom>
          <a:noFill/>
          <a:ln/>
        </p:spPr>
        <p:txBody>
          <a:bodyPr wrap="square" lIns="0" tIns="0" rIns="0" bIns="0" rtlCol="0" anchor="t"/>
          <a:lstStyle/>
          <a:p>
            <a:pPr algn="ctr" indent="0" marL="0">
              <a:buNone/>
            </a:pPr>
            <a:r>
              <a:rPr lang="en-US" sz="1400" b="1" dirty="0">
                <a:solidFill>
                  <a:schemeClr val="tx1"/>
                </a:solidFill>
              </a:rPr>
              <a:t>Deep Learning</a:t>
            </a:r>
            <a:endParaRPr lang="en-US" sz="1400" dirty="0"/>
          </a:p>
        </p:txBody>
      </p:sp>
      <p:sp>
        <p:nvSpPr>
          <p:cNvPr id="9" name="Shape 7"/>
          <p:cNvSpPr/>
          <p:nvPr/>
        </p:nvSpPr>
        <p:spPr>
          <a:xfrm>
            <a:off x="2057400" y="4389120"/>
            <a:ext cx="1737360" cy="1737360"/>
          </a:xfrm>
          <a:prstGeom prst="ellipse">
            <a:avLst/>
          </a:prstGeom>
          <a:solidFill>
            <a:schemeClr val="accent2"/>
          </a:solidFill>
          <a:ln w="12700">
            <a:solidFill>
              <a:schemeClr val="accent2"/>
            </a:solidFill>
            <a:prstDash val="solid"/>
          </a:ln>
        </p:spPr>
      </p:sp>
      <p:sp>
        <p:nvSpPr>
          <p:cNvPr id="10" name="Text 8"/>
          <p:cNvSpPr txBox="1"/>
          <p:nvPr/>
        </p:nvSpPr>
        <p:spPr>
          <a:xfrm>
            <a:off x="2057400" y="4389120"/>
            <a:ext cx="1737360" cy="1737360"/>
          </a:xfrm>
          <a:prstGeom prst="rect">
            <a:avLst/>
          </a:prstGeom>
          <a:noFill/>
          <a:ln/>
        </p:spPr>
        <p:txBody>
          <a:bodyPr wrap="square" lIns="0" tIns="0" rIns="0" bIns="0" rtlCol="0" anchor="ctr"/>
          <a:lstStyle/>
          <a:p>
            <a:pPr algn="ctr" indent="0" marL="0">
              <a:buNone/>
            </a:pPr>
            <a:r>
              <a:rPr lang="en-US" sz="1400" b="1" dirty="0">
                <a:solidFill>
                  <a:schemeClr val="tx1"/>
                </a:solidFill>
              </a:rPr>
              <a:t>Generative AI</a:t>
            </a:r>
            <a:endParaRPr lang="en-US" sz="1400" dirty="0"/>
          </a:p>
        </p:txBody>
      </p:sp>
      <p:sp>
        <p:nvSpPr>
          <p:cNvPr id="11" name="Shape 9"/>
          <p:cNvSpPr/>
          <p:nvPr/>
        </p:nvSpPr>
        <p:spPr>
          <a:xfrm>
            <a:off x="5943600" y="1517904"/>
            <a:ext cx="256032" cy="256032"/>
          </a:xfrm>
          <a:prstGeom prst="ellipse">
            <a:avLst/>
          </a:prstGeom>
          <a:solidFill>
            <a:schemeClr val="accent3"/>
          </a:solidFill>
          <a:ln w="12700">
            <a:solidFill>
              <a:schemeClr val="accent3"/>
            </a:solidFill>
            <a:prstDash val="solid"/>
          </a:ln>
        </p:spPr>
      </p:sp>
      <p:sp>
        <p:nvSpPr>
          <p:cNvPr id="12" name="Text 10"/>
          <p:cNvSpPr txBox="1"/>
          <p:nvPr/>
        </p:nvSpPr>
        <p:spPr>
          <a:xfrm>
            <a:off x="6355080" y="1463040"/>
            <a:ext cx="5212080" cy="365760"/>
          </a:xfrm>
          <a:prstGeom prst="rect">
            <a:avLst/>
          </a:prstGeom>
          <a:noFill/>
          <a:ln/>
        </p:spPr>
        <p:txBody>
          <a:bodyPr wrap="square" lIns="0" tIns="0" rIns="0" bIns="0" rtlCol="0" anchor="t"/>
          <a:lstStyle/>
          <a:p>
            <a:pPr indent="0" marL="0">
              <a:buNone/>
            </a:pPr>
            <a:r>
              <a:rPr lang="en-US" sz="1600" b="1" dirty="0">
                <a:solidFill>
                  <a:schemeClr val="tx2"/>
                </a:solidFill>
              </a:rPr>
              <a:t>Artificial Intelligence</a:t>
            </a:r>
            <a:endParaRPr lang="en-US" sz="1600" dirty="0"/>
          </a:p>
        </p:txBody>
      </p:sp>
      <p:sp>
        <p:nvSpPr>
          <p:cNvPr id="13" name="Text 11"/>
          <p:cNvSpPr txBox="1"/>
          <p:nvPr/>
        </p:nvSpPr>
        <p:spPr>
          <a:xfrm>
            <a:off x="6355080" y="1847088"/>
            <a:ext cx="5212080" cy="731520"/>
          </a:xfrm>
          <a:prstGeom prst="rect">
            <a:avLst/>
          </a:prstGeom>
          <a:noFill/>
          <a:ln/>
        </p:spPr>
        <p:txBody>
          <a:bodyPr wrap="square" lIns="0" tIns="0" rIns="0" bIns="0" rtlCol="0" anchor="t"/>
          <a:lstStyle/>
          <a:p>
            <a:pPr indent="0" marL="0">
              <a:buNone/>
            </a:pPr>
            <a:r>
              <a:rPr lang="en-US" sz="1300" dirty="0">
                <a:solidFill>
                  <a:schemeClr val="tx1"/>
                </a:solidFill>
              </a:rPr>
              <a:t>Broad field: machines performing tasks that need human-like intelligence — reasoning, perception, decisions. Includes rule-based expert systems.</a:t>
            </a:r>
            <a:endParaRPr lang="en-US" sz="1300" dirty="0"/>
          </a:p>
        </p:txBody>
      </p:sp>
      <p:sp>
        <p:nvSpPr>
          <p:cNvPr id="14" name="Shape 12"/>
          <p:cNvSpPr/>
          <p:nvPr/>
        </p:nvSpPr>
        <p:spPr>
          <a:xfrm>
            <a:off x="5943600" y="2688336"/>
            <a:ext cx="256032" cy="256032"/>
          </a:xfrm>
          <a:prstGeom prst="ellipse">
            <a:avLst/>
          </a:prstGeom>
          <a:solidFill>
            <a:schemeClr val="accent1"/>
          </a:solidFill>
          <a:ln w="12700">
            <a:solidFill>
              <a:schemeClr val="accent1"/>
            </a:solidFill>
            <a:prstDash val="solid"/>
          </a:ln>
        </p:spPr>
      </p:sp>
      <p:sp>
        <p:nvSpPr>
          <p:cNvPr id="15" name="Text 13"/>
          <p:cNvSpPr txBox="1"/>
          <p:nvPr/>
        </p:nvSpPr>
        <p:spPr>
          <a:xfrm>
            <a:off x="6355080" y="2633472"/>
            <a:ext cx="5212080" cy="365760"/>
          </a:xfrm>
          <a:prstGeom prst="rect">
            <a:avLst/>
          </a:prstGeom>
          <a:noFill/>
          <a:ln/>
        </p:spPr>
        <p:txBody>
          <a:bodyPr wrap="square" lIns="0" tIns="0" rIns="0" bIns="0" rtlCol="0" anchor="t"/>
          <a:lstStyle/>
          <a:p>
            <a:pPr indent="0" marL="0">
              <a:buNone/>
            </a:pPr>
            <a:r>
              <a:rPr lang="en-US" sz="1600" b="1" dirty="0">
                <a:solidFill>
                  <a:schemeClr val="tx2"/>
                </a:solidFill>
              </a:rPr>
              <a:t>Machine Learning</a:t>
            </a:r>
            <a:endParaRPr lang="en-US" sz="1600" dirty="0"/>
          </a:p>
        </p:txBody>
      </p:sp>
      <p:sp>
        <p:nvSpPr>
          <p:cNvPr id="16" name="Text 14"/>
          <p:cNvSpPr txBox="1"/>
          <p:nvPr/>
        </p:nvSpPr>
        <p:spPr>
          <a:xfrm>
            <a:off x="6355080" y="3017520"/>
            <a:ext cx="5212080" cy="731520"/>
          </a:xfrm>
          <a:prstGeom prst="rect">
            <a:avLst/>
          </a:prstGeom>
          <a:noFill/>
          <a:ln/>
        </p:spPr>
        <p:txBody>
          <a:bodyPr wrap="square" lIns="0" tIns="0" rIns="0" bIns="0" rtlCol="0" anchor="t"/>
          <a:lstStyle/>
          <a:p>
            <a:pPr indent="0" marL="0">
              <a:buNone/>
            </a:pPr>
            <a:r>
              <a:rPr lang="en-US" sz="1300" dirty="0">
                <a:solidFill>
                  <a:schemeClr val="tx1"/>
                </a:solidFill>
              </a:rPr>
              <a:t>Subset of AI that learns patterns from data instead of hand-written rules. Predicts or classifies: credit score, churn, fraud probability.</a:t>
            </a:r>
            <a:endParaRPr lang="en-US" sz="1300" dirty="0"/>
          </a:p>
        </p:txBody>
      </p:sp>
      <p:sp>
        <p:nvSpPr>
          <p:cNvPr id="17" name="Shape 15"/>
          <p:cNvSpPr/>
          <p:nvPr/>
        </p:nvSpPr>
        <p:spPr>
          <a:xfrm>
            <a:off x="5943600" y="3858768"/>
            <a:ext cx="256032" cy="256032"/>
          </a:xfrm>
          <a:prstGeom prst="ellipse">
            <a:avLst/>
          </a:prstGeom>
          <a:solidFill>
            <a:schemeClr val="accent5"/>
          </a:solidFill>
          <a:ln w="12700">
            <a:solidFill>
              <a:schemeClr val="accent5"/>
            </a:solidFill>
            <a:prstDash val="solid"/>
          </a:ln>
        </p:spPr>
      </p:sp>
      <p:sp>
        <p:nvSpPr>
          <p:cNvPr id="18" name="Text 16"/>
          <p:cNvSpPr txBox="1"/>
          <p:nvPr/>
        </p:nvSpPr>
        <p:spPr>
          <a:xfrm>
            <a:off x="6355080" y="3803904"/>
            <a:ext cx="5212080" cy="365760"/>
          </a:xfrm>
          <a:prstGeom prst="rect">
            <a:avLst/>
          </a:prstGeom>
          <a:noFill/>
          <a:ln/>
        </p:spPr>
        <p:txBody>
          <a:bodyPr wrap="square" lIns="0" tIns="0" rIns="0" bIns="0" rtlCol="0" anchor="t"/>
          <a:lstStyle/>
          <a:p>
            <a:pPr indent="0" marL="0">
              <a:buNone/>
            </a:pPr>
            <a:r>
              <a:rPr lang="en-US" sz="1600" b="1" dirty="0">
                <a:solidFill>
                  <a:schemeClr val="tx2"/>
                </a:solidFill>
              </a:rPr>
              <a:t>Deep Learning</a:t>
            </a:r>
            <a:endParaRPr lang="en-US" sz="1600" dirty="0"/>
          </a:p>
        </p:txBody>
      </p:sp>
      <p:sp>
        <p:nvSpPr>
          <p:cNvPr id="19" name="Text 17"/>
          <p:cNvSpPr txBox="1"/>
          <p:nvPr/>
        </p:nvSpPr>
        <p:spPr>
          <a:xfrm>
            <a:off x="6355080" y="4187952"/>
            <a:ext cx="5212080" cy="731520"/>
          </a:xfrm>
          <a:prstGeom prst="rect">
            <a:avLst/>
          </a:prstGeom>
          <a:noFill/>
          <a:ln/>
        </p:spPr>
        <p:txBody>
          <a:bodyPr wrap="square" lIns="0" tIns="0" rIns="0" bIns="0" rtlCol="0" anchor="t"/>
          <a:lstStyle/>
          <a:p>
            <a:pPr indent="0" marL="0">
              <a:buNone/>
            </a:pPr>
            <a:r>
              <a:rPr lang="en-US" sz="1300" dirty="0">
                <a:solidFill>
                  <a:schemeClr val="tx1"/>
                </a:solidFill>
              </a:rPr>
              <a:t>ML with multi-layer neural networks; excels on unstructured data such as images, speech and text.</a:t>
            </a:r>
            <a:endParaRPr lang="en-US" sz="1300" dirty="0"/>
          </a:p>
        </p:txBody>
      </p:sp>
      <p:sp>
        <p:nvSpPr>
          <p:cNvPr id="20" name="Shape 18"/>
          <p:cNvSpPr/>
          <p:nvPr/>
        </p:nvSpPr>
        <p:spPr>
          <a:xfrm>
            <a:off x="5943600" y="5029200"/>
            <a:ext cx="256032" cy="256032"/>
          </a:xfrm>
          <a:prstGeom prst="ellipse">
            <a:avLst/>
          </a:prstGeom>
          <a:solidFill>
            <a:schemeClr val="accent2"/>
          </a:solidFill>
          <a:ln w="12700">
            <a:solidFill>
              <a:schemeClr val="accent2"/>
            </a:solidFill>
            <a:prstDash val="solid"/>
          </a:ln>
        </p:spPr>
      </p:sp>
      <p:sp>
        <p:nvSpPr>
          <p:cNvPr id="21" name="Text 19"/>
          <p:cNvSpPr txBox="1"/>
          <p:nvPr/>
        </p:nvSpPr>
        <p:spPr>
          <a:xfrm>
            <a:off x="6355080" y="4974336"/>
            <a:ext cx="5212080" cy="365760"/>
          </a:xfrm>
          <a:prstGeom prst="rect">
            <a:avLst/>
          </a:prstGeom>
          <a:noFill/>
          <a:ln/>
        </p:spPr>
        <p:txBody>
          <a:bodyPr wrap="square" lIns="0" tIns="0" rIns="0" bIns="0" rtlCol="0" anchor="t"/>
          <a:lstStyle/>
          <a:p>
            <a:pPr indent="0" marL="0">
              <a:buNone/>
            </a:pPr>
            <a:r>
              <a:rPr lang="en-US" sz="1600" b="1" dirty="0">
                <a:solidFill>
                  <a:schemeClr val="tx2"/>
                </a:solidFill>
              </a:rPr>
              <a:t>Generative AI</a:t>
            </a:r>
            <a:endParaRPr lang="en-US" sz="1600" dirty="0"/>
          </a:p>
        </p:txBody>
      </p:sp>
      <p:sp>
        <p:nvSpPr>
          <p:cNvPr id="22" name="Text 20"/>
          <p:cNvSpPr txBox="1"/>
          <p:nvPr/>
        </p:nvSpPr>
        <p:spPr>
          <a:xfrm>
            <a:off x="6355080" y="5358384"/>
            <a:ext cx="5212080" cy="731520"/>
          </a:xfrm>
          <a:prstGeom prst="rect">
            <a:avLst/>
          </a:prstGeom>
          <a:noFill/>
          <a:ln/>
        </p:spPr>
        <p:txBody>
          <a:bodyPr wrap="square" lIns="0" tIns="0" rIns="0" bIns="0" rtlCol="0" anchor="t"/>
          <a:lstStyle/>
          <a:p>
            <a:pPr indent="0" marL="0">
              <a:buNone/>
            </a:pPr>
            <a:r>
              <a:rPr lang="en-US" sz="1300" dirty="0">
                <a:solidFill>
                  <a:schemeClr val="tx1"/>
                </a:solidFill>
              </a:rPr>
              <a:t>Deep learning models that create new content — text, images, code, synthetic data — by learning the distribution of their training data.</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Rule-based AI vs Machine Learning vs GenAI</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2926080"/>
                <a:gridCol w="3063240"/>
                <a:gridCol w="3246120"/>
              </a:tblGrid>
              <a:tr h="621792">
                <a:tc>
                  <a:txBody>
                    <a:bodyPr/>
                    <a:lstStyle/>
                    <a:p>
                      <a:pPr indent="0" marL="0">
                        <a:buNone/>
                      </a:pPr>
                      <a:r>
                        <a:rPr lang="en-US" sz="1300" b="1" dirty="0">
                          <a:solidFill>
                            <a:schemeClr val="bg1"/>
                          </a:solidFill>
                        </a:rPr>
                        <a:t>Dimension</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Rule-based AI</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Machine Learning</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Generative AI</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r>
              <a:tr h="621792">
                <a:tc>
                  <a:txBody>
                    <a:bodyPr/>
                    <a:lstStyle/>
                    <a:p>
                      <a:pPr indent="0" marL="0">
                        <a:buNone/>
                      </a:pPr>
                      <a:r>
                        <a:rPr lang="en-US" sz="1300" b="1" dirty="0">
                          <a:solidFill>
                            <a:schemeClr val="tx2"/>
                          </a:solidFill>
                        </a:rPr>
                        <a:t>Core idea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Experts write explicit if-then rules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Learns patterns from historical, labelled data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Learns the data distribution and generates new content</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621792">
                <a:tc>
                  <a:txBody>
                    <a:bodyPr/>
                    <a:lstStyle/>
                    <a:p>
                      <a:pPr indent="0" marL="0">
                        <a:buNone/>
                      </a:pPr>
                      <a:r>
                        <a:rPr lang="en-US" sz="1300" b="1" dirty="0">
                          <a:solidFill>
                            <a:schemeClr val="tx2"/>
                          </a:solidFill>
                        </a:rPr>
                        <a:t>Output</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decision per rule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A prediction: score, class or number</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New text, images, code, audio or synthetic data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621792">
                <a:tc>
                  <a:txBody>
                    <a:bodyPr/>
                    <a:lstStyle/>
                    <a:p>
                      <a:pPr indent="0" marL="0">
                        <a:buNone/>
                      </a:pPr>
                      <a:r>
                        <a:rPr lang="en-US" sz="1300" b="1" dirty="0">
                          <a:solidFill>
                            <a:schemeClr val="tx2"/>
                          </a:solidFill>
                        </a:rPr>
                        <a:t>Data needed</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Domain knowledge, little data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Structured, labelled datasets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Massive unlabelled corpora + task-specific tuning</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621792">
                <a:tc>
                  <a:txBody>
                    <a:bodyPr/>
                    <a:lstStyle/>
                    <a:p>
                      <a:pPr indent="0" marL="0">
                        <a:buNone/>
                      </a:pPr>
                      <a:r>
                        <a:rPr lang="en-US" sz="1300" b="1" dirty="0">
                          <a:solidFill>
                            <a:schemeClr val="tx2"/>
                          </a:solidFill>
                        </a:rPr>
                        <a:t>Typical models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Expert systems, decision tables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Logistic regression, XGBoost, random forest</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Transformers (LLMs), diffusion, GANs, VAEs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621792">
                <a:tc>
                  <a:txBody>
                    <a:bodyPr/>
                    <a:lstStyle/>
                    <a:p>
                      <a:pPr indent="0" marL="0">
                        <a:buNone/>
                      </a:pPr>
                      <a:r>
                        <a:rPr lang="en-US" sz="1300" b="1" dirty="0">
                          <a:solidFill>
                            <a:schemeClr val="tx2"/>
                          </a:solidFill>
                        </a:rPr>
                        <a:t>Banking example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KYC rule checks, transaction limits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Credit scoring, fraud probability, churn</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Service chatbot, credit memo drafts, STR narratives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621792">
                <a:tc>
                  <a:txBody>
                    <a:bodyPr/>
                    <a:lstStyle/>
                    <a:p>
                      <a:pPr indent="0" marL="0">
                        <a:buNone/>
                      </a:pPr>
                      <a:r>
                        <a:rPr lang="en-US" sz="1300" b="1" dirty="0">
                          <a:solidFill>
                            <a:schemeClr val="tx2"/>
                          </a:solidFill>
                        </a:rPr>
                        <a:t>Key risk</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Rigid, costly to maintain</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Bias, drift, limited explainability</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Hallucination, bias, prompt injection, non-determinism</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5W1H of Generative AI</a:t>
            </a:r>
            <a:endParaRPr lang="en-US" sz="3200" dirty="0"/>
          </a:p>
        </p:txBody>
      </p:sp>
      <p:sp>
        <p:nvSpPr>
          <p:cNvPr id="3" name="Shape 1"/>
          <p:cNvSpPr/>
          <p:nvPr/>
        </p:nvSpPr>
        <p:spPr>
          <a:xfrm>
            <a:off x="548640" y="1371600"/>
            <a:ext cx="3502152" cy="2240280"/>
          </a:xfrm>
          <a:prstGeom prst="roundRect">
            <a:avLst>
              <a:gd name="adj" fmla="val 4082"/>
            </a:avLst>
          </a:prstGeom>
          <a:solidFill>
            <a:schemeClr val="bg2"/>
          </a:solidFill>
          <a:ln w="9525">
            <a:solidFill>
              <a:schemeClr val="bg2"/>
            </a:solidFill>
            <a:prstDash val="solid"/>
          </a:ln>
        </p:spPr>
      </p:sp>
      <p:sp>
        <p:nvSpPr>
          <p:cNvPr id="4" name="Shape 2"/>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60020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a:t>
            </a:r>
            <a:endParaRPr lang="en-US" sz="2000" dirty="0"/>
          </a:p>
        </p:txBody>
      </p:sp>
      <p:sp>
        <p:nvSpPr>
          <p:cNvPr id="7" name="Text 4"/>
          <p:cNvSpPr txBox="1"/>
          <p:nvPr/>
        </p:nvSpPr>
        <p:spPr>
          <a:xfrm>
            <a:off x="777240"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AI that creates new content — text, code, images, audio, synthetic data — by learning patterns from very large datasets.</a:t>
            </a:r>
            <a:endParaRPr lang="en-US" sz="1300" dirty="0"/>
          </a:p>
        </p:txBody>
      </p:sp>
      <p:sp>
        <p:nvSpPr>
          <p:cNvPr id="8" name="Shape 5"/>
          <p:cNvSpPr/>
          <p:nvPr/>
        </p:nvSpPr>
        <p:spPr>
          <a:xfrm>
            <a:off x="4329684" y="1371600"/>
            <a:ext cx="3502152" cy="2240280"/>
          </a:xfrm>
          <a:prstGeom prst="roundRect">
            <a:avLst>
              <a:gd name="adj" fmla="val 4082"/>
            </a:avLst>
          </a:prstGeom>
          <a:solidFill>
            <a:schemeClr val="bg2"/>
          </a:solidFill>
          <a:ln w="9525">
            <a:solidFill>
              <a:schemeClr val="bg2"/>
            </a:solidFill>
            <a:prstDash val="solid"/>
          </a:ln>
        </p:spPr>
      </p:sp>
      <p:sp>
        <p:nvSpPr>
          <p:cNvPr id="9" name="Shape 6"/>
          <p:cNvSpPr/>
          <p:nvPr/>
        </p:nvSpPr>
        <p:spPr>
          <a:xfrm>
            <a:off x="4558284" y="1600200"/>
            <a:ext cx="594360" cy="594360"/>
          </a:xfrm>
          <a:prstGeom prst="ellipse">
            <a:avLst/>
          </a:prstGeom>
          <a:solidFill>
            <a:schemeClr val="accent3"/>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4706874" y="1748790"/>
            <a:ext cx="297180" cy="297180"/>
          </a:xfrm>
          <a:prstGeom prst="rect">
            <a:avLst/>
          </a:prstGeom>
        </p:spPr>
      </p:pic>
      <p:sp>
        <p:nvSpPr>
          <p:cNvPr id="11" name="Text 7"/>
          <p:cNvSpPr txBox="1"/>
          <p:nvPr/>
        </p:nvSpPr>
        <p:spPr>
          <a:xfrm>
            <a:off x="5289804" y="160020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WHY</a:t>
            </a:r>
            <a:endParaRPr lang="en-US" sz="2000" dirty="0"/>
          </a:p>
        </p:txBody>
      </p:sp>
      <p:sp>
        <p:nvSpPr>
          <p:cNvPr id="12" name="Text 8"/>
          <p:cNvSpPr txBox="1"/>
          <p:nvPr/>
        </p:nvSpPr>
        <p:spPr>
          <a:xfrm>
            <a:off x="4558284"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Automates knowledge work: summarising, drafting, answering, coding. Unlocks the unstructured data (documents, emails, calls) that dominates a bank.</a:t>
            </a:r>
            <a:endParaRPr lang="en-US" sz="1300" dirty="0"/>
          </a:p>
        </p:txBody>
      </p:sp>
      <p:sp>
        <p:nvSpPr>
          <p:cNvPr id="13" name="Shape 9"/>
          <p:cNvSpPr/>
          <p:nvPr/>
        </p:nvSpPr>
        <p:spPr>
          <a:xfrm>
            <a:off x="8110728" y="1371600"/>
            <a:ext cx="3502152" cy="2240280"/>
          </a:xfrm>
          <a:prstGeom prst="roundRect">
            <a:avLst>
              <a:gd name="adj" fmla="val 4082"/>
            </a:avLst>
          </a:prstGeom>
          <a:solidFill>
            <a:schemeClr val="bg2"/>
          </a:solidFill>
          <a:ln w="9525">
            <a:solidFill>
              <a:schemeClr val="bg2"/>
            </a:solidFill>
            <a:prstDash val="solid"/>
          </a:ln>
        </p:spPr>
      </p:sp>
      <p:sp>
        <p:nvSpPr>
          <p:cNvPr id="14" name="Shape 10"/>
          <p:cNvSpPr/>
          <p:nvPr/>
        </p:nvSpPr>
        <p:spPr>
          <a:xfrm>
            <a:off x="8339328" y="1600200"/>
            <a:ext cx="594360" cy="594360"/>
          </a:xfrm>
          <a:prstGeom prst="ellipse">
            <a:avLst/>
          </a:prstGeom>
          <a:solidFill>
            <a:schemeClr val="accent5"/>
          </a:solidFill>
          <a:ln w="12700">
            <a:solidFill>
              <a:schemeClr val="accent5"/>
            </a:solidFill>
            <a:prstDash val="solid"/>
          </a:ln>
        </p:spPr>
      </p:sp>
      <p:pic>
        <p:nvPicPr>
          <p:cNvPr id="15" name="Image 2" descr="preencoded.png">    </p:cNvPr>
          <p:cNvPicPr>
            <a:picLocks noChangeAspect="1"/>
          </p:cNvPicPr>
          <p:nvPr/>
        </p:nvPicPr>
        <p:blipFill>
          <a:blip r:embed="rId3"/>
          <a:stretch>
            <a:fillRect/>
          </a:stretch>
        </p:blipFill>
        <p:spPr>
          <a:xfrm>
            <a:off x="8487918" y="1748790"/>
            <a:ext cx="297180" cy="297180"/>
          </a:xfrm>
          <a:prstGeom prst="rect">
            <a:avLst/>
          </a:prstGeom>
        </p:spPr>
      </p:pic>
      <p:sp>
        <p:nvSpPr>
          <p:cNvPr id="16" name="Text 11"/>
          <p:cNvSpPr txBox="1"/>
          <p:nvPr/>
        </p:nvSpPr>
        <p:spPr>
          <a:xfrm>
            <a:off x="9070848" y="160020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WHO</a:t>
            </a:r>
            <a:endParaRPr lang="en-US" sz="2000" dirty="0"/>
          </a:p>
        </p:txBody>
      </p:sp>
      <p:sp>
        <p:nvSpPr>
          <p:cNvPr id="17" name="Text 12"/>
          <p:cNvSpPr txBox="1"/>
          <p:nvPr/>
        </p:nvSpPr>
        <p:spPr>
          <a:xfrm>
            <a:off x="8339328"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Builders: model providers and the bank’s AI CoE. Users: customers, RMs, credit officers, investigators, developers, operations staff.</a:t>
            </a:r>
            <a:endParaRPr lang="en-US" sz="1300" dirty="0"/>
          </a:p>
        </p:txBody>
      </p:sp>
      <p:sp>
        <p:nvSpPr>
          <p:cNvPr id="18" name="Shape 13"/>
          <p:cNvSpPr/>
          <p:nvPr/>
        </p:nvSpPr>
        <p:spPr>
          <a:xfrm>
            <a:off x="548640" y="3794760"/>
            <a:ext cx="3502152" cy="2240280"/>
          </a:xfrm>
          <a:prstGeom prst="roundRect">
            <a:avLst>
              <a:gd name="adj" fmla="val 4082"/>
            </a:avLst>
          </a:prstGeom>
          <a:solidFill>
            <a:schemeClr val="bg2"/>
          </a:solidFill>
          <a:ln w="9525">
            <a:solidFill>
              <a:schemeClr val="bg2"/>
            </a:solidFill>
            <a:prstDash val="solid"/>
          </a:ln>
        </p:spPr>
      </p:sp>
      <p:sp>
        <p:nvSpPr>
          <p:cNvPr id="19" name="Shape 14"/>
          <p:cNvSpPr/>
          <p:nvPr/>
        </p:nvSpPr>
        <p:spPr>
          <a:xfrm>
            <a:off x="777240" y="4023360"/>
            <a:ext cx="594360" cy="594360"/>
          </a:xfrm>
          <a:prstGeom prst="ellipse">
            <a:avLst/>
          </a:prstGeom>
          <a:solidFill>
            <a:schemeClr val="accent6"/>
          </a:solidFill>
          <a:ln w="12700">
            <a:solidFill>
              <a:schemeClr val="accent6"/>
            </a:solidFill>
            <a:prstDash val="solid"/>
          </a:ln>
        </p:spPr>
      </p:sp>
      <p:pic>
        <p:nvPicPr>
          <p:cNvPr id="20" name="Image 3" descr="preencoded.png">    </p:cNvPr>
          <p:cNvPicPr>
            <a:picLocks noChangeAspect="1"/>
          </p:cNvPicPr>
          <p:nvPr/>
        </p:nvPicPr>
        <p:blipFill>
          <a:blip r:embed="rId4"/>
          <a:stretch>
            <a:fillRect/>
          </a:stretch>
        </p:blipFill>
        <p:spPr>
          <a:xfrm>
            <a:off x="925830" y="4171950"/>
            <a:ext cx="297180" cy="297180"/>
          </a:xfrm>
          <a:prstGeom prst="rect">
            <a:avLst/>
          </a:prstGeom>
        </p:spPr>
      </p:pic>
      <p:sp>
        <p:nvSpPr>
          <p:cNvPr id="21" name="Text 15"/>
          <p:cNvSpPr txBox="1"/>
          <p:nvPr/>
        </p:nvSpPr>
        <p:spPr>
          <a:xfrm>
            <a:off x="1508760" y="402336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WHERE</a:t>
            </a:r>
            <a:endParaRPr lang="en-US" sz="2000" dirty="0"/>
          </a:p>
        </p:txBody>
      </p:sp>
      <p:sp>
        <p:nvSpPr>
          <p:cNvPr id="22" name="Text 16"/>
          <p:cNvSpPr txBox="1"/>
          <p:nvPr/>
        </p:nvSpPr>
        <p:spPr>
          <a:xfrm>
            <a:off x="777240"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Front office (chat, advisory), middle office (credit, risk, fraud) and back office (operations, IT, compliance, HR).</a:t>
            </a:r>
            <a:endParaRPr lang="en-US" sz="1300" dirty="0"/>
          </a:p>
        </p:txBody>
      </p:sp>
      <p:sp>
        <p:nvSpPr>
          <p:cNvPr id="23" name="Shape 17"/>
          <p:cNvSpPr/>
          <p:nvPr/>
        </p:nvSpPr>
        <p:spPr>
          <a:xfrm>
            <a:off x="4329684" y="3794760"/>
            <a:ext cx="3502152" cy="2240280"/>
          </a:xfrm>
          <a:prstGeom prst="roundRect">
            <a:avLst>
              <a:gd name="adj" fmla="val 4082"/>
            </a:avLst>
          </a:prstGeom>
          <a:solidFill>
            <a:schemeClr val="bg2"/>
          </a:solidFill>
          <a:ln w="9525">
            <a:solidFill>
              <a:schemeClr val="bg2"/>
            </a:solidFill>
            <a:prstDash val="solid"/>
          </a:ln>
        </p:spPr>
      </p:sp>
      <p:sp>
        <p:nvSpPr>
          <p:cNvPr id="24" name="Shape 18"/>
          <p:cNvSpPr/>
          <p:nvPr/>
        </p:nvSpPr>
        <p:spPr>
          <a:xfrm>
            <a:off x="4558284" y="4023360"/>
            <a:ext cx="594360" cy="594360"/>
          </a:xfrm>
          <a:prstGeom prst="ellipse">
            <a:avLst/>
          </a:prstGeom>
          <a:solidFill>
            <a:schemeClr val="accent4"/>
          </a:solidFill>
          <a:ln w="12700">
            <a:solidFill>
              <a:schemeClr val="accent4"/>
            </a:solidFill>
            <a:prstDash val="solid"/>
          </a:ln>
        </p:spPr>
      </p:sp>
      <p:pic>
        <p:nvPicPr>
          <p:cNvPr id="25" name="Image 4" descr="preencoded.png">    </p:cNvPr>
          <p:cNvPicPr>
            <a:picLocks noChangeAspect="1"/>
          </p:cNvPicPr>
          <p:nvPr/>
        </p:nvPicPr>
        <p:blipFill>
          <a:blip r:embed="rId5"/>
          <a:stretch>
            <a:fillRect/>
          </a:stretch>
        </p:blipFill>
        <p:spPr>
          <a:xfrm>
            <a:off x="4706874" y="4171950"/>
            <a:ext cx="297180" cy="297180"/>
          </a:xfrm>
          <a:prstGeom prst="rect">
            <a:avLst/>
          </a:prstGeom>
        </p:spPr>
      </p:pic>
      <p:sp>
        <p:nvSpPr>
          <p:cNvPr id="26" name="Text 19"/>
          <p:cNvSpPr txBox="1"/>
          <p:nvPr/>
        </p:nvSpPr>
        <p:spPr>
          <a:xfrm>
            <a:off x="5289804" y="402336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WHEN</a:t>
            </a:r>
            <a:endParaRPr lang="en-US" sz="2000" dirty="0"/>
          </a:p>
        </p:txBody>
      </p:sp>
      <p:sp>
        <p:nvSpPr>
          <p:cNvPr id="27" name="Text 20"/>
          <p:cNvSpPr txBox="1"/>
          <p:nvPr/>
        </p:nvSpPr>
        <p:spPr>
          <a:xfrm>
            <a:off x="4558284"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Language- or document-heavy tasks where a draft can be reviewed. Not for exact calculations or unsupervised final decisions.</a:t>
            </a:r>
            <a:endParaRPr lang="en-US" sz="1300" dirty="0"/>
          </a:p>
        </p:txBody>
      </p:sp>
      <p:sp>
        <p:nvSpPr>
          <p:cNvPr id="28" name="Shape 21"/>
          <p:cNvSpPr/>
          <p:nvPr/>
        </p:nvSpPr>
        <p:spPr>
          <a:xfrm>
            <a:off x="8110728" y="3794760"/>
            <a:ext cx="3502152" cy="2240280"/>
          </a:xfrm>
          <a:prstGeom prst="roundRect">
            <a:avLst>
              <a:gd name="adj" fmla="val 4082"/>
            </a:avLst>
          </a:prstGeom>
          <a:solidFill>
            <a:schemeClr val="bg2"/>
          </a:solidFill>
          <a:ln w="9525">
            <a:solidFill>
              <a:schemeClr val="bg2"/>
            </a:solidFill>
            <a:prstDash val="solid"/>
          </a:ln>
        </p:spPr>
      </p:sp>
      <p:sp>
        <p:nvSpPr>
          <p:cNvPr id="29" name="Shape 22"/>
          <p:cNvSpPr/>
          <p:nvPr/>
        </p:nvSpPr>
        <p:spPr>
          <a:xfrm>
            <a:off x="8339328" y="4023360"/>
            <a:ext cx="594360" cy="594360"/>
          </a:xfrm>
          <a:prstGeom prst="ellipse">
            <a:avLst/>
          </a:prstGeom>
          <a:solidFill>
            <a:schemeClr val="accent2"/>
          </a:solidFill>
          <a:ln w="12700">
            <a:solidFill>
              <a:schemeClr val="accent2"/>
            </a:solidFill>
            <a:prstDash val="solid"/>
          </a:ln>
        </p:spPr>
      </p:sp>
      <p:pic>
        <p:nvPicPr>
          <p:cNvPr id="30" name="Image 5" descr="preencoded.png">    </p:cNvPr>
          <p:cNvPicPr>
            <a:picLocks noChangeAspect="1"/>
          </p:cNvPicPr>
          <p:nvPr/>
        </p:nvPicPr>
        <p:blipFill>
          <a:blip r:embed="rId6"/>
          <a:stretch>
            <a:fillRect/>
          </a:stretch>
        </p:blipFill>
        <p:spPr>
          <a:xfrm>
            <a:off x="8487918" y="4171950"/>
            <a:ext cx="297180" cy="297180"/>
          </a:xfrm>
          <a:prstGeom prst="rect">
            <a:avLst/>
          </a:prstGeom>
        </p:spPr>
      </p:pic>
      <p:sp>
        <p:nvSpPr>
          <p:cNvPr id="31" name="Text 23"/>
          <p:cNvSpPr txBox="1"/>
          <p:nvPr/>
        </p:nvSpPr>
        <p:spPr>
          <a:xfrm>
            <a:off x="9070848" y="4023360"/>
            <a:ext cx="237744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HOW</a:t>
            </a:r>
            <a:endParaRPr lang="en-US" sz="2000" dirty="0"/>
          </a:p>
        </p:txBody>
      </p:sp>
      <p:sp>
        <p:nvSpPr>
          <p:cNvPr id="32" name="Text 24"/>
          <p:cNvSpPr txBox="1"/>
          <p:nvPr/>
        </p:nvSpPr>
        <p:spPr>
          <a:xfrm>
            <a:off x="8339328"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Foundation model + prompts + retrieval (RAG) + tools/APIs + guardrails, deployed privately with human review and monitoring.</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Core Principles of GenAI</a:t>
            </a:r>
            <a:endParaRPr lang="en-US" sz="3200" dirty="0"/>
          </a:p>
        </p:txBody>
      </p:sp>
      <p:sp>
        <p:nvSpPr>
          <p:cNvPr id="3" name="Shape 1"/>
          <p:cNvSpPr/>
          <p:nvPr/>
        </p:nvSpPr>
        <p:spPr>
          <a:xfrm>
            <a:off x="548640" y="1371600"/>
            <a:ext cx="2606040" cy="2240280"/>
          </a:xfrm>
          <a:prstGeom prst="roundRect">
            <a:avLst>
              <a:gd name="adj" fmla="val 4082"/>
            </a:avLst>
          </a:prstGeom>
          <a:solidFill>
            <a:schemeClr val="bg2"/>
          </a:solidFill>
          <a:ln w="9525">
            <a:solidFill>
              <a:schemeClr val="bg2"/>
            </a:solidFill>
            <a:prstDash val="solid"/>
          </a:ln>
        </p:spPr>
      </p:sp>
      <p:sp>
        <p:nvSpPr>
          <p:cNvPr id="4" name="Text 2"/>
          <p:cNvSpPr txBox="1"/>
          <p:nvPr/>
        </p:nvSpPr>
        <p:spPr>
          <a:xfrm>
            <a:off x="731520" y="157276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298448" y="152704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Learn the data distribution</a:t>
            </a:r>
            <a:endParaRPr lang="en-US" sz="1400" dirty="0"/>
          </a:p>
        </p:txBody>
      </p:sp>
      <p:sp>
        <p:nvSpPr>
          <p:cNvPr id="6" name="Text 4"/>
          <p:cNvSpPr txBox="1"/>
          <p:nvPr/>
        </p:nvSpPr>
        <p:spPr>
          <a:xfrm>
            <a:off x="731520" y="2240280"/>
            <a:ext cx="2240280" cy="1280160"/>
          </a:xfrm>
          <a:prstGeom prst="rect">
            <a:avLst/>
          </a:prstGeom>
          <a:noFill/>
          <a:ln/>
        </p:spPr>
        <p:txBody>
          <a:bodyPr wrap="square" lIns="0" tIns="0" rIns="0" bIns="0" rtlCol="0" anchor="t"/>
          <a:lstStyle/>
          <a:p>
            <a:pPr indent="0" marL="0">
              <a:buNone/>
            </a:pPr>
            <a:r>
              <a:rPr lang="en-US" sz="1300" dirty="0">
                <a:solidFill>
                  <a:schemeClr val="tx1"/>
                </a:solidFill>
              </a:rPr>
              <a:t>The model learns how data is structured; generation means sampling new examples from that learned distribution.</a:t>
            </a:r>
            <a:endParaRPr lang="en-US" sz="1300" dirty="0"/>
          </a:p>
        </p:txBody>
      </p:sp>
      <p:sp>
        <p:nvSpPr>
          <p:cNvPr id="7" name="Shape 5"/>
          <p:cNvSpPr/>
          <p:nvPr/>
        </p:nvSpPr>
        <p:spPr>
          <a:xfrm>
            <a:off x="3367735" y="1371600"/>
            <a:ext cx="2606040" cy="2240280"/>
          </a:xfrm>
          <a:prstGeom prst="roundRect">
            <a:avLst>
              <a:gd name="adj" fmla="val 4082"/>
            </a:avLst>
          </a:prstGeom>
          <a:solidFill>
            <a:schemeClr val="bg2"/>
          </a:solidFill>
          <a:ln w="9525">
            <a:solidFill>
              <a:schemeClr val="bg2"/>
            </a:solidFill>
            <a:prstDash val="solid"/>
          </a:ln>
        </p:spPr>
      </p:sp>
      <p:sp>
        <p:nvSpPr>
          <p:cNvPr id="8" name="Text 6"/>
          <p:cNvSpPr txBox="1"/>
          <p:nvPr/>
        </p:nvSpPr>
        <p:spPr>
          <a:xfrm>
            <a:off x="3550615" y="157276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4117543" y="152704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Self-supervised pre-training</a:t>
            </a:r>
            <a:endParaRPr lang="en-US" sz="1400" dirty="0"/>
          </a:p>
        </p:txBody>
      </p:sp>
      <p:sp>
        <p:nvSpPr>
          <p:cNvPr id="10" name="Text 8"/>
          <p:cNvSpPr txBox="1"/>
          <p:nvPr/>
        </p:nvSpPr>
        <p:spPr>
          <a:xfrm>
            <a:off x="3550615" y="2240280"/>
            <a:ext cx="2240280" cy="1280160"/>
          </a:xfrm>
          <a:prstGeom prst="rect">
            <a:avLst/>
          </a:prstGeom>
          <a:noFill/>
          <a:ln/>
        </p:spPr>
        <p:txBody>
          <a:bodyPr wrap="square" lIns="0" tIns="0" rIns="0" bIns="0" rtlCol="0" anchor="t"/>
          <a:lstStyle/>
          <a:p>
            <a:pPr indent="0" marL="0">
              <a:buNone/>
            </a:pPr>
            <a:r>
              <a:rPr lang="en-US" sz="1300" dirty="0">
                <a:solidFill>
                  <a:schemeClr val="tx1"/>
                </a:solidFill>
              </a:rPr>
              <a:t>Labels come from the data itself — predict the next or missing token across trillions of tokens.</a:t>
            </a:r>
            <a:endParaRPr lang="en-US" sz="1300" dirty="0"/>
          </a:p>
        </p:txBody>
      </p:sp>
      <p:sp>
        <p:nvSpPr>
          <p:cNvPr id="11" name="Shape 9"/>
          <p:cNvSpPr/>
          <p:nvPr/>
        </p:nvSpPr>
        <p:spPr>
          <a:xfrm>
            <a:off x="6186830" y="1371600"/>
            <a:ext cx="2606040" cy="2240280"/>
          </a:xfrm>
          <a:prstGeom prst="roundRect">
            <a:avLst>
              <a:gd name="adj" fmla="val 4082"/>
            </a:avLst>
          </a:prstGeom>
          <a:solidFill>
            <a:schemeClr val="bg2"/>
          </a:solidFill>
          <a:ln w="9525">
            <a:solidFill>
              <a:schemeClr val="bg2"/>
            </a:solidFill>
            <a:prstDash val="solid"/>
          </a:ln>
        </p:spPr>
      </p:sp>
      <p:sp>
        <p:nvSpPr>
          <p:cNvPr id="12" name="Text 10"/>
          <p:cNvSpPr txBox="1"/>
          <p:nvPr/>
        </p:nvSpPr>
        <p:spPr>
          <a:xfrm>
            <a:off x="6369710" y="157276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6936638" y="152704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Tokens &amp; embeddings</a:t>
            </a:r>
            <a:endParaRPr lang="en-US" sz="1400" dirty="0"/>
          </a:p>
        </p:txBody>
      </p:sp>
      <p:sp>
        <p:nvSpPr>
          <p:cNvPr id="14" name="Text 12"/>
          <p:cNvSpPr txBox="1"/>
          <p:nvPr/>
        </p:nvSpPr>
        <p:spPr>
          <a:xfrm>
            <a:off x="6369710" y="2240280"/>
            <a:ext cx="2240280" cy="1280160"/>
          </a:xfrm>
          <a:prstGeom prst="rect">
            <a:avLst/>
          </a:prstGeom>
          <a:noFill/>
          <a:ln/>
        </p:spPr>
        <p:txBody>
          <a:bodyPr wrap="square" lIns="0" tIns="0" rIns="0" bIns="0" rtlCol="0" anchor="t"/>
          <a:lstStyle/>
          <a:p>
            <a:pPr indent="0" marL="0">
              <a:buNone/>
            </a:pPr>
            <a:r>
              <a:rPr lang="en-US" sz="1300" dirty="0">
                <a:solidFill>
                  <a:schemeClr val="tx1"/>
                </a:solidFill>
              </a:rPr>
              <a:t>Text is split into tokens; each becomes a vector where similar meanings sit close together.</a:t>
            </a:r>
            <a:endParaRPr lang="en-US" sz="1300" dirty="0"/>
          </a:p>
        </p:txBody>
      </p:sp>
      <p:sp>
        <p:nvSpPr>
          <p:cNvPr id="15" name="Shape 13"/>
          <p:cNvSpPr/>
          <p:nvPr/>
        </p:nvSpPr>
        <p:spPr>
          <a:xfrm>
            <a:off x="9005926" y="1371600"/>
            <a:ext cx="2606040" cy="2240280"/>
          </a:xfrm>
          <a:prstGeom prst="roundRect">
            <a:avLst>
              <a:gd name="adj" fmla="val 4082"/>
            </a:avLst>
          </a:prstGeom>
          <a:solidFill>
            <a:schemeClr val="bg2"/>
          </a:solidFill>
          <a:ln w="9525">
            <a:solidFill>
              <a:schemeClr val="bg2"/>
            </a:solidFill>
            <a:prstDash val="solid"/>
          </a:ln>
        </p:spPr>
      </p:sp>
      <p:sp>
        <p:nvSpPr>
          <p:cNvPr id="16" name="Text 14"/>
          <p:cNvSpPr txBox="1"/>
          <p:nvPr/>
        </p:nvSpPr>
        <p:spPr>
          <a:xfrm>
            <a:off x="9188806" y="157276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9755734" y="152704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Attention</a:t>
            </a:r>
            <a:endParaRPr lang="en-US" sz="1400" dirty="0"/>
          </a:p>
        </p:txBody>
      </p:sp>
      <p:sp>
        <p:nvSpPr>
          <p:cNvPr id="18" name="Text 16"/>
          <p:cNvSpPr txBox="1"/>
          <p:nvPr/>
        </p:nvSpPr>
        <p:spPr>
          <a:xfrm>
            <a:off x="9188806" y="2240280"/>
            <a:ext cx="2240280" cy="1280160"/>
          </a:xfrm>
          <a:prstGeom prst="rect">
            <a:avLst/>
          </a:prstGeom>
          <a:noFill/>
          <a:ln/>
        </p:spPr>
        <p:txBody>
          <a:bodyPr wrap="square" lIns="0" tIns="0" rIns="0" bIns="0" rtlCol="0" anchor="t"/>
          <a:lstStyle/>
          <a:p>
            <a:pPr indent="0" marL="0">
              <a:buNone/>
            </a:pPr>
            <a:r>
              <a:rPr lang="en-US" sz="1300" dirty="0">
                <a:solidFill>
                  <a:schemeClr val="tx1"/>
                </a:solidFill>
              </a:rPr>
              <a:t>Every token weighs the relevance of other tokens, so meaning depends on context.</a:t>
            </a:r>
            <a:endParaRPr lang="en-US" sz="1300" dirty="0"/>
          </a:p>
        </p:txBody>
      </p:sp>
      <p:sp>
        <p:nvSpPr>
          <p:cNvPr id="19" name="Shape 17"/>
          <p:cNvSpPr/>
          <p:nvPr/>
        </p:nvSpPr>
        <p:spPr>
          <a:xfrm>
            <a:off x="548640" y="3794760"/>
            <a:ext cx="2606040" cy="2240280"/>
          </a:xfrm>
          <a:prstGeom prst="roundRect">
            <a:avLst>
              <a:gd name="adj" fmla="val 4082"/>
            </a:avLst>
          </a:prstGeom>
          <a:solidFill>
            <a:schemeClr val="bg2"/>
          </a:solidFill>
          <a:ln w="9525">
            <a:solidFill>
              <a:schemeClr val="bg2"/>
            </a:solidFill>
            <a:prstDash val="solid"/>
          </a:ln>
        </p:spPr>
      </p:sp>
      <p:sp>
        <p:nvSpPr>
          <p:cNvPr id="20" name="Text 18"/>
          <p:cNvSpPr txBox="1"/>
          <p:nvPr/>
        </p:nvSpPr>
        <p:spPr>
          <a:xfrm>
            <a:off x="731520" y="399592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298448" y="395020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Next-token prediction</a:t>
            </a:r>
            <a:endParaRPr lang="en-US" sz="1400" dirty="0"/>
          </a:p>
        </p:txBody>
      </p:sp>
      <p:sp>
        <p:nvSpPr>
          <p:cNvPr id="22" name="Text 20"/>
          <p:cNvSpPr txBox="1"/>
          <p:nvPr/>
        </p:nvSpPr>
        <p:spPr>
          <a:xfrm>
            <a:off x="731520" y="4663440"/>
            <a:ext cx="2240280" cy="1280160"/>
          </a:xfrm>
          <a:prstGeom prst="rect">
            <a:avLst/>
          </a:prstGeom>
          <a:noFill/>
          <a:ln/>
        </p:spPr>
        <p:txBody>
          <a:bodyPr wrap="square" lIns="0" tIns="0" rIns="0" bIns="0" rtlCol="0" anchor="t"/>
          <a:lstStyle/>
          <a:p>
            <a:pPr indent="0" marL="0">
              <a:buNone/>
            </a:pPr>
            <a:r>
              <a:rPr lang="en-US" sz="1300" dirty="0">
                <a:solidFill>
                  <a:schemeClr val="tx1"/>
                </a:solidFill>
              </a:rPr>
              <a:t>Output is produced one token at a time, each conditioned on everything generated so far.</a:t>
            </a:r>
            <a:endParaRPr lang="en-US" sz="1300" dirty="0"/>
          </a:p>
        </p:txBody>
      </p:sp>
      <p:sp>
        <p:nvSpPr>
          <p:cNvPr id="23" name="Shape 21"/>
          <p:cNvSpPr/>
          <p:nvPr/>
        </p:nvSpPr>
        <p:spPr>
          <a:xfrm>
            <a:off x="3367735" y="3794760"/>
            <a:ext cx="2606040" cy="2240280"/>
          </a:xfrm>
          <a:prstGeom prst="roundRect">
            <a:avLst>
              <a:gd name="adj" fmla="val 4082"/>
            </a:avLst>
          </a:prstGeom>
          <a:solidFill>
            <a:schemeClr val="bg2"/>
          </a:solidFill>
          <a:ln w="9525">
            <a:solidFill>
              <a:schemeClr val="bg2"/>
            </a:solidFill>
            <a:prstDash val="solid"/>
          </a:ln>
        </p:spPr>
      </p:sp>
      <p:sp>
        <p:nvSpPr>
          <p:cNvPr id="24" name="Text 22"/>
          <p:cNvSpPr txBox="1"/>
          <p:nvPr/>
        </p:nvSpPr>
        <p:spPr>
          <a:xfrm>
            <a:off x="3550615" y="399592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4117543" y="395020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Scale</a:t>
            </a:r>
            <a:endParaRPr lang="en-US" sz="1400" dirty="0"/>
          </a:p>
        </p:txBody>
      </p:sp>
      <p:sp>
        <p:nvSpPr>
          <p:cNvPr id="26" name="Text 24"/>
          <p:cNvSpPr txBox="1"/>
          <p:nvPr/>
        </p:nvSpPr>
        <p:spPr>
          <a:xfrm>
            <a:off x="3550615" y="4663440"/>
            <a:ext cx="2240280" cy="1280160"/>
          </a:xfrm>
          <a:prstGeom prst="rect">
            <a:avLst/>
          </a:prstGeom>
          <a:noFill/>
          <a:ln/>
        </p:spPr>
        <p:txBody>
          <a:bodyPr wrap="square" lIns="0" tIns="0" rIns="0" bIns="0" rtlCol="0" anchor="t"/>
          <a:lstStyle/>
          <a:p>
            <a:pPr indent="0" marL="0">
              <a:buNone/>
            </a:pPr>
            <a:r>
              <a:rPr lang="en-US" sz="1300" dirty="0">
                <a:solidFill>
                  <a:schemeClr val="tx1"/>
                </a:solidFill>
              </a:rPr>
              <a:t>Quality improves predictably with more parameters, data and compute (scaling laws).</a:t>
            </a:r>
            <a:endParaRPr lang="en-US" sz="1300" dirty="0"/>
          </a:p>
        </p:txBody>
      </p:sp>
      <p:sp>
        <p:nvSpPr>
          <p:cNvPr id="27" name="Shape 25"/>
          <p:cNvSpPr/>
          <p:nvPr/>
        </p:nvSpPr>
        <p:spPr>
          <a:xfrm>
            <a:off x="6186830" y="3794760"/>
            <a:ext cx="2606040" cy="2240280"/>
          </a:xfrm>
          <a:prstGeom prst="roundRect">
            <a:avLst>
              <a:gd name="adj" fmla="val 4082"/>
            </a:avLst>
          </a:prstGeom>
          <a:solidFill>
            <a:schemeClr val="bg2"/>
          </a:solidFill>
          <a:ln w="9525">
            <a:solidFill>
              <a:schemeClr val="bg2"/>
            </a:solidFill>
            <a:prstDash val="solid"/>
          </a:ln>
        </p:spPr>
      </p:sp>
      <p:sp>
        <p:nvSpPr>
          <p:cNvPr id="28" name="Text 26"/>
          <p:cNvSpPr txBox="1"/>
          <p:nvPr/>
        </p:nvSpPr>
        <p:spPr>
          <a:xfrm>
            <a:off x="6369710" y="399592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9" name="Text 27"/>
          <p:cNvSpPr txBox="1"/>
          <p:nvPr/>
        </p:nvSpPr>
        <p:spPr>
          <a:xfrm>
            <a:off x="6936638" y="395020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Alignment</a:t>
            </a:r>
            <a:endParaRPr lang="en-US" sz="1400" dirty="0"/>
          </a:p>
        </p:txBody>
      </p:sp>
      <p:sp>
        <p:nvSpPr>
          <p:cNvPr id="30" name="Text 28"/>
          <p:cNvSpPr txBox="1"/>
          <p:nvPr/>
        </p:nvSpPr>
        <p:spPr>
          <a:xfrm>
            <a:off x="6369710" y="4663440"/>
            <a:ext cx="2240280" cy="1280160"/>
          </a:xfrm>
          <a:prstGeom prst="rect">
            <a:avLst/>
          </a:prstGeom>
          <a:noFill/>
          <a:ln/>
        </p:spPr>
        <p:txBody>
          <a:bodyPr wrap="square" lIns="0" tIns="0" rIns="0" bIns="0" rtlCol="0" anchor="t"/>
          <a:lstStyle/>
          <a:p>
            <a:pPr indent="0" marL="0">
              <a:buNone/>
            </a:pPr>
            <a:r>
              <a:rPr lang="en-US" sz="1300" dirty="0">
                <a:solidFill>
                  <a:schemeClr val="tx1"/>
                </a:solidFill>
              </a:rPr>
              <a:t>Instruction tuning and human feedback (RLHF / DPO) make models helpful, honest and safe.</a:t>
            </a:r>
            <a:endParaRPr lang="en-US" sz="1300" dirty="0"/>
          </a:p>
        </p:txBody>
      </p:sp>
      <p:sp>
        <p:nvSpPr>
          <p:cNvPr id="31" name="Shape 29"/>
          <p:cNvSpPr/>
          <p:nvPr/>
        </p:nvSpPr>
        <p:spPr>
          <a:xfrm>
            <a:off x="9005926" y="3794760"/>
            <a:ext cx="2606040" cy="2240280"/>
          </a:xfrm>
          <a:prstGeom prst="roundRect">
            <a:avLst>
              <a:gd name="adj" fmla="val 4082"/>
            </a:avLst>
          </a:prstGeom>
          <a:solidFill>
            <a:schemeClr val="bg2"/>
          </a:solidFill>
          <a:ln w="9525">
            <a:solidFill>
              <a:schemeClr val="bg2"/>
            </a:solidFill>
            <a:prstDash val="solid"/>
          </a:ln>
        </p:spPr>
      </p:sp>
      <p:sp>
        <p:nvSpPr>
          <p:cNvPr id="32" name="Text 30"/>
          <p:cNvSpPr txBox="1"/>
          <p:nvPr/>
        </p:nvSpPr>
        <p:spPr>
          <a:xfrm>
            <a:off x="9188806" y="399592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3" name="Text 31"/>
          <p:cNvSpPr txBox="1"/>
          <p:nvPr/>
        </p:nvSpPr>
        <p:spPr>
          <a:xfrm>
            <a:off x="9755734" y="3950208"/>
            <a:ext cx="1737360" cy="594360"/>
          </a:xfrm>
          <a:prstGeom prst="rect">
            <a:avLst/>
          </a:prstGeom>
          <a:noFill/>
          <a:ln/>
        </p:spPr>
        <p:txBody>
          <a:bodyPr wrap="square" lIns="0" tIns="0" rIns="0" bIns="0" rtlCol="0" anchor="ctr"/>
          <a:lstStyle/>
          <a:p>
            <a:pPr indent="0" marL="0">
              <a:buNone/>
            </a:pPr>
            <a:r>
              <a:rPr lang="en-US" sz="1400" b="1" dirty="0">
                <a:solidFill>
                  <a:schemeClr val="tx2"/>
                </a:solidFill>
              </a:rPr>
              <a:t>In-context learning</a:t>
            </a:r>
            <a:endParaRPr lang="en-US" sz="1400" dirty="0"/>
          </a:p>
        </p:txBody>
      </p:sp>
      <p:sp>
        <p:nvSpPr>
          <p:cNvPr id="34" name="Text 32"/>
          <p:cNvSpPr txBox="1"/>
          <p:nvPr/>
        </p:nvSpPr>
        <p:spPr>
          <a:xfrm>
            <a:off x="9188806" y="4663440"/>
            <a:ext cx="2240280" cy="1280160"/>
          </a:xfrm>
          <a:prstGeom prst="rect">
            <a:avLst/>
          </a:prstGeom>
          <a:noFill/>
          <a:ln/>
        </p:spPr>
        <p:txBody>
          <a:bodyPr wrap="square" lIns="0" tIns="0" rIns="0" bIns="0" rtlCol="0" anchor="t"/>
          <a:lstStyle/>
          <a:p>
            <a:pPr indent="0" marL="0">
              <a:buNone/>
            </a:pPr>
            <a:r>
              <a:rPr lang="en-US" sz="1300" dirty="0">
                <a:solidFill>
                  <a:schemeClr val="tx1"/>
                </a:solidFill>
              </a:rPr>
              <a:t>Models adapt to new tasks from instructions and examples in the prompt — no retraining.</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Adapting a Foundation Model: Four Levers</a:t>
            </a:r>
            <a:endParaRPr lang="en-US" sz="3200" dirty="0"/>
          </a:p>
        </p:txBody>
      </p:sp>
      <p:sp>
        <p:nvSpPr>
          <p:cNvPr id="3" name="Shape 1"/>
          <p:cNvSpPr/>
          <p:nvPr/>
        </p:nvSpPr>
        <p:spPr>
          <a:xfrm>
            <a:off x="548640" y="1371600"/>
            <a:ext cx="2606040" cy="4069080"/>
          </a:xfrm>
          <a:prstGeom prst="roundRect">
            <a:avLst>
              <a:gd name="adj" fmla="val 3509"/>
            </a:avLst>
          </a:prstGeom>
          <a:solidFill>
            <a:schemeClr val="accent1">
              <a:alpha val="8000"/>
            </a:schemeClr>
          </a:solidFill>
          <a:ln w="9525">
            <a:solidFill>
              <a:schemeClr val="accent1"/>
            </a:solidFill>
            <a:prstDash val="solid"/>
          </a:ln>
        </p:spPr>
      </p:sp>
      <p:sp>
        <p:nvSpPr>
          <p:cNvPr id="4" name="Text 2"/>
          <p:cNvSpPr txBox="1"/>
          <p:nvPr/>
        </p:nvSpPr>
        <p:spPr>
          <a:xfrm>
            <a:off x="731520" y="1554480"/>
            <a:ext cx="2240280" cy="411480"/>
          </a:xfrm>
          <a:prstGeom prst="rect">
            <a:avLst/>
          </a:prstGeom>
          <a:noFill/>
          <a:ln/>
        </p:spPr>
        <p:txBody>
          <a:bodyPr wrap="square" lIns="0" tIns="0" rIns="0" bIns="0" rtlCol="0" anchor="t"/>
          <a:lstStyle/>
          <a:p>
            <a:pPr indent="0" marL="0">
              <a:buNone/>
            </a:pPr>
            <a:r>
              <a:rPr lang="en-US" sz="1700" b="1" dirty="0">
                <a:solidFill>
                  <a:schemeClr val="tx2"/>
                </a:solidFill>
              </a:rPr>
              <a:t>Prompt engineering</a:t>
            </a:r>
            <a:endParaRPr lang="en-US" sz="1700" dirty="0"/>
          </a:p>
        </p:txBody>
      </p:sp>
      <p:sp>
        <p:nvSpPr>
          <p:cNvPr id="5" name="Shape 3"/>
          <p:cNvSpPr/>
          <p:nvPr/>
        </p:nvSpPr>
        <p:spPr>
          <a:xfrm>
            <a:off x="731520" y="2084832"/>
            <a:ext cx="182880" cy="182880"/>
          </a:xfrm>
          <a:prstGeom prst="ellipse">
            <a:avLst/>
          </a:prstGeom>
          <a:solidFill>
            <a:schemeClr val="accent2"/>
          </a:solidFill>
          <a:ln w="12700">
            <a:solidFill>
              <a:schemeClr val="accent2"/>
            </a:solidFill>
            <a:prstDash val="solid"/>
          </a:ln>
        </p:spPr>
      </p:sp>
      <p:sp>
        <p:nvSpPr>
          <p:cNvPr id="6" name="Shape 4"/>
          <p:cNvSpPr/>
          <p:nvPr/>
        </p:nvSpPr>
        <p:spPr>
          <a:xfrm>
            <a:off x="1005840" y="2084832"/>
            <a:ext cx="182880" cy="182880"/>
          </a:xfrm>
          <a:prstGeom prst="ellipse">
            <a:avLst/>
          </a:prstGeom>
          <a:solidFill>
            <a:schemeClr val="bg1"/>
          </a:solidFill>
          <a:ln w="12700">
            <a:solidFill>
              <a:schemeClr val="accent2"/>
            </a:solidFill>
            <a:prstDash val="solid"/>
          </a:ln>
        </p:spPr>
      </p:sp>
      <p:sp>
        <p:nvSpPr>
          <p:cNvPr id="7" name="Shape 5"/>
          <p:cNvSpPr/>
          <p:nvPr/>
        </p:nvSpPr>
        <p:spPr>
          <a:xfrm>
            <a:off x="1280160" y="2084832"/>
            <a:ext cx="182880" cy="182880"/>
          </a:xfrm>
          <a:prstGeom prst="ellipse">
            <a:avLst/>
          </a:prstGeom>
          <a:solidFill>
            <a:schemeClr val="bg1"/>
          </a:solidFill>
          <a:ln w="12700">
            <a:solidFill>
              <a:schemeClr val="accent2"/>
            </a:solidFill>
            <a:prstDash val="solid"/>
          </a:ln>
        </p:spPr>
      </p:sp>
      <p:sp>
        <p:nvSpPr>
          <p:cNvPr id="8" name="Shape 6"/>
          <p:cNvSpPr/>
          <p:nvPr/>
        </p:nvSpPr>
        <p:spPr>
          <a:xfrm>
            <a:off x="1554480" y="2084832"/>
            <a:ext cx="182880" cy="182880"/>
          </a:xfrm>
          <a:prstGeom prst="ellipse">
            <a:avLst/>
          </a:prstGeom>
          <a:solidFill>
            <a:schemeClr val="bg1"/>
          </a:solidFill>
          <a:ln w="12700">
            <a:solidFill>
              <a:schemeClr val="accent2"/>
            </a:solidFill>
            <a:prstDash val="solid"/>
          </a:ln>
        </p:spPr>
      </p:sp>
      <p:sp>
        <p:nvSpPr>
          <p:cNvPr id="9" name="Text 7"/>
          <p:cNvSpPr txBox="1"/>
          <p:nvPr/>
        </p:nvSpPr>
        <p:spPr>
          <a:xfrm>
            <a:off x="1874520" y="2029968"/>
            <a:ext cx="1188720" cy="274320"/>
          </a:xfrm>
          <a:prstGeom prst="rect">
            <a:avLst/>
          </a:prstGeom>
          <a:noFill/>
          <a:ln/>
        </p:spPr>
        <p:txBody>
          <a:bodyPr wrap="square" lIns="0" tIns="0" rIns="0" bIns="0" rtlCol="0" anchor="t"/>
          <a:lstStyle/>
          <a:p>
            <a:pPr indent="0" marL="0">
              <a:buNone/>
            </a:pPr>
            <a:r>
              <a:rPr lang="en-US" sz="1000" dirty="0">
                <a:solidFill>
                  <a:schemeClr val="accent5"/>
                </a:solidFill>
              </a:rPr>
              <a:t>effort &amp; cost</a:t>
            </a:r>
            <a:endParaRPr lang="en-US" sz="1000" dirty="0"/>
          </a:p>
        </p:txBody>
      </p:sp>
      <p:sp>
        <p:nvSpPr>
          <p:cNvPr id="10" name="Text 8"/>
          <p:cNvSpPr txBox="1"/>
          <p:nvPr/>
        </p:nvSpPr>
        <p:spPr>
          <a:xfrm>
            <a:off x="731520" y="2423160"/>
            <a:ext cx="2240280" cy="914400"/>
          </a:xfrm>
          <a:prstGeom prst="rect">
            <a:avLst/>
          </a:prstGeom>
          <a:noFill/>
          <a:ln/>
        </p:spPr>
        <p:txBody>
          <a:bodyPr wrap="square" lIns="0" tIns="0" rIns="0" bIns="0" rtlCol="0" anchor="t"/>
          <a:lstStyle/>
          <a:p>
            <a:pPr indent="0" marL="0">
              <a:buNone/>
            </a:pPr>
            <a:r>
              <a:rPr lang="en-US" sz="1300" dirty="0">
                <a:solidFill>
                  <a:schemeClr val="tx1"/>
                </a:solidFill>
              </a:rPr>
              <a:t>Instructions and examples in the prompt; no training.</a:t>
            </a:r>
            <a:endParaRPr lang="en-US" sz="1300" dirty="0"/>
          </a:p>
        </p:txBody>
      </p:sp>
      <p:sp>
        <p:nvSpPr>
          <p:cNvPr id="11" name="Text 9"/>
          <p:cNvSpPr txBox="1"/>
          <p:nvPr/>
        </p:nvSpPr>
        <p:spPr>
          <a:xfrm>
            <a:off x="731520" y="3383280"/>
            <a:ext cx="2240280" cy="914400"/>
          </a:xfrm>
          <a:prstGeom prst="rect">
            <a:avLst/>
          </a:prstGeom>
          <a:noFill/>
          <a:ln/>
        </p:spPr>
        <p:txBody>
          <a:bodyPr wrap="square" lIns="0" tIns="0" rIns="0" bIns="0" rtlCol="0" anchor="t"/>
          <a:lstStyle/>
          <a:p>
            <a:pPr indent="0" marL="0">
              <a:buNone/>
            </a:pPr>
            <a:r>
              <a:rPr lang="en-US" sz="1300" b="1" dirty="0">
                <a:solidFill>
                  <a:schemeClr val="accent1"/>
                </a:solidFill>
              </a:rPr>
              <a:t>When to use</a:t>
            </a:r>
            <a:endParaRPr lang="en-US" sz="1300" dirty="0"/>
          </a:p>
          <a:p>
            <a:pPr indent="0" marL="0">
              <a:buNone/>
            </a:pPr>
            <a:r>
              <a:rPr lang="en-US" sz="1300" dirty="0">
                <a:solidFill>
                  <a:schemeClr val="tx1"/>
                </a:solidFill>
              </a:rPr>
              <a:t>Quick wins, generic tasks, prototypes</a:t>
            </a:r>
            <a:endParaRPr lang="en-US" sz="1300" dirty="0"/>
          </a:p>
        </p:txBody>
      </p:sp>
      <p:sp>
        <p:nvSpPr>
          <p:cNvPr id="12" name="Text 10"/>
          <p:cNvSpPr txBox="1"/>
          <p:nvPr/>
        </p:nvSpPr>
        <p:spPr>
          <a:xfrm>
            <a:off x="731520" y="4343400"/>
            <a:ext cx="2240280" cy="960120"/>
          </a:xfrm>
          <a:prstGeom prst="rect">
            <a:avLst/>
          </a:prstGeom>
          <a:noFill/>
          <a:ln/>
        </p:spPr>
        <p:txBody>
          <a:bodyPr wrap="square" lIns="0" tIns="0" rIns="0" bIns="0" rtlCol="0" anchor="t"/>
          <a:lstStyle/>
          <a:p>
            <a:pPr indent="0" marL="0">
              <a:buNone/>
            </a:pPr>
            <a:r>
              <a:rPr lang="en-US" sz="1300" b="1" dirty="0">
                <a:solidFill>
                  <a:schemeClr val="accent1"/>
                </a:solidFill>
              </a:rPr>
              <a:t>Banking example</a:t>
            </a:r>
            <a:endParaRPr lang="en-US" sz="1300" dirty="0"/>
          </a:p>
          <a:p>
            <a:pPr indent="0" marL="0">
              <a:buNone/>
            </a:pPr>
            <a:r>
              <a:rPr lang="en-US" sz="1300" dirty="0">
                <a:solidFill>
                  <a:schemeClr val="tx1"/>
                </a:solidFill>
              </a:rPr>
              <a:t>Drafting customer emails, summarising notes</a:t>
            </a:r>
            <a:endParaRPr lang="en-US" sz="1300" dirty="0"/>
          </a:p>
        </p:txBody>
      </p:sp>
      <p:sp>
        <p:nvSpPr>
          <p:cNvPr id="13" name="Shape 11"/>
          <p:cNvSpPr/>
          <p:nvPr/>
        </p:nvSpPr>
        <p:spPr>
          <a:xfrm>
            <a:off x="3367735" y="1371600"/>
            <a:ext cx="2606040" cy="4069080"/>
          </a:xfrm>
          <a:prstGeom prst="roundRect">
            <a:avLst>
              <a:gd name="adj" fmla="val 3509"/>
            </a:avLst>
          </a:prstGeom>
          <a:solidFill>
            <a:schemeClr val="accent1">
              <a:alpha val="14000"/>
            </a:schemeClr>
          </a:solidFill>
          <a:ln w="9525">
            <a:solidFill>
              <a:schemeClr val="accent1"/>
            </a:solidFill>
            <a:prstDash val="solid"/>
          </a:ln>
        </p:spPr>
      </p:sp>
      <p:sp>
        <p:nvSpPr>
          <p:cNvPr id="14" name="Text 12"/>
          <p:cNvSpPr txBox="1"/>
          <p:nvPr/>
        </p:nvSpPr>
        <p:spPr>
          <a:xfrm>
            <a:off x="3550615" y="1554480"/>
            <a:ext cx="2240280" cy="411480"/>
          </a:xfrm>
          <a:prstGeom prst="rect">
            <a:avLst/>
          </a:prstGeom>
          <a:noFill/>
          <a:ln/>
        </p:spPr>
        <p:txBody>
          <a:bodyPr wrap="square" lIns="0" tIns="0" rIns="0" bIns="0" rtlCol="0" anchor="t"/>
          <a:lstStyle/>
          <a:p>
            <a:pPr indent="0" marL="0">
              <a:buNone/>
            </a:pPr>
            <a:r>
              <a:rPr lang="en-US" sz="1700" b="1" dirty="0">
                <a:solidFill>
                  <a:schemeClr val="tx2"/>
                </a:solidFill>
              </a:rPr>
              <a:t>RAG</a:t>
            </a:r>
            <a:endParaRPr lang="en-US" sz="1700" dirty="0"/>
          </a:p>
        </p:txBody>
      </p:sp>
      <p:sp>
        <p:nvSpPr>
          <p:cNvPr id="15" name="Shape 13"/>
          <p:cNvSpPr/>
          <p:nvPr/>
        </p:nvSpPr>
        <p:spPr>
          <a:xfrm>
            <a:off x="3550615" y="2084832"/>
            <a:ext cx="182880" cy="182880"/>
          </a:xfrm>
          <a:prstGeom prst="ellipse">
            <a:avLst/>
          </a:prstGeom>
          <a:solidFill>
            <a:schemeClr val="accent2"/>
          </a:solidFill>
          <a:ln w="12700">
            <a:solidFill>
              <a:schemeClr val="accent2"/>
            </a:solidFill>
            <a:prstDash val="solid"/>
          </a:ln>
        </p:spPr>
      </p:sp>
      <p:sp>
        <p:nvSpPr>
          <p:cNvPr id="16" name="Shape 14"/>
          <p:cNvSpPr/>
          <p:nvPr/>
        </p:nvSpPr>
        <p:spPr>
          <a:xfrm>
            <a:off x="3824935" y="2084832"/>
            <a:ext cx="182880" cy="182880"/>
          </a:xfrm>
          <a:prstGeom prst="ellipse">
            <a:avLst/>
          </a:prstGeom>
          <a:solidFill>
            <a:schemeClr val="accent2"/>
          </a:solidFill>
          <a:ln w="12700">
            <a:solidFill>
              <a:schemeClr val="accent2"/>
            </a:solidFill>
            <a:prstDash val="solid"/>
          </a:ln>
        </p:spPr>
      </p:sp>
      <p:sp>
        <p:nvSpPr>
          <p:cNvPr id="17" name="Shape 15"/>
          <p:cNvSpPr/>
          <p:nvPr/>
        </p:nvSpPr>
        <p:spPr>
          <a:xfrm>
            <a:off x="4099255" y="2084832"/>
            <a:ext cx="182880" cy="182880"/>
          </a:xfrm>
          <a:prstGeom prst="ellipse">
            <a:avLst/>
          </a:prstGeom>
          <a:solidFill>
            <a:schemeClr val="bg1"/>
          </a:solidFill>
          <a:ln w="12700">
            <a:solidFill>
              <a:schemeClr val="accent2"/>
            </a:solidFill>
            <a:prstDash val="solid"/>
          </a:ln>
        </p:spPr>
      </p:sp>
      <p:sp>
        <p:nvSpPr>
          <p:cNvPr id="18" name="Shape 16"/>
          <p:cNvSpPr/>
          <p:nvPr/>
        </p:nvSpPr>
        <p:spPr>
          <a:xfrm>
            <a:off x="4373575" y="2084832"/>
            <a:ext cx="182880" cy="182880"/>
          </a:xfrm>
          <a:prstGeom prst="ellipse">
            <a:avLst/>
          </a:prstGeom>
          <a:solidFill>
            <a:schemeClr val="bg1"/>
          </a:solidFill>
          <a:ln w="12700">
            <a:solidFill>
              <a:schemeClr val="accent2"/>
            </a:solidFill>
            <a:prstDash val="solid"/>
          </a:ln>
        </p:spPr>
      </p:sp>
      <p:sp>
        <p:nvSpPr>
          <p:cNvPr id="19" name="Text 17"/>
          <p:cNvSpPr txBox="1"/>
          <p:nvPr/>
        </p:nvSpPr>
        <p:spPr>
          <a:xfrm>
            <a:off x="4693615" y="2029968"/>
            <a:ext cx="1188720" cy="274320"/>
          </a:xfrm>
          <a:prstGeom prst="rect">
            <a:avLst/>
          </a:prstGeom>
          <a:noFill/>
          <a:ln/>
        </p:spPr>
        <p:txBody>
          <a:bodyPr wrap="square" lIns="0" tIns="0" rIns="0" bIns="0" rtlCol="0" anchor="t"/>
          <a:lstStyle/>
          <a:p>
            <a:pPr indent="0" marL="0">
              <a:buNone/>
            </a:pPr>
            <a:r>
              <a:rPr lang="en-US" sz="1000" dirty="0">
                <a:solidFill>
                  <a:schemeClr val="accent5"/>
                </a:solidFill>
              </a:rPr>
              <a:t>effort &amp; cost</a:t>
            </a:r>
            <a:endParaRPr lang="en-US" sz="1000" dirty="0"/>
          </a:p>
        </p:txBody>
      </p:sp>
      <p:sp>
        <p:nvSpPr>
          <p:cNvPr id="20" name="Text 18"/>
          <p:cNvSpPr txBox="1"/>
          <p:nvPr/>
        </p:nvSpPr>
        <p:spPr>
          <a:xfrm>
            <a:off x="3550615" y="2423160"/>
            <a:ext cx="2240280" cy="914400"/>
          </a:xfrm>
          <a:prstGeom prst="rect">
            <a:avLst/>
          </a:prstGeom>
          <a:noFill/>
          <a:ln/>
        </p:spPr>
        <p:txBody>
          <a:bodyPr wrap="square" lIns="0" tIns="0" rIns="0" bIns="0" rtlCol="0" anchor="t"/>
          <a:lstStyle/>
          <a:p>
            <a:pPr indent="0" marL="0">
              <a:buNone/>
            </a:pPr>
            <a:r>
              <a:rPr lang="en-US" sz="1300" dirty="0">
                <a:solidFill>
                  <a:schemeClr val="tx1"/>
                </a:solidFill>
              </a:rPr>
              <a:t>Retrieve relevant bank documents at query time and add them to the prompt.</a:t>
            </a:r>
            <a:endParaRPr lang="en-US" sz="1300" dirty="0"/>
          </a:p>
        </p:txBody>
      </p:sp>
      <p:sp>
        <p:nvSpPr>
          <p:cNvPr id="21" name="Text 19"/>
          <p:cNvSpPr txBox="1"/>
          <p:nvPr/>
        </p:nvSpPr>
        <p:spPr>
          <a:xfrm>
            <a:off x="3550615" y="3383280"/>
            <a:ext cx="2240280" cy="914400"/>
          </a:xfrm>
          <a:prstGeom prst="rect">
            <a:avLst/>
          </a:prstGeom>
          <a:noFill/>
          <a:ln/>
        </p:spPr>
        <p:txBody>
          <a:bodyPr wrap="square" lIns="0" tIns="0" rIns="0" bIns="0" rtlCol="0" anchor="t"/>
          <a:lstStyle/>
          <a:p>
            <a:pPr indent="0" marL="0">
              <a:buNone/>
            </a:pPr>
            <a:r>
              <a:rPr lang="en-US" sz="1300" b="1" dirty="0">
                <a:solidFill>
                  <a:schemeClr val="accent1"/>
                </a:solidFill>
              </a:rPr>
              <a:t>When to use</a:t>
            </a:r>
            <a:endParaRPr lang="en-US" sz="1300" dirty="0"/>
          </a:p>
          <a:p>
            <a:pPr indent="0" marL="0">
              <a:buNone/>
            </a:pPr>
            <a:r>
              <a:rPr lang="en-US" sz="1300" dirty="0">
                <a:solidFill>
                  <a:schemeClr val="tx1"/>
                </a:solidFill>
              </a:rPr>
              <a:t>Answers must reflect current, bank-specific facts</a:t>
            </a:r>
            <a:endParaRPr lang="en-US" sz="1300" dirty="0"/>
          </a:p>
        </p:txBody>
      </p:sp>
      <p:sp>
        <p:nvSpPr>
          <p:cNvPr id="22" name="Text 20"/>
          <p:cNvSpPr txBox="1"/>
          <p:nvPr/>
        </p:nvSpPr>
        <p:spPr>
          <a:xfrm>
            <a:off x="3550615" y="4343400"/>
            <a:ext cx="2240280" cy="960120"/>
          </a:xfrm>
          <a:prstGeom prst="rect">
            <a:avLst/>
          </a:prstGeom>
          <a:noFill/>
          <a:ln/>
        </p:spPr>
        <p:txBody>
          <a:bodyPr wrap="square" lIns="0" tIns="0" rIns="0" bIns="0" rtlCol="0" anchor="t"/>
          <a:lstStyle/>
          <a:p>
            <a:pPr indent="0" marL="0">
              <a:buNone/>
            </a:pPr>
            <a:r>
              <a:rPr lang="en-US" sz="1300" b="1" dirty="0">
                <a:solidFill>
                  <a:schemeClr val="accent1"/>
                </a:solidFill>
              </a:rPr>
              <a:t>Banking example</a:t>
            </a:r>
            <a:endParaRPr lang="en-US" sz="1300" dirty="0"/>
          </a:p>
          <a:p>
            <a:pPr indent="0" marL="0">
              <a:buNone/>
            </a:pPr>
            <a:r>
              <a:rPr lang="en-US" sz="1300" dirty="0">
                <a:solidFill>
                  <a:schemeClr val="tx1"/>
                </a:solidFill>
              </a:rPr>
              <a:t>Policy Q&amp;A, product T&amp;Cs assistant</a:t>
            </a:r>
            <a:endParaRPr lang="en-US" sz="1300" dirty="0"/>
          </a:p>
        </p:txBody>
      </p:sp>
      <p:sp>
        <p:nvSpPr>
          <p:cNvPr id="23" name="Shape 21"/>
          <p:cNvSpPr/>
          <p:nvPr/>
        </p:nvSpPr>
        <p:spPr>
          <a:xfrm>
            <a:off x="6186830" y="1371600"/>
            <a:ext cx="2606040" cy="4069080"/>
          </a:xfrm>
          <a:prstGeom prst="roundRect">
            <a:avLst>
              <a:gd name="adj" fmla="val 3509"/>
            </a:avLst>
          </a:prstGeom>
          <a:solidFill>
            <a:schemeClr val="accent1">
              <a:alpha val="20000"/>
            </a:schemeClr>
          </a:solidFill>
          <a:ln w="9525">
            <a:solidFill>
              <a:schemeClr val="accent1"/>
            </a:solidFill>
            <a:prstDash val="solid"/>
          </a:ln>
        </p:spPr>
      </p:sp>
      <p:sp>
        <p:nvSpPr>
          <p:cNvPr id="24" name="Text 22"/>
          <p:cNvSpPr txBox="1"/>
          <p:nvPr/>
        </p:nvSpPr>
        <p:spPr>
          <a:xfrm>
            <a:off x="6369710" y="1554480"/>
            <a:ext cx="2240280" cy="411480"/>
          </a:xfrm>
          <a:prstGeom prst="rect">
            <a:avLst/>
          </a:prstGeom>
          <a:noFill/>
          <a:ln/>
        </p:spPr>
        <p:txBody>
          <a:bodyPr wrap="square" lIns="0" tIns="0" rIns="0" bIns="0" rtlCol="0" anchor="t"/>
          <a:lstStyle/>
          <a:p>
            <a:pPr indent="0" marL="0">
              <a:buNone/>
            </a:pPr>
            <a:r>
              <a:rPr lang="en-US" sz="1700" b="1" dirty="0">
                <a:solidFill>
                  <a:schemeClr val="tx2"/>
                </a:solidFill>
              </a:rPr>
              <a:t>Fine-tuning</a:t>
            </a:r>
            <a:endParaRPr lang="en-US" sz="1700" dirty="0"/>
          </a:p>
        </p:txBody>
      </p:sp>
      <p:sp>
        <p:nvSpPr>
          <p:cNvPr id="25" name="Shape 23"/>
          <p:cNvSpPr/>
          <p:nvPr/>
        </p:nvSpPr>
        <p:spPr>
          <a:xfrm>
            <a:off x="6369710" y="2084832"/>
            <a:ext cx="182880" cy="182880"/>
          </a:xfrm>
          <a:prstGeom prst="ellipse">
            <a:avLst/>
          </a:prstGeom>
          <a:solidFill>
            <a:schemeClr val="accent2"/>
          </a:solidFill>
          <a:ln w="12700">
            <a:solidFill>
              <a:schemeClr val="accent2"/>
            </a:solidFill>
            <a:prstDash val="solid"/>
          </a:ln>
        </p:spPr>
      </p:sp>
      <p:sp>
        <p:nvSpPr>
          <p:cNvPr id="26" name="Shape 24"/>
          <p:cNvSpPr/>
          <p:nvPr/>
        </p:nvSpPr>
        <p:spPr>
          <a:xfrm>
            <a:off x="6644030" y="2084832"/>
            <a:ext cx="182880" cy="182880"/>
          </a:xfrm>
          <a:prstGeom prst="ellipse">
            <a:avLst/>
          </a:prstGeom>
          <a:solidFill>
            <a:schemeClr val="accent2"/>
          </a:solidFill>
          <a:ln w="12700">
            <a:solidFill>
              <a:schemeClr val="accent2"/>
            </a:solidFill>
            <a:prstDash val="solid"/>
          </a:ln>
        </p:spPr>
      </p:sp>
      <p:sp>
        <p:nvSpPr>
          <p:cNvPr id="27" name="Shape 25"/>
          <p:cNvSpPr/>
          <p:nvPr/>
        </p:nvSpPr>
        <p:spPr>
          <a:xfrm>
            <a:off x="6918350" y="2084832"/>
            <a:ext cx="182880" cy="182880"/>
          </a:xfrm>
          <a:prstGeom prst="ellipse">
            <a:avLst/>
          </a:prstGeom>
          <a:solidFill>
            <a:schemeClr val="accent2"/>
          </a:solidFill>
          <a:ln w="12700">
            <a:solidFill>
              <a:schemeClr val="accent2"/>
            </a:solidFill>
            <a:prstDash val="solid"/>
          </a:ln>
        </p:spPr>
      </p:sp>
      <p:sp>
        <p:nvSpPr>
          <p:cNvPr id="28" name="Shape 26"/>
          <p:cNvSpPr/>
          <p:nvPr/>
        </p:nvSpPr>
        <p:spPr>
          <a:xfrm>
            <a:off x="7192670" y="2084832"/>
            <a:ext cx="182880" cy="182880"/>
          </a:xfrm>
          <a:prstGeom prst="ellipse">
            <a:avLst/>
          </a:prstGeom>
          <a:solidFill>
            <a:schemeClr val="bg1"/>
          </a:solidFill>
          <a:ln w="12700">
            <a:solidFill>
              <a:schemeClr val="accent2"/>
            </a:solidFill>
            <a:prstDash val="solid"/>
          </a:ln>
        </p:spPr>
      </p:sp>
      <p:sp>
        <p:nvSpPr>
          <p:cNvPr id="29" name="Text 27"/>
          <p:cNvSpPr txBox="1"/>
          <p:nvPr/>
        </p:nvSpPr>
        <p:spPr>
          <a:xfrm>
            <a:off x="7512710" y="2029968"/>
            <a:ext cx="1188720" cy="274320"/>
          </a:xfrm>
          <a:prstGeom prst="rect">
            <a:avLst/>
          </a:prstGeom>
          <a:noFill/>
          <a:ln/>
        </p:spPr>
        <p:txBody>
          <a:bodyPr wrap="square" lIns="0" tIns="0" rIns="0" bIns="0" rtlCol="0" anchor="t"/>
          <a:lstStyle/>
          <a:p>
            <a:pPr indent="0" marL="0">
              <a:buNone/>
            </a:pPr>
            <a:r>
              <a:rPr lang="en-US" sz="1000" dirty="0">
                <a:solidFill>
                  <a:schemeClr val="accent5"/>
                </a:solidFill>
              </a:rPr>
              <a:t>effort &amp; cost</a:t>
            </a:r>
            <a:endParaRPr lang="en-US" sz="1000" dirty="0"/>
          </a:p>
        </p:txBody>
      </p:sp>
      <p:sp>
        <p:nvSpPr>
          <p:cNvPr id="30" name="Text 28"/>
          <p:cNvSpPr txBox="1"/>
          <p:nvPr/>
        </p:nvSpPr>
        <p:spPr>
          <a:xfrm>
            <a:off x="6369710" y="2423160"/>
            <a:ext cx="2240280" cy="914400"/>
          </a:xfrm>
          <a:prstGeom prst="rect">
            <a:avLst/>
          </a:prstGeom>
          <a:noFill/>
          <a:ln/>
        </p:spPr>
        <p:txBody>
          <a:bodyPr wrap="square" lIns="0" tIns="0" rIns="0" bIns="0" rtlCol="0" anchor="t"/>
          <a:lstStyle/>
          <a:p>
            <a:pPr indent="0" marL="0">
              <a:buNone/>
            </a:pPr>
            <a:r>
              <a:rPr lang="en-US" sz="1300" dirty="0">
                <a:solidFill>
                  <a:schemeClr val="tx1"/>
                </a:solidFill>
              </a:rPr>
              <a:t>Further train an existing model on curated examples (often LoRA / PEFT).</a:t>
            </a:r>
            <a:endParaRPr lang="en-US" sz="1300" dirty="0"/>
          </a:p>
        </p:txBody>
      </p:sp>
      <p:sp>
        <p:nvSpPr>
          <p:cNvPr id="31" name="Text 29"/>
          <p:cNvSpPr txBox="1"/>
          <p:nvPr/>
        </p:nvSpPr>
        <p:spPr>
          <a:xfrm>
            <a:off x="6369710" y="3383280"/>
            <a:ext cx="2240280" cy="914400"/>
          </a:xfrm>
          <a:prstGeom prst="rect">
            <a:avLst/>
          </a:prstGeom>
          <a:noFill/>
          <a:ln/>
        </p:spPr>
        <p:txBody>
          <a:bodyPr wrap="square" lIns="0" tIns="0" rIns="0" bIns="0" rtlCol="0" anchor="t"/>
          <a:lstStyle/>
          <a:p>
            <a:pPr indent="0" marL="0">
              <a:buNone/>
            </a:pPr>
            <a:r>
              <a:rPr lang="en-US" sz="1300" b="1" dirty="0">
                <a:solidFill>
                  <a:schemeClr val="accent1"/>
                </a:solidFill>
              </a:rPr>
              <a:t>When to use</a:t>
            </a:r>
            <a:endParaRPr lang="en-US" sz="1300" dirty="0"/>
          </a:p>
          <a:p>
            <a:pPr indent="0" marL="0">
              <a:buNone/>
            </a:pPr>
            <a:r>
              <a:rPr lang="en-US" sz="1300" dirty="0">
                <a:solidFill>
                  <a:schemeClr val="tx1"/>
                </a:solidFill>
              </a:rPr>
              <a:t>Consistent format, tone or jargon at scale</a:t>
            </a:r>
            <a:endParaRPr lang="en-US" sz="1300" dirty="0"/>
          </a:p>
        </p:txBody>
      </p:sp>
      <p:sp>
        <p:nvSpPr>
          <p:cNvPr id="32" name="Text 30"/>
          <p:cNvSpPr txBox="1"/>
          <p:nvPr/>
        </p:nvSpPr>
        <p:spPr>
          <a:xfrm>
            <a:off x="6369710" y="4343400"/>
            <a:ext cx="2240280" cy="960120"/>
          </a:xfrm>
          <a:prstGeom prst="rect">
            <a:avLst/>
          </a:prstGeom>
          <a:noFill/>
          <a:ln/>
        </p:spPr>
        <p:txBody>
          <a:bodyPr wrap="square" lIns="0" tIns="0" rIns="0" bIns="0" rtlCol="0" anchor="t"/>
          <a:lstStyle/>
          <a:p>
            <a:pPr indent="0" marL="0">
              <a:buNone/>
            </a:pPr>
            <a:r>
              <a:rPr lang="en-US" sz="1300" b="1" dirty="0">
                <a:solidFill>
                  <a:schemeClr val="accent1"/>
                </a:solidFill>
              </a:rPr>
              <a:t>Banking example</a:t>
            </a:r>
            <a:endParaRPr lang="en-US" sz="1300" dirty="0"/>
          </a:p>
          <a:p>
            <a:pPr indent="0" marL="0">
              <a:buNone/>
            </a:pPr>
            <a:r>
              <a:rPr lang="en-US" sz="1300" dirty="0">
                <a:solidFill>
                  <a:schemeClr val="tx1"/>
                </a:solidFill>
              </a:rPr>
              <a:t>Complaint classification, statement extraction</a:t>
            </a:r>
            <a:endParaRPr lang="en-US" sz="1300" dirty="0"/>
          </a:p>
        </p:txBody>
      </p:sp>
      <p:sp>
        <p:nvSpPr>
          <p:cNvPr id="33" name="Shape 31"/>
          <p:cNvSpPr/>
          <p:nvPr/>
        </p:nvSpPr>
        <p:spPr>
          <a:xfrm>
            <a:off x="9005926" y="1371600"/>
            <a:ext cx="2606040" cy="4069080"/>
          </a:xfrm>
          <a:prstGeom prst="roundRect">
            <a:avLst>
              <a:gd name="adj" fmla="val 3509"/>
            </a:avLst>
          </a:prstGeom>
          <a:solidFill>
            <a:schemeClr val="accent1">
              <a:alpha val="26000"/>
            </a:schemeClr>
          </a:solidFill>
          <a:ln w="9525">
            <a:solidFill>
              <a:schemeClr val="accent1"/>
            </a:solidFill>
            <a:prstDash val="solid"/>
          </a:ln>
        </p:spPr>
      </p:sp>
      <p:sp>
        <p:nvSpPr>
          <p:cNvPr id="34" name="Text 32"/>
          <p:cNvSpPr txBox="1"/>
          <p:nvPr/>
        </p:nvSpPr>
        <p:spPr>
          <a:xfrm>
            <a:off x="9188806" y="1554480"/>
            <a:ext cx="2240280" cy="411480"/>
          </a:xfrm>
          <a:prstGeom prst="rect">
            <a:avLst/>
          </a:prstGeom>
          <a:noFill/>
          <a:ln/>
        </p:spPr>
        <p:txBody>
          <a:bodyPr wrap="square" lIns="0" tIns="0" rIns="0" bIns="0" rtlCol="0" anchor="t"/>
          <a:lstStyle/>
          <a:p>
            <a:pPr indent="0" marL="0">
              <a:buNone/>
            </a:pPr>
            <a:r>
              <a:rPr lang="en-US" sz="1700" b="1" dirty="0">
                <a:solidFill>
                  <a:schemeClr val="tx2"/>
                </a:solidFill>
              </a:rPr>
              <a:t>Pre-training</a:t>
            </a:r>
            <a:endParaRPr lang="en-US" sz="1700" dirty="0"/>
          </a:p>
        </p:txBody>
      </p:sp>
      <p:sp>
        <p:nvSpPr>
          <p:cNvPr id="35" name="Shape 33"/>
          <p:cNvSpPr/>
          <p:nvPr/>
        </p:nvSpPr>
        <p:spPr>
          <a:xfrm>
            <a:off x="9188806" y="2084832"/>
            <a:ext cx="182880" cy="182880"/>
          </a:xfrm>
          <a:prstGeom prst="ellipse">
            <a:avLst/>
          </a:prstGeom>
          <a:solidFill>
            <a:schemeClr val="accent2"/>
          </a:solidFill>
          <a:ln w="12700">
            <a:solidFill>
              <a:schemeClr val="accent2"/>
            </a:solidFill>
            <a:prstDash val="solid"/>
          </a:ln>
        </p:spPr>
      </p:sp>
      <p:sp>
        <p:nvSpPr>
          <p:cNvPr id="36" name="Shape 34"/>
          <p:cNvSpPr/>
          <p:nvPr/>
        </p:nvSpPr>
        <p:spPr>
          <a:xfrm>
            <a:off x="9463126" y="2084832"/>
            <a:ext cx="182880" cy="182880"/>
          </a:xfrm>
          <a:prstGeom prst="ellipse">
            <a:avLst/>
          </a:prstGeom>
          <a:solidFill>
            <a:schemeClr val="accent2"/>
          </a:solidFill>
          <a:ln w="12700">
            <a:solidFill>
              <a:schemeClr val="accent2"/>
            </a:solidFill>
            <a:prstDash val="solid"/>
          </a:ln>
        </p:spPr>
      </p:sp>
      <p:sp>
        <p:nvSpPr>
          <p:cNvPr id="37" name="Shape 35"/>
          <p:cNvSpPr/>
          <p:nvPr/>
        </p:nvSpPr>
        <p:spPr>
          <a:xfrm>
            <a:off x="9737446" y="2084832"/>
            <a:ext cx="182880" cy="182880"/>
          </a:xfrm>
          <a:prstGeom prst="ellipse">
            <a:avLst/>
          </a:prstGeom>
          <a:solidFill>
            <a:schemeClr val="accent2"/>
          </a:solidFill>
          <a:ln w="12700">
            <a:solidFill>
              <a:schemeClr val="accent2"/>
            </a:solidFill>
            <a:prstDash val="solid"/>
          </a:ln>
        </p:spPr>
      </p:sp>
      <p:sp>
        <p:nvSpPr>
          <p:cNvPr id="38" name="Shape 36"/>
          <p:cNvSpPr/>
          <p:nvPr/>
        </p:nvSpPr>
        <p:spPr>
          <a:xfrm>
            <a:off x="10011766" y="2084832"/>
            <a:ext cx="182880" cy="182880"/>
          </a:xfrm>
          <a:prstGeom prst="ellipse">
            <a:avLst/>
          </a:prstGeom>
          <a:solidFill>
            <a:schemeClr val="accent2"/>
          </a:solidFill>
          <a:ln w="12700">
            <a:solidFill>
              <a:schemeClr val="accent2"/>
            </a:solidFill>
            <a:prstDash val="solid"/>
          </a:ln>
        </p:spPr>
      </p:sp>
      <p:sp>
        <p:nvSpPr>
          <p:cNvPr id="39" name="Text 37"/>
          <p:cNvSpPr txBox="1"/>
          <p:nvPr/>
        </p:nvSpPr>
        <p:spPr>
          <a:xfrm>
            <a:off x="10331806" y="2029968"/>
            <a:ext cx="1188720" cy="274320"/>
          </a:xfrm>
          <a:prstGeom prst="rect">
            <a:avLst/>
          </a:prstGeom>
          <a:noFill/>
          <a:ln/>
        </p:spPr>
        <p:txBody>
          <a:bodyPr wrap="square" lIns="0" tIns="0" rIns="0" bIns="0" rtlCol="0" anchor="t"/>
          <a:lstStyle/>
          <a:p>
            <a:pPr indent="0" marL="0">
              <a:buNone/>
            </a:pPr>
            <a:r>
              <a:rPr lang="en-US" sz="1000" dirty="0">
                <a:solidFill>
                  <a:schemeClr val="accent5"/>
                </a:solidFill>
              </a:rPr>
              <a:t>effort &amp; cost</a:t>
            </a:r>
            <a:endParaRPr lang="en-US" sz="1000" dirty="0"/>
          </a:p>
        </p:txBody>
      </p:sp>
      <p:sp>
        <p:nvSpPr>
          <p:cNvPr id="40" name="Text 38"/>
          <p:cNvSpPr txBox="1"/>
          <p:nvPr/>
        </p:nvSpPr>
        <p:spPr>
          <a:xfrm>
            <a:off x="9188806" y="2423160"/>
            <a:ext cx="2240280" cy="914400"/>
          </a:xfrm>
          <a:prstGeom prst="rect">
            <a:avLst/>
          </a:prstGeom>
          <a:noFill/>
          <a:ln/>
        </p:spPr>
        <p:txBody>
          <a:bodyPr wrap="square" lIns="0" tIns="0" rIns="0" bIns="0" rtlCol="0" anchor="t"/>
          <a:lstStyle/>
          <a:p>
            <a:pPr indent="0" marL="0">
              <a:buNone/>
            </a:pPr>
            <a:r>
              <a:rPr lang="en-US" sz="1300" dirty="0">
                <a:solidFill>
                  <a:schemeClr val="tx1"/>
                </a:solidFill>
              </a:rPr>
              <a:t>Train a foundation model from scratch on huge corpora.</a:t>
            </a:r>
            <a:endParaRPr lang="en-US" sz="1300" dirty="0"/>
          </a:p>
        </p:txBody>
      </p:sp>
      <p:sp>
        <p:nvSpPr>
          <p:cNvPr id="41" name="Text 39"/>
          <p:cNvSpPr txBox="1"/>
          <p:nvPr/>
        </p:nvSpPr>
        <p:spPr>
          <a:xfrm>
            <a:off x="9188806" y="3383280"/>
            <a:ext cx="2240280" cy="914400"/>
          </a:xfrm>
          <a:prstGeom prst="rect">
            <a:avLst/>
          </a:prstGeom>
          <a:noFill/>
          <a:ln/>
        </p:spPr>
        <p:txBody>
          <a:bodyPr wrap="square" lIns="0" tIns="0" rIns="0" bIns="0" rtlCol="0" anchor="t"/>
          <a:lstStyle/>
          <a:p>
            <a:pPr indent="0" marL="0">
              <a:buNone/>
            </a:pPr>
            <a:r>
              <a:rPr lang="en-US" sz="1300" b="1" dirty="0">
                <a:solidFill>
                  <a:schemeClr val="accent1"/>
                </a:solidFill>
              </a:rPr>
              <a:t>When to use</a:t>
            </a:r>
            <a:endParaRPr lang="en-US" sz="1300" dirty="0"/>
          </a:p>
          <a:p>
            <a:pPr indent="0" marL="0">
              <a:buNone/>
            </a:pPr>
            <a:r>
              <a:rPr lang="en-US" sz="1300" dirty="0">
                <a:solidFill>
                  <a:schemeClr val="tx1"/>
                </a:solidFill>
              </a:rPr>
              <a:t>Rarely — needs massive data, compute and talent</a:t>
            </a:r>
            <a:endParaRPr lang="en-US" sz="1300" dirty="0"/>
          </a:p>
        </p:txBody>
      </p:sp>
      <p:sp>
        <p:nvSpPr>
          <p:cNvPr id="42" name="Text 40"/>
          <p:cNvSpPr txBox="1"/>
          <p:nvPr/>
        </p:nvSpPr>
        <p:spPr>
          <a:xfrm>
            <a:off x="9188806" y="4343400"/>
            <a:ext cx="2240280" cy="960120"/>
          </a:xfrm>
          <a:prstGeom prst="rect">
            <a:avLst/>
          </a:prstGeom>
          <a:noFill/>
          <a:ln/>
        </p:spPr>
        <p:txBody>
          <a:bodyPr wrap="square" lIns="0" tIns="0" rIns="0" bIns="0" rtlCol="0" anchor="t"/>
          <a:lstStyle/>
          <a:p>
            <a:pPr indent="0" marL="0">
              <a:buNone/>
            </a:pPr>
            <a:r>
              <a:rPr lang="en-US" sz="1300" b="1" dirty="0">
                <a:solidFill>
                  <a:schemeClr val="accent1"/>
                </a:solidFill>
              </a:rPr>
              <a:t>Banking example</a:t>
            </a:r>
            <a:endParaRPr lang="en-US" sz="1300" dirty="0"/>
          </a:p>
          <a:p>
            <a:pPr indent="0" marL="0">
              <a:buNone/>
            </a:pPr>
            <a:r>
              <a:rPr lang="en-US" sz="1300" dirty="0">
                <a:solidFill>
                  <a:schemeClr val="tx1"/>
                </a:solidFill>
              </a:rPr>
              <a:t>Domain models such as BloombergGPT</a:t>
            </a:r>
            <a:endParaRPr lang="en-US" sz="1300" dirty="0"/>
          </a:p>
        </p:txBody>
      </p:sp>
      <p:sp>
        <p:nvSpPr>
          <p:cNvPr id="43" name="Shape 41"/>
          <p:cNvSpPr/>
          <p:nvPr/>
        </p:nvSpPr>
        <p:spPr>
          <a:xfrm>
            <a:off x="548640" y="5760720"/>
            <a:ext cx="11064240" cy="0"/>
          </a:xfrm>
          <a:prstGeom prst="line">
            <a:avLst/>
          </a:prstGeom>
          <a:noFill/>
          <a:ln w="25400">
            <a:solidFill>
              <a:schemeClr val="accent2"/>
            </a:solidFill>
            <a:prstDash val="solid"/>
            <a:tailEnd type="triangle"/>
          </a:ln>
        </p:spPr>
      </p:sp>
      <p:sp>
        <p:nvSpPr>
          <p:cNvPr id="44" name="Text 42"/>
          <p:cNvSpPr txBox="1"/>
          <p:nvPr/>
        </p:nvSpPr>
        <p:spPr>
          <a:xfrm>
            <a:off x="548640" y="5852160"/>
            <a:ext cx="11064240" cy="320040"/>
          </a:xfrm>
          <a:prstGeom prst="rect">
            <a:avLst/>
          </a:prstGeom>
          <a:noFill/>
          <a:ln/>
        </p:spPr>
        <p:txBody>
          <a:bodyPr wrap="square" lIns="0" tIns="0" rIns="0" bIns="0" rtlCol="0" anchor="t"/>
          <a:lstStyle/>
          <a:p>
            <a:pPr algn="ctr" indent="0" marL="0">
              <a:buNone/>
            </a:pPr>
            <a:r>
              <a:rPr lang="en-US" sz="1200" i="1" dirty="0">
                <a:solidFill>
                  <a:schemeClr val="accent5"/>
                </a:solidFill>
              </a:rPr>
              <a:t>More control and customisation  →  more data, cost, time and governance effort</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1463040"/>
            <a:ext cx="2743200" cy="10972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02</a:t>
            </a:r>
            <a:endParaRPr lang="en-US" sz="6000" dirty="0"/>
          </a:p>
        </p:txBody>
      </p:sp>
      <p:sp>
        <p:nvSpPr>
          <p:cNvPr id="3"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rPr>
              <a:t>Model Types &amp; Internals</a:t>
            </a:r>
            <a:endParaRPr lang="en-US" sz="4000" dirty="0"/>
          </a:p>
        </p:txBody>
      </p:sp>
      <p:sp>
        <p:nvSpPr>
          <p:cNvPr id="4" name="Text 0"/>
          <p:cNvSpPr/>
          <p:nvPr>
            <p:ph idx="101" type="body" hasCustomPrompt="1"/>
          </p:nvPr>
        </p:nvSpPr>
        <p:spPr>
          <a:xfrm>
            <a:off x="731520" y="3794760"/>
            <a:ext cx="10515600" cy="731520"/>
          </a:xfrm>
          <a:prstGeom prst="rect">
            <a:avLst/>
          </a:prstGeom>
          <a:noFill/>
          <a:ln/>
        </p:spPr>
        <p:txBody>
          <a:bodyPr wrap="square" rtlCol="0" anchor="t"/>
          <a:lstStyle/>
          <a:p>
            <a:pPr algn="l" indent="0" marL="0">
              <a:buNone/>
            </a:pPr>
            <a:r>
              <a:rPr lang="en-US" sz="1800" dirty="0">
                <a:solidFill>
                  <a:schemeClr val="accent2"/>
                </a:solidFill>
              </a:rPr>
              <a:t>S008 Types of GenAI Models  ·  S009 How Generative Models Create Data</a:t>
            </a:r>
            <a:endParaRPr lang="en-US" sz="1800" dirty="0"/>
          </a:p>
        </p:txBody>
      </p:sp>
      <p:sp>
        <p:nvSpPr>
          <p:cNvPr id="5" name="Shape 3"/>
          <p:cNvSpPr/>
          <p:nvPr/>
        </p:nvSpPr>
        <p:spPr>
          <a:xfrm>
            <a:off x="9326880" y="4206240"/>
            <a:ext cx="3108960" cy="3108960"/>
          </a:xfrm>
          <a:prstGeom prst="ellipse">
            <a:avLst/>
          </a:prstGeom>
          <a:solidFill>
            <a:schemeClr val="accent1">
              <a:alpha val="0"/>
            </a:schemeClr>
          </a:solidFill>
          <a:ln w="25400">
            <a:solidFill>
              <a:schemeClr val="accent1">
                <a:alpha val="40000"/>
              </a:schemeClr>
            </a:solidFill>
            <a:prstDash val="solid"/>
          </a:ln>
        </p:spPr>
      </p:sp>
      <p:sp>
        <p:nvSpPr>
          <p:cNvPr id="6" name="Shape 4"/>
          <p:cNvSpPr/>
          <p:nvPr/>
        </p:nvSpPr>
        <p:spPr>
          <a:xfrm>
            <a:off x="9829800" y="4709160"/>
            <a:ext cx="2103120" cy="2103120"/>
          </a:xfrm>
          <a:prstGeom prst="ellipse">
            <a:avLst/>
          </a:prstGeom>
          <a:solidFill>
            <a:schemeClr val="accent2">
              <a:alpha val="0"/>
            </a:schemeClr>
          </a:solidFill>
          <a:ln w="25400">
            <a:solidFill>
              <a:schemeClr val="accent2">
                <a:alpha val="60000"/>
              </a:schemeClr>
            </a:solidFill>
            <a:prstDash val="solid"/>
          </a:ln>
        </p:spPr>
      </p:sp>
      <p:sp>
        <p:nvSpPr>
          <p:cNvPr id="7" name="Shape 5"/>
          <p:cNvSpPr/>
          <p:nvPr/>
        </p:nvSpPr>
        <p:spPr>
          <a:xfrm>
            <a:off x="10287000" y="5166360"/>
            <a:ext cx="1188720" cy="1188720"/>
          </a:xfrm>
          <a:prstGeom prst="ellipse">
            <a:avLst/>
          </a:prstGeom>
          <a:solidFill>
            <a:schemeClr val="accent2"/>
          </a:solidFill>
          <a:ln w="25400">
            <a:solidFill>
              <a:schemeClr val="accent2"/>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Types of Generative AI Models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14600"/>
                <a:gridCol w="2286000"/>
                <a:gridCol w="2103120"/>
                <a:gridCol w="1965960"/>
                <a:gridCol w="2194560"/>
              </a:tblGrid>
              <a:tr h="457200">
                <a:tc>
                  <a:txBody>
                    <a:bodyPr/>
                    <a:lstStyle/>
                    <a:p>
                      <a:pPr indent="0" marL="0">
                        <a:buNone/>
                      </a:pPr>
                      <a:r>
                        <a:rPr lang="en-US" sz="1300" b="1" dirty="0">
                          <a:solidFill>
                            <a:schemeClr val="bg1"/>
                          </a:solidFill>
                        </a:rPr>
                        <a:t>Model family</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How it generates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Strengths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Limitations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Banking use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tx2"/>
                    </a:solidFill>
                  </a:tcPr>
                </a:tc>
              </a:tr>
              <a:tr h="868680">
                <a:tc>
                  <a:txBody>
                    <a:bodyPr/>
                    <a:lstStyle/>
                    <a:p>
                      <a:pPr indent="0" marL="0">
                        <a:buNone/>
                      </a:pPr>
                      <a:r>
                        <a:rPr lang="en-US" sz="1300" b="1" dirty="0">
                          <a:solidFill>
                            <a:schemeClr val="tx2"/>
                          </a:solidFill>
                        </a:rPr>
                        <a:t>Autoregressive Transformers (LLMs: GPT, Claude, Gemini, Llama)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Predicts the next token repeatedly using self-attention</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Fluent language, reasoning, code, tool use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Hallucination, cost, latency</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Chatbots, summaries, document Q&amp;A, code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777240">
                <a:tc>
                  <a:txBody>
                    <a:bodyPr/>
                    <a:lstStyle/>
                    <a:p>
                      <a:pPr indent="0" marL="0">
                        <a:buNone/>
                      </a:pPr>
                      <a:r>
                        <a:rPr lang="en-US" sz="1300" b="1" dirty="0">
                          <a:solidFill>
                            <a:schemeClr val="tx2"/>
                          </a:solidFill>
                        </a:rPr>
                        <a:t>GANs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Generator vs discriminator compete until fakes look real</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Sharp, realistic samples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Unstable training, mode collapse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Synthetic fraud / transaction data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777240">
                <a:tc>
                  <a:txBody>
                    <a:bodyPr/>
                    <a:lstStyle/>
                    <a:p>
                      <a:pPr indent="0" marL="0">
                        <a:buNone/>
                      </a:pPr>
                      <a:r>
                        <a:rPr lang="en-US" sz="1300" b="1" dirty="0">
                          <a:solidFill>
                            <a:schemeClr val="tx2"/>
                          </a:solidFill>
                        </a:rPr>
                        <a:t>VAEs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Encode to a latent distribution, sample, decode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Smooth latent space, anomaly scoring</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Blurrier outputs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Anomaly detection, synthetic tabular data</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777240">
                <a:tc>
                  <a:txBody>
                    <a:bodyPr/>
                    <a:lstStyle/>
                    <a:p>
                      <a:pPr indent="0" marL="0">
                        <a:buNone/>
                      </a:pPr>
                      <a:r>
                        <a:rPr lang="en-US" sz="1300" b="1" dirty="0">
                          <a:solidFill>
                            <a:schemeClr val="tx2"/>
                          </a:solidFill>
                        </a:rPr>
                        <a:t>Diffusion models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Learn to reverse gradual noise, step by step</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State-of-the-art image quality, controllable</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Slow iterative sampling</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Marketing creatives, document image augmentation</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r h="777240">
                <a:tc>
                  <a:txBody>
                    <a:bodyPr/>
                    <a:lstStyle/>
                    <a:p>
                      <a:pPr indent="0" marL="0">
                        <a:buNone/>
                      </a:pPr>
                      <a:r>
                        <a:rPr lang="en-US" sz="1300" b="1" dirty="0">
                          <a:solidFill>
                            <a:schemeClr val="tx2"/>
                          </a:solidFill>
                        </a:rPr>
                        <a:t>Multimodal models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Combine image / audio encoders with an LLM</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Read cheques, forms, screenshots, speech</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Heavier compute, new attack surfaces</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c>
                  <a:txBody>
                    <a:bodyPr/>
                    <a:lstStyle/>
                    <a:p>
                      <a:pPr indent="0" marL="0">
                        <a:buNone/>
                      </a:pPr>
                      <a:r>
                        <a:rPr lang="en-US" sz="1300" dirty="0">
                          <a:solidFill>
                            <a:schemeClr val="tx1"/>
                          </a:solidFill>
                        </a:rPr>
                        <a:t>KYC document reading, voice banking</a:t>
                      </a:r>
                      <a:endParaRPr lang="en-US" sz="1300" dirty="0"/>
                    </a:p>
                  </a:txBody>
                  <a:tcPr marL="73152" marR="73152" marT="73152" marB="73152" anchor="ctr">
                    <a:lnL w="9525" cap="flat" cmpd="sng" algn="ctr">
                      <a:solidFill>
                        <a:srgbClr val="C9D6D2"/>
                      </a:solidFill>
                      <a:prstDash val="solid"/>
                      <a:round/>
                      <a:headEnd type="none" w="med" len="med"/>
                      <a:tailEnd type="none" w="med" len="med"/>
                    </a:lnL>
                    <a:lnR w="9525" cap="flat" cmpd="sng" algn="ctr">
                      <a:solidFill>
                        <a:srgbClr val="C9D6D2"/>
                      </a:solidFill>
                      <a:prstDash val="solid"/>
                      <a:round/>
                      <a:headEnd type="none" w="med" len="med"/>
                      <a:tailEnd type="none" w="med" len="med"/>
                    </a:lnR>
                    <a:lnT w="9525" cap="flat" cmpd="sng" algn="ctr">
                      <a:solidFill>
                        <a:srgbClr val="C9D6D2"/>
                      </a:solidFill>
                      <a:prstDash val="solid"/>
                      <a:round/>
                      <a:headEnd type="none" w="med" len="med"/>
                      <a:tailEnd type="none" w="med" len="med"/>
                    </a:lnT>
                    <a:lnB w="9525" cap="flat" cmpd="sng" algn="ctr">
                      <a:solidFill>
                        <a:srgbClr val="C9D6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How an LLM Is Built: The Training Lifecycle</a:t>
            </a:r>
            <a:endParaRPr lang="en-US" sz="3200" dirty="0"/>
          </a:p>
        </p:txBody>
      </p:sp>
      <p:sp>
        <p:nvSpPr>
          <p:cNvPr id="3" name="Text 1"/>
          <p:cNvSpPr txBox="1"/>
          <p:nvPr/>
        </p:nvSpPr>
        <p:spPr>
          <a:xfrm>
            <a:off x="548640" y="1417320"/>
            <a:ext cx="1600200" cy="868680"/>
          </a:xfrm>
          <a:prstGeom prst="roundRect">
            <a:avLst>
              <a:gd name="adj" fmla="val 8421"/>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300" b="1" dirty="0">
                <a:solidFill>
                  <a:schemeClr val="bg1"/>
                </a:solidFill>
              </a:rPr>
              <a:t>1  Data &amp; tokenizer</a:t>
            </a:r>
            <a:endParaRPr lang="en-US" sz="1300" dirty="0"/>
          </a:p>
        </p:txBody>
      </p:sp>
      <p:sp>
        <p:nvSpPr>
          <p:cNvPr id="4" name="Shape 2"/>
          <p:cNvSpPr/>
          <p:nvPr/>
        </p:nvSpPr>
        <p:spPr>
          <a:xfrm>
            <a:off x="2148840" y="1847088"/>
            <a:ext cx="292608" cy="0"/>
          </a:xfrm>
          <a:prstGeom prst="line">
            <a:avLst/>
          </a:prstGeom>
          <a:noFill/>
          <a:ln w="19050">
            <a:solidFill>
              <a:schemeClr val="accent2"/>
            </a:solidFill>
            <a:prstDash val="solid"/>
            <a:tailEnd type="triangle"/>
          </a:ln>
        </p:spPr>
      </p:sp>
      <p:sp>
        <p:nvSpPr>
          <p:cNvPr id="5" name="Text 3"/>
          <p:cNvSpPr txBox="1"/>
          <p:nvPr/>
        </p:nvSpPr>
        <p:spPr>
          <a:xfrm>
            <a:off x="548640"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Web, books, code, licensed data; dedupe, filter toxic content &amp; PII; train a BPE tokenizer.</a:t>
            </a:r>
            <a:endParaRPr lang="en-US" sz="1300" dirty="0"/>
          </a:p>
        </p:txBody>
      </p:sp>
      <p:sp>
        <p:nvSpPr>
          <p:cNvPr id="6" name="Text 4"/>
          <p:cNvSpPr txBox="1"/>
          <p:nvPr/>
        </p:nvSpPr>
        <p:spPr>
          <a:xfrm>
            <a:off x="2441448" y="1417320"/>
            <a:ext cx="1600200" cy="868680"/>
          </a:xfrm>
          <a:prstGeom prst="roundRect">
            <a:avLst>
              <a:gd name="adj" fmla="val 8421"/>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300" b="1" dirty="0">
                <a:solidFill>
                  <a:schemeClr val="bg1"/>
                </a:solidFill>
              </a:rPr>
              <a:t>2  Pre-training</a:t>
            </a:r>
            <a:endParaRPr lang="en-US" sz="1300" dirty="0"/>
          </a:p>
        </p:txBody>
      </p:sp>
      <p:sp>
        <p:nvSpPr>
          <p:cNvPr id="7" name="Shape 5"/>
          <p:cNvSpPr/>
          <p:nvPr/>
        </p:nvSpPr>
        <p:spPr>
          <a:xfrm>
            <a:off x="4041648" y="1847088"/>
            <a:ext cx="292608" cy="0"/>
          </a:xfrm>
          <a:prstGeom prst="line">
            <a:avLst/>
          </a:prstGeom>
          <a:noFill/>
          <a:ln w="19050">
            <a:solidFill>
              <a:schemeClr val="accent2"/>
            </a:solidFill>
            <a:prstDash val="solid"/>
            <a:tailEnd type="triangle"/>
          </a:ln>
        </p:spPr>
      </p:sp>
      <p:sp>
        <p:nvSpPr>
          <p:cNvPr id="8" name="Text 6"/>
          <p:cNvSpPr txBox="1"/>
          <p:nvPr/>
        </p:nvSpPr>
        <p:spPr>
          <a:xfrm>
            <a:off x="2441448"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Self-supervised next-token prediction over trillions of tokens → base model with broad knowledge.</a:t>
            </a:r>
            <a:endParaRPr lang="en-US" sz="1300" dirty="0"/>
          </a:p>
        </p:txBody>
      </p:sp>
      <p:sp>
        <p:nvSpPr>
          <p:cNvPr id="9" name="Text 7"/>
          <p:cNvSpPr txBox="1"/>
          <p:nvPr/>
        </p:nvSpPr>
        <p:spPr>
          <a:xfrm>
            <a:off x="4334256" y="1417320"/>
            <a:ext cx="1600200" cy="868680"/>
          </a:xfrm>
          <a:prstGeom prst="roundRect">
            <a:avLst>
              <a:gd name="adj" fmla="val 8421"/>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3  Supervised fine-tuning</a:t>
            </a:r>
            <a:endParaRPr lang="en-US" sz="1300" dirty="0"/>
          </a:p>
        </p:txBody>
      </p:sp>
      <p:sp>
        <p:nvSpPr>
          <p:cNvPr id="10" name="Shape 8"/>
          <p:cNvSpPr/>
          <p:nvPr/>
        </p:nvSpPr>
        <p:spPr>
          <a:xfrm>
            <a:off x="5934456" y="1847088"/>
            <a:ext cx="292608" cy="0"/>
          </a:xfrm>
          <a:prstGeom prst="line">
            <a:avLst/>
          </a:prstGeom>
          <a:noFill/>
          <a:ln w="19050">
            <a:solidFill>
              <a:schemeClr val="accent2"/>
            </a:solidFill>
            <a:prstDash val="solid"/>
            <a:tailEnd type="triangle"/>
          </a:ln>
        </p:spPr>
      </p:sp>
      <p:sp>
        <p:nvSpPr>
          <p:cNvPr id="11" name="Text 9"/>
          <p:cNvSpPr txBox="1"/>
          <p:nvPr/>
        </p:nvSpPr>
        <p:spPr>
          <a:xfrm>
            <a:off x="4334256"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Curated instruction → response pairs teach the model to follow instructions and hold a dialogue.</a:t>
            </a:r>
            <a:endParaRPr lang="en-US" sz="1300" dirty="0"/>
          </a:p>
        </p:txBody>
      </p:sp>
      <p:sp>
        <p:nvSpPr>
          <p:cNvPr id="12" name="Text 10"/>
          <p:cNvSpPr txBox="1"/>
          <p:nvPr/>
        </p:nvSpPr>
        <p:spPr>
          <a:xfrm>
            <a:off x="6227064" y="1417320"/>
            <a:ext cx="1600200" cy="868680"/>
          </a:xfrm>
          <a:prstGeom prst="roundRect">
            <a:avLst>
              <a:gd name="adj" fmla="val 8421"/>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4  Preference alignment</a:t>
            </a:r>
            <a:endParaRPr lang="en-US" sz="1300" dirty="0"/>
          </a:p>
        </p:txBody>
      </p:sp>
      <p:sp>
        <p:nvSpPr>
          <p:cNvPr id="13" name="Shape 11"/>
          <p:cNvSpPr/>
          <p:nvPr/>
        </p:nvSpPr>
        <p:spPr>
          <a:xfrm>
            <a:off x="7827264" y="1847088"/>
            <a:ext cx="292608" cy="0"/>
          </a:xfrm>
          <a:prstGeom prst="line">
            <a:avLst/>
          </a:prstGeom>
          <a:noFill/>
          <a:ln w="19050">
            <a:solidFill>
              <a:schemeClr val="accent2"/>
            </a:solidFill>
            <a:prstDash val="solid"/>
            <a:tailEnd type="triangle"/>
          </a:ln>
        </p:spPr>
      </p:sp>
      <p:sp>
        <p:nvSpPr>
          <p:cNvPr id="14" name="Text 12"/>
          <p:cNvSpPr txBox="1"/>
          <p:nvPr/>
        </p:nvSpPr>
        <p:spPr>
          <a:xfrm>
            <a:off x="6227064"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Humans rank outputs; reward model + RLHF, or DPO, steer it towards helpful, honest, harmless answers.</a:t>
            </a:r>
            <a:endParaRPr lang="en-US" sz="1300" dirty="0"/>
          </a:p>
        </p:txBody>
      </p:sp>
      <p:sp>
        <p:nvSpPr>
          <p:cNvPr id="15" name="Text 13"/>
          <p:cNvSpPr txBox="1"/>
          <p:nvPr/>
        </p:nvSpPr>
        <p:spPr>
          <a:xfrm>
            <a:off x="8119872" y="1417320"/>
            <a:ext cx="1600200" cy="868680"/>
          </a:xfrm>
          <a:prstGeom prst="roundRect">
            <a:avLst>
              <a:gd name="adj" fmla="val 8421"/>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300" b="1" dirty="0">
                <a:solidFill>
                  <a:schemeClr val="bg1"/>
                </a:solidFill>
              </a:rPr>
              <a:t>5  Evaluation &amp; red-team</a:t>
            </a:r>
            <a:endParaRPr lang="en-US" sz="1300" dirty="0"/>
          </a:p>
        </p:txBody>
      </p:sp>
      <p:sp>
        <p:nvSpPr>
          <p:cNvPr id="16" name="Shape 14"/>
          <p:cNvSpPr/>
          <p:nvPr/>
        </p:nvSpPr>
        <p:spPr>
          <a:xfrm>
            <a:off x="9720072" y="1847088"/>
            <a:ext cx="292608" cy="0"/>
          </a:xfrm>
          <a:prstGeom prst="line">
            <a:avLst/>
          </a:prstGeom>
          <a:noFill/>
          <a:ln w="19050">
            <a:solidFill>
              <a:schemeClr val="accent2"/>
            </a:solidFill>
            <a:prstDash val="solid"/>
            <a:tailEnd type="triangle"/>
          </a:ln>
        </p:spPr>
      </p:sp>
      <p:sp>
        <p:nvSpPr>
          <p:cNvPr id="17" name="Text 15"/>
          <p:cNvSpPr txBox="1"/>
          <p:nvPr/>
        </p:nvSpPr>
        <p:spPr>
          <a:xfrm>
            <a:off x="8119872"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Benchmarks, safety and bias tests, adversarial prompts before release.</a:t>
            </a:r>
            <a:endParaRPr lang="en-US" sz="1300" dirty="0"/>
          </a:p>
        </p:txBody>
      </p:sp>
      <p:sp>
        <p:nvSpPr>
          <p:cNvPr id="18" name="Text 16"/>
          <p:cNvSpPr txBox="1"/>
          <p:nvPr/>
        </p:nvSpPr>
        <p:spPr>
          <a:xfrm>
            <a:off x="10012680" y="1417320"/>
            <a:ext cx="1600200" cy="868680"/>
          </a:xfrm>
          <a:prstGeom prst="roundRect">
            <a:avLst>
              <a:gd name="adj" fmla="val 8421"/>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300" b="1" dirty="0">
                <a:solidFill>
                  <a:schemeClr val="tx1"/>
                </a:solidFill>
              </a:rPr>
              <a:t>6  Deployment &amp; inference</a:t>
            </a:r>
            <a:endParaRPr lang="en-US" sz="1300" dirty="0"/>
          </a:p>
        </p:txBody>
      </p:sp>
      <p:sp>
        <p:nvSpPr>
          <p:cNvPr id="19" name="Text 17"/>
          <p:cNvSpPr txBox="1"/>
          <p:nvPr/>
        </p:nvSpPr>
        <p:spPr>
          <a:xfrm>
            <a:off x="10012680" y="2468880"/>
            <a:ext cx="1600200" cy="1828800"/>
          </a:xfrm>
          <a:prstGeom prst="rect">
            <a:avLst/>
          </a:prstGeom>
          <a:noFill/>
          <a:ln/>
        </p:spPr>
        <p:txBody>
          <a:bodyPr wrap="square" lIns="0" tIns="0" rIns="0" bIns="0" rtlCol="0" anchor="t"/>
          <a:lstStyle/>
          <a:p>
            <a:pPr indent="0" marL="0">
              <a:buNone/>
            </a:pPr>
            <a:r>
              <a:rPr lang="en-US" sz="1300" dirty="0">
                <a:solidFill>
                  <a:schemeClr val="tx1"/>
                </a:solidFill>
              </a:rPr>
              <a:t>Served via API or private cloud; quantisation, batching, KV cache; wrapped with RAG &amp; guardrails.</a:t>
            </a:r>
            <a:endParaRPr lang="en-US" sz="1300" dirty="0"/>
          </a:p>
        </p:txBody>
      </p:sp>
      <p:sp>
        <p:nvSpPr>
          <p:cNvPr id="20" name="Shape 18"/>
          <p:cNvSpPr/>
          <p:nvPr/>
        </p:nvSpPr>
        <p:spPr>
          <a:xfrm>
            <a:off x="548640" y="4526280"/>
            <a:ext cx="3502152" cy="1600200"/>
          </a:xfrm>
          <a:prstGeom prst="roundRect">
            <a:avLst>
              <a:gd name="adj" fmla="val 5714"/>
            </a:avLst>
          </a:prstGeom>
          <a:solidFill>
            <a:schemeClr val="bg2"/>
          </a:solidFill>
          <a:ln w="9525">
            <a:solidFill>
              <a:schemeClr val="bg2"/>
            </a:solidFill>
            <a:prstDash val="solid"/>
          </a:ln>
        </p:spPr>
      </p:sp>
      <p:sp>
        <p:nvSpPr>
          <p:cNvPr id="21" name="Text 19"/>
          <p:cNvSpPr txBox="1"/>
          <p:nvPr/>
        </p:nvSpPr>
        <p:spPr>
          <a:xfrm>
            <a:off x="777240" y="4617720"/>
            <a:ext cx="310896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Trillions</a:t>
            </a:r>
            <a:endParaRPr lang="en-US" sz="3200" dirty="0"/>
          </a:p>
        </p:txBody>
      </p:sp>
      <p:sp>
        <p:nvSpPr>
          <p:cNvPr id="22" name="Text 20"/>
          <p:cNvSpPr txBox="1"/>
          <p:nvPr/>
        </p:nvSpPr>
        <p:spPr>
          <a:xfrm>
            <a:off x="777240" y="5349240"/>
            <a:ext cx="3108960" cy="548640"/>
          </a:xfrm>
          <a:prstGeom prst="rect">
            <a:avLst/>
          </a:prstGeom>
          <a:noFill/>
          <a:ln/>
        </p:spPr>
        <p:txBody>
          <a:bodyPr wrap="square" lIns="0" tIns="0" rIns="0" bIns="0" rtlCol="0" anchor="t"/>
          <a:lstStyle/>
          <a:p>
            <a:pPr indent="0" marL="0">
              <a:buNone/>
            </a:pPr>
            <a:r>
              <a:rPr lang="en-US" sz="1300" dirty="0">
                <a:solidFill>
                  <a:schemeClr val="tx1"/>
                </a:solidFill>
              </a:rPr>
              <a:t>of tokens seen in pre-training</a:t>
            </a:r>
            <a:endParaRPr lang="en-US" sz="1300" dirty="0"/>
          </a:p>
        </p:txBody>
      </p:sp>
      <p:sp>
        <p:nvSpPr>
          <p:cNvPr id="23" name="Shape 21"/>
          <p:cNvSpPr/>
          <p:nvPr/>
        </p:nvSpPr>
        <p:spPr>
          <a:xfrm>
            <a:off x="4329684" y="4526280"/>
            <a:ext cx="3502152" cy="1600200"/>
          </a:xfrm>
          <a:prstGeom prst="roundRect">
            <a:avLst>
              <a:gd name="adj" fmla="val 5714"/>
            </a:avLst>
          </a:prstGeom>
          <a:solidFill>
            <a:schemeClr val="bg2"/>
          </a:solidFill>
          <a:ln w="9525">
            <a:solidFill>
              <a:schemeClr val="bg2"/>
            </a:solidFill>
            <a:prstDash val="solid"/>
          </a:ln>
        </p:spPr>
      </p:sp>
      <p:sp>
        <p:nvSpPr>
          <p:cNvPr id="24" name="Text 22"/>
          <p:cNvSpPr txBox="1"/>
          <p:nvPr/>
        </p:nvSpPr>
        <p:spPr>
          <a:xfrm>
            <a:off x="4558284" y="4617720"/>
            <a:ext cx="310896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Weeks–months</a:t>
            </a:r>
            <a:endParaRPr lang="en-US" sz="3200" dirty="0"/>
          </a:p>
        </p:txBody>
      </p:sp>
      <p:sp>
        <p:nvSpPr>
          <p:cNvPr id="25" name="Text 23"/>
          <p:cNvSpPr txBox="1"/>
          <p:nvPr/>
        </p:nvSpPr>
        <p:spPr>
          <a:xfrm>
            <a:off x="4558284" y="5349240"/>
            <a:ext cx="3108960" cy="548640"/>
          </a:xfrm>
          <a:prstGeom prst="rect">
            <a:avLst/>
          </a:prstGeom>
          <a:noFill/>
          <a:ln/>
        </p:spPr>
        <p:txBody>
          <a:bodyPr wrap="square" lIns="0" tIns="0" rIns="0" bIns="0" rtlCol="0" anchor="t"/>
          <a:lstStyle/>
          <a:p>
            <a:pPr indent="0" marL="0">
              <a:buNone/>
            </a:pPr>
            <a:r>
              <a:rPr lang="en-US" sz="1300" dirty="0">
                <a:solidFill>
                  <a:schemeClr val="tx1"/>
                </a:solidFill>
              </a:rPr>
              <a:t>of compute on large GPU clusters</a:t>
            </a:r>
            <a:endParaRPr lang="en-US" sz="1300" dirty="0"/>
          </a:p>
        </p:txBody>
      </p:sp>
      <p:sp>
        <p:nvSpPr>
          <p:cNvPr id="26" name="Shape 24"/>
          <p:cNvSpPr/>
          <p:nvPr/>
        </p:nvSpPr>
        <p:spPr>
          <a:xfrm>
            <a:off x="8110728" y="4526280"/>
            <a:ext cx="3502152" cy="1600200"/>
          </a:xfrm>
          <a:prstGeom prst="roundRect">
            <a:avLst>
              <a:gd name="adj" fmla="val 5714"/>
            </a:avLst>
          </a:prstGeom>
          <a:solidFill>
            <a:schemeClr val="bg2"/>
          </a:solidFill>
          <a:ln w="9525">
            <a:solidFill>
              <a:schemeClr val="bg2"/>
            </a:solidFill>
            <a:prstDash val="solid"/>
          </a:ln>
        </p:spPr>
      </p:sp>
      <p:sp>
        <p:nvSpPr>
          <p:cNvPr id="27" name="Text 25"/>
          <p:cNvSpPr txBox="1"/>
          <p:nvPr/>
        </p:nvSpPr>
        <p:spPr>
          <a:xfrm>
            <a:off x="8339328" y="4617720"/>
            <a:ext cx="3108960" cy="7315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One objective</a:t>
            </a:r>
            <a:endParaRPr lang="en-US" sz="3200" dirty="0"/>
          </a:p>
        </p:txBody>
      </p:sp>
      <p:sp>
        <p:nvSpPr>
          <p:cNvPr id="28" name="Text 26"/>
          <p:cNvSpPr txBox="1"/>
          <p:nvPr/>
        </p:nvSpPr>
        <p:spPr>
          <a:xfrm>
            <a:off x="8339328" y="5349240"/>
            <a:ext cx="3108960" cy="548640"/>
          </a:xfrm>
          <a:prstGeom prst="rect">
            <a:avLst/>
          </a:prstGeom>
          <a:noFill/>
          <a:ln/>
        </p:spPr>
        <p:txBody>
          <a:bodyPr wrap="square" lIns="0" tIns="0" rIns="0" bIns="0" rtlCol="0" anchor="t"/>
          <a:lstStyle/>
          <a:p>
            <a:pPr indent="0" marL="0">
              <a:buNone/>
            </a:pPr>
            <a:r>
              <a:rPr lang="en-US" sz="1300" dirty="0">
                <a:solidFill>
                  <a:schemeClr val="tx1"/>
                </a:solidFill>
              </a:rPr>
              <a:t>underneath it all: predict the next token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Inside an LLM: Inference Architecture Flow</a:t>
            </a:r>
            <a:endParaRPr lang="en-US" sz="3200" dirty="0"/>
          </a:p>
        </p:txBody>
      </p:sp>
      <p:sp>
        <p:nvSpPr>
          <p:cNvPr id="3" name="Text 1"/>
          <p:cNvSpPr txBox="1"/>
          <p:nvPr/>
        </p:nvSpPr>
        <p:spPr>
          <a:xfrm>
            <a:off x="548640" y="1371600"/>
            <a:ext cx="2377440" cy="731520"/>
          </a:xfrm>
          <a:prstGeom prst="roundRect">
            <a:avLst>
              <a:gd name="adj" fmla="val 10000"/>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200" b="1" dirty="0">
                <a:solidFill>
                  <a:schemeClr val="tx1"/>
                </a:solidFill>
              </a:rPr>
              <a:t>Prompt</a:t>
            </a:r>
            <a:endParaRPr lang="en-US" sz="1200" dirty="0"/>
          </a:p>
          <a:p>
            <a:pPr algn="ctr" indent="0" marL="0">
              <a:buNone/>
            </a:pPr>
            <a:r>
              <a:rPr lang="en-US" sz="1100" dirty="0">
                <a:solidFill>
                  <a:schemeClr val="tx1"/>
                </a:solidFill>
              </a:rPr>
              <a:t>“What is my loan EMI?”</a:t>
            </a:r>
            <a:endParaRPr lang="en-US" sz="1200" dirty="0"/>
          </a:p>
        </p:txBody>
      </p:sp>
      <p:sp>
        <p:nvSpPr>
          <p:cNvPr id="4" name="Shape 2"/>
          <p:cNvSpPr/>
          <p:nvPr/>
        </p:nvSpPr>
        <p:spPr>
          <a:xfrm>
            <a:off x="1737360" y="2103120"/>
            <a:ext cx="0" cy="228600"/>
          </a:xfrm>
          <a:prstGeom prst="line">
            <a:avLst/>
          </a:prstGeom>
          <a:noFill/>
          <a:ln w="19050">
            <a:solidFill>
              <a:schemeClr val="accent3"/>
            </a:solidFill>
            <a:prstDash val="solid"/>
            <a:tailEnd type="triangle"/>
          </a:ln>
        </p:spPr>
      </p:sp>
      <p:sp>
        <p:nvSpPr>
          <p:cNvPr id="5" name="Text 3"/>
          <p:cNvSpPr txBox="1"/>
          <p:nvPr/>
        </p:nvSpPr>
        <p:spPr>
          <a:xfrm>
            <a:off x="548640" y="2331720"/>
            <a:ext cx="2377440" cy="731520"/>
          </a:xfrm>
          <a:prstGeom prst="roundRect">
            <a:avLst>
              <a:gd name="adj" fmla="val 10000"/>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200" b="1" dirty="0">
                <a:solidFill>
                  <a:schemeClr val="tx1"/>
                </a:solidFill>
              </a:rPr>
              <a:t>Tokenizer (BPE)</a:t>
            </a:r>
            <a:endParaRPr lang="en-US" sz="1200" dirty="0"/>
          </a:p>
          <a:p>
            <a:pPr algn="ctr" indent="0" marL="0">
              <a:buNone/>
            </a:pPr>
            <a:r>
              <a:rPr lang="en-US" sz="1100" dirty="0">
                <a:solidFill>
                  <a:schemeClr val="tx1"/>
                </a:solidFill>
              </a:rPr>
              <a:t>[What][ is][ my][ loan][ EMI][?]</a:t>
            </a:r>
            <a:endParaRPr lang="en-US" sz="1200" dirty="0"/>
          </a:p>
        </p:txBody>
      </p:sp>
      <p:sp>
        <p:nvSpPr>
          <p:cNvPr id="6" name="Shape 4"/>
          <p:cNvSpPr/>
          <p:nvPr/>
        </p:nvSpPr>
        <p:spPr>
          <a:xfrm>
            <a:off x="1737360" y="3063240"/>
            <a:ext cx="0" cy="228600"/>
          </a:xfrm>
          <a:prstGeom prst="line">
            <a:avLst/>
          </a:prstGeom>
          <a:noFill/>
          <a:ln w="19050">
            <a:solidFill>
              <a:schemeClr val="accent3"/>
            </a:solidFill>
            <a:prstDash val="solid"/>
            <a:tailEnd type="triangle"/>
          </a:ln>
        </p:spPr>
      </p:sp>
      <p:sp>
        <p:nvSpPr>
          <p:cNvPr id="7" name="Text 5"/>
          <p:cNvSpPr txBox="1"/>
          <p:nvPr/>
        </p:nvSpPr>
        <p:spPr>
          <a:xfrm>
            <a:off x="548640" y="3291840"/>
            <a:ext cx="2377440" cy="731520"/>
          </a:xfrm>
          <a:prstGeom prst="roundRect">
            <a:avLst>
              <a:gd name="adj" fmla="val 10000"/>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200" b="1" dirty="0">
                <a:solidFill>
                  <a:schemeClr val="tx1"/>
                </a:solidFill>
              </a:rPr>
              <a:t>Token IDs</a:t>
            </a:r>
            <a:endParaRPr lang="en-US" sz="1200" dirty="0"/>
          </a:p>
          <a:p>
            <a:pPr algn="ctr" indent="0" marL="0">
              <a:buNone/>
            </a:pPr>
            <a:r>
              <a:rPr lang="en-US" sz="1100" dirty="0">
                <a:solidFill>
                  <a:schemeClr val="tx1"/>
                </a:solidFill>
              </a:rPr>
              <a:t>[3923, 374, 856, 11941, …]</a:t>
            </a:r>
            <a:endParaRPr lang="en-US" sz="1200" dirty="0"/>
          </a:p>
        </p:txBody>
      </p:sp>
      <p:sp>
        <p:nvSpPr>
          <p:cNvPr id="8" name="Shape 6"/>
          <p:cNvSpPr/>
          <p:nvPr/>
        </p:nvSpPr>
        <p:spPr>
          <a:xfrm>
            <a:off x="1737360" y="4023360"/>
            <a:ext cx="0" cy="228600"/>
          </a:xfrm>
          <a:prstGeom prst="line">
            <a:avLst/>
          </a:prstGeom>
          <a:noFill/>
          <a:ln w="19050">
            <a:solidFill>
              <a:schemeClr val="accent3"/>
            </a:solidFill>
            <a:prstDash val="solid"/>
            <a:tailEnd type="triangle"/>
          </a:ln>
        </p:spPr>
      </p:sp>
      <p:sp>
        <p:nvSpPr>
          <p:cNvPr id="9" name="Text 7"/>
          <p:cNvSpPr txBox="1"/>
          <p:nvPr/>
        </p:nvSpPr>
        <p:spPr>
          <a:xfrm>
            <a:off x="548640" y="4251960"/>
            <a:ext cx="2377440" cy="731520"/>
          </a:xfrm>
          <a:prstGeom prst="roundRect">
            <a:avLst>
              <a:gd name="adj" fmla="val 10000"/>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200" b="1" dirty="0">
                <a:solidFill>
                  <a:schemeClr val="tx1"/>
                </a:solidFill>
              </a:rPr>
              <a:t>Embeddings + position</a:t>
            </a:r>
            <a:endParaRPr lang="en-US" sz="1200" dirty="0"/>
          </a:p>
          <a:p>
            <a:pPr algn="ctr" indent="0" marL="0">
              <a:buNone/>
            </a:pPr>
            <a:r>
              <a:rPr lang="en-US" sz="1100" dirty="0">
                <a:solidFill>
                  <a:schemeClr val="tx1"/>
                </a:solidFill>
              </a:rPr>
              <a:t>each ID → vector (d ≈ 4,096)</a:t>
            </a:r>
            <a:endParaRPr lang="en-US" sz="1200" dirty="0"/>
          </a:p>
        </p:txBody>
      </p:sp>
      <p:sp>
        <p:nvSpPr>
          <p:cNvPr id="10" name="Shape 8"/>
          <p:cNvSpPr/>
          <p:nvPr/>
        </p:nvSpPr>
        <p:spPr>
          <a:xfrm>
            <a:off x="3520440" y="1371600"/>
            <a:ext cx="3749040" cy="3611880"/>
          </a:xfrm>
          <a:prstGeom prst="roundRect">
            <a:avLst>
              <a:gd name="adj" fmla="val 2532"/>
            </a:avLst>
          </a:prstGeom>
          <a:solidFill>
            <a:schemeClr val="bg2"/>
          </a:solidFill>
          <a:ln w="15875">
            <a:solidFill>
              <a:schemeClr val="accent1"/>
            </a:solidFill>
            <a:prstDash val="solid"/>
          </a:ln>
        </p:spPr>
      </p:sp>
      <p:sp>
        <p:nvSpPr>
          <p:cNvPr id="11" name="Text 9"/>
          <p:cNvSpPr txBox="1"/>
          <p:nvPr/>
        </p:nvSpPr>
        <p:spPr>
          <a:xfrm>
            <a:off x="3703320" y="1463040"/>
            <a:ext cx="3383280" cy="347472"/>
          </a:xfrm>
          <a:prstGeom prst="rect">
            <a:avLst/>
          </a:prstGeom>
          <a:noFill/>
          <a:ln/>
        </p:spPr>
        <p:txBody>
          <a:bodyPr wrap="square" lIns="0" tIns="0" rIns="0" bIns="0" rtlCol="0" anchor="t"/>
          <a:lstStyle/>
          <a:p>
            <a:pPr algn="ctr" indent="0" marL="0">
              <a:buNone/>
            </a:pPr>
            <a:r>
              <a:rPr lang="en-US" sz="1300" b="1" dirty="0">
                <a:solidFill>
                  <a:schemeClr val="tx2"/>
                </a:solidFill>
              </a:rPr>
              <a:t>Transformer decoder block  × N layers</a:t>
            </a:r>
            <a:endParaRPr lang="en-US" sz="1300" dirty="0"/>
          </a:p>
        </p:txBody>
      </p:sp>
      <p:sp>
        <p:nvSpPr>
          <p:cNvPr id="12" name="Text 10"/>
          <p:cNvSpPr txBox="1"/>
          <p:nvPr/>
        </p:nvSpPr>
        <p:spPr>
          <a:xfrm>
            <a:off x="3703320" y="1828800"/>
            <a:ext cx="3383280" cy="274320"/>
          </a:xfrm>
          <a:prstGeom prst="rect">
            <a:avLst/>
          </a:prstGeom>
          <a:noFill/>
          <a:ln/>
        </p:spPr>
        <p:txBody>
          <a:bodyPr wrap="square" lIns="0" tIns="0" rIns="0" bIns="0" rtlCol="0" anchor="t"/>
          <a:lstStyle/>
          <a:p>
            <a:pPr algn="ctr" indent="0" marL="0">
              <a:buNone/>
            </a:pPr>
            <a:r>
              <a:rPr lang="en-US" sz="1100" i="1" dirty="0">
                <a:solidFill>
                  <a:schemeClr val="accent5"/>
                </a:solidFill>
              </a:rPr>
              <a:t>output of layer i is the input to layer i + 1</a:t>
            </a:r>
            <a:endParaRPr lang="en-US" sz="1100" dirty="0"/>
          </a:p>
        </p:txBody>
      </p:sp>
      <p:sp>
        <p:nvSpPr>
          <p:cNvPr id="13" name="Text 11"/>
          <p:cNvSpPr txBox="1"/>
          <p:nvPr/>
        </p:nvSpPr>
        <p:spPr>
          <a:xfrm>
            <a:off x="3794760" y="2331720"/>
            <a:ext cx="3200400" cy="457200"/>
          </a:xfrm>
          <a:prstGeom prst="roundRect">
            <a:avLst>
              <a:gd name="adj" fmla="val 16000"/>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200" dirty="0">
                <a:solidFill>
                  <a:schemeClr val="bg1"/>
                </a:solidFill>
              </a:rPr>
              <a:t>Add &amp; LayerNorm (residual)</a:t>
            </a:r>
            <a:endParaRPr lang="en-US" sz="1200" dirty="0"/>
          </a:p>
        </p:txBody>
      </p:sp>
      <p:sp>
        <p:nvSpPr>
          <p:cNvPr id="14" name="Shape 12"/>
          <p:cNvSpPr/>
          <p:nvPr/>
        </p:nvSpPr>
        <p:spPr>
          <a:xfrm flipV="1">
            <a:off x="5394960" y="2788920"/>
            <a:ext cx="0" cy="228600"/>
          </a:xfrm>
          <a:prstGeom prst="line">
            <a:avLst/>
          </a:prstGeom>
          <a:noFill/>
          <a:ln w="19050">
            <a:solidFill>
              <a:schemeClr val="tx2"/>
            </a:solidFill>
            <a:prstDash val="solid"/>
            <a:tailEnd type="triangle"/>
          </a:ln>
        </p:spPr>
      </p:sp>
      <p:sp>
        <p:nvSpPr>
          <p:cNvPr id="15" name="Text 13"/>
          <p:cNvSpPr txBox="1"/>
          <p:nvPr/>
        </p:nvSpPr>
        <p:spPr>
          <a:xfrm>
            <a:off x="3794760" y="3017520"/>
            <a:ext cx="3200400" cy="457200"/>
          </a:xfrm>
          <a:prstGeom prst="roundRect">
            <a:avLst>
              <a:gd name="adj" fmla="val 16000"/>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200" dirty="0">
                <a:solidFill>
                  <a:schemeClr val="bg1"/>
                </a:solidFill>
              </a:rPr>
              <a:t>Feed-forward network (MLP)</a:t>
            </a:r>
            <a:endParaRPr lang="en-US" sz="1200" dirty="0"/>
          </a:p>
        </p:txBody>
      </p:sp>
      <p:sp>
        <p:nvSpPr>
          <p:cNvPr id="16" name="Shape 14"/>
          <p:cNvSpPr/>
          <p:nvPr/>
        </p:nvSpPr>
        <p:spPr>
          <a:xfrm flipV="1">
            <a:off x="5394960" y="3474720"/>
            <a:ext cx="0" cy="228600"/>
          </a:xfrm>
          <a:prstGeom prst="line">
            <a:avLst/>
          </a:prstGeom>
          <a:noFill/>
          <a:ln w="19050">
            <a:solidFill>
              <a:schemeClr val="tx2"/>
            </a:solidFill>
            <a:prstDash val="solid"/>
            <a:tailEnd type="triangle"/>
          </a:ln>
        </p:spPr>
      </p:sp>
      <p:sp>
        <p:nvSpPr>
          <p:cNvPr id="17" name="Text 15"/>
          <p:cNvSpPr txBox="1"/>
          <p:nvPr/>
        </p:nvSpPr>
        <p:spPr>
          <a:xfrm>
            <a:off x="3794760" y="3703320"/>
            <a:ext cx="3200400" cy="457200"/>
          </a:xfrm>
          <a:prstGeom prst="roundRect">
            <a:avLst>
              <a:gd name="adj" fmla="val 16000"/>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200" dirty="0">
                <a:solidFill>
                  <a:schemeClr val="bg1"/>
                </a:solidFill>
              </a:rPr>
              <a:t>Add &amp; LayerNorm (residual)</a:t>
            </a:r>
            <a:endParaRPr lang="en-US" sz="1200" dirty="0"/>
          </a:p>
        </p:txBody>
      </p:sp>
      <p:sp>
        <p:nvSpPr>
          <p:cNvPr id="18" name="Shape 16"/>
          <p:cNvSpPr/>
          <p:nvPr/>
        </p:nvSpPr>
        <p:spPr>
          <a:xfrm flipV="1">
            <a:off x="5394960" y="4160520"/>
            <a:ext cx="0" cy="228600"/>
          </a:xfrm>
          <a:prstGeom prst="line">
            <a:avLst/>
          </a:prstGeom>
          <a:noFill/>
          <a:ln w="19050">
            <a:solidFill>
              <a:schemeClr val="tx2"/>
            </a:solidFill>
            <a:prstDash val="solid"/>
            <a:tailEnd type="triangle"/>
          </a:ln>
        </p:spPr>
      </p:sp>
      <p:sp>
        <p:nvSpPr>
          <p:cNvPr id="19" name="Text 17"/>
          <p:cNvSpPr txBox="1"/>
          <p:nvPr/>
        </p:nvSpPr>
        <p:spPr>
          <a:xfrm>
            <a:off x="3794760" y="4389120"/>
            <a:ext cx="3200400" cy="457200"/>
          </a:xfrm>
          <a:prstGeom prst="roundRect">
            <a:avLst>
              <a:gd name="adj" fmla="val 16000"/>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200" dirty="0">
                <a:solidFill>
                  <a:schemeClr val="bg1"/>
                </a:solidFill>
              </a:rPr>
              <a:t>Masked multi-head self-attention</a:t>
            </a:r>
            <a:endParaRPr lang="en-US" sz="1200" dirty="0"/>
          </a:p>
        </p:txBody>
      </p:sp>
      <p:sp>
        <p:nvSpPr>
          <p:cNvPr id="20" name="Shape 18"/>
          <p:cNvSpPr/>
          <p:nvPr/>
        </p:nvSpPr>
        <p:spPr>
          <a:xfrm>
            <a:off x="2926080" y="4617720"/>
            <a:ext cx="868680" cy="0"/>
          </a:xfrm>
          <a:prstGeom prst="line">
            <a:avLst/>
          </a:prstGeom>
          <a:noFill/>
          <a:ln w="19050">
            <a:solidFill>
              <a:schemeClr val="tx2"/>
            </a:solidFill>
            <a:prstDash val="solid"/>
            <a:tailEnd type="triangle"/>
          </a:ln>
        </p:spPr>
      </p:sp>
      <p:sp>
        <p:nvSpPr>
          <p:cNvPr id="21" name="Shape 19"/>
          <p:cNvSpPr/>
          <p:nvPr/>
        </p:nvSpPr>
        <p:spPr>
          <a:xfrm>
            <a:off x="7269480" y="1737360"/>
            <a:ext cx="594360" cy="0"/>
          </a:xfrm>
          <a:prstGeom prst="line">
            <a:avLst/>
          </a:prstGeom>
          <a:noFill/>
          <a:ln w="19050">
            <a:solidFill>
              <a:schemeClr val="tx2"/>
            </a:solidFill>
            <a:prstDash val="solid"/>
            <a:tailEnd type="triangle"/>
          </a:ln>
        </p:spPr>
      </p:sp>
      <p:sp>
        <p:nvSpPr>
          <p:cNvPr id="22" name="Text 20"/>
          <p:cNvSpPr txBox="1"/>
          <p:nvPr/>
        </p:nvSpPr>
        <p:spPr>
          <a:xfrm>
            <a:off x="7863840" y="1371600"/>
            <a:ext cx="1828800" cy="731520"/>
          </a:xfrm>
          <a:prstGeom prst="roundRect">
            <a:avLst>
              <a:gd name="adj" fmla="val 10000"/>
            </a:avLst>
          </a:prstGeom>
          <a:solidFill>
            <a:schemeClr val="accent1">
              <a:alpha val="14000"/>
            </a:schemeClr>
          </a:solidFill>
          <a:ln w="9525">
            <a:solidFill>
              <a:schemeClr val="accent1"/>
            </a:solidFill>
          </a:ln>
        </p:spPr>
        <p:txBody>
          <a:bodyPr wrap="square" lIns="50800" tIns="50800" rIns="50800" bIns="50800" rtlCol="0" anchor="ctr"/>
          <a:lstStyle/>
          <a:p>
            <a:pPr algn="ctr" indent="0" marL="0">
              <a:buNone/>
            </a:pPr>
            <a:r>
              <a:rPr lang="en-US" sz="1200" b="1" dirty="0">
                <a:solidFill>
                  <a:schemeClr val="tx1"/>
                </a:solidFill>
              </a:rPr>
              <a:t>LM head</a:t>
            </a:r>
            <a:endParaRPr lang="en-US" sz="1200" dirty="0"/>
          </a:p>
          <a:p>
            <a:pPr algn="ctr" indent="0" marL="0">
              <a:buNone/>
            </a:pPr>
            <a:r>
              <a:rPr lang="en-US" sz="1100" dirty="0">
                <a:solidFill>
                  <a:schemeClr val="tx1"/>
                </a:solidFill>
              </a:rPr>
              <a:t>linear → logits over vocabulary</a:t>
            </a:r>
            <a:endParaRPr lang="en-US" sz="1200" dirty="0"/>
          </a:p>
        </p:txBody>
      </p:sp>
      <p:sp>
        <p:nvSpPr>
          <p:cNvPr id="23" name="Shape 21"/>
          <p:cNvSpPr/>
          <p:nvPr/>
        </p:nvSpPr>
        <p:spPr>
          <a:xfrm>
            <a:off x="8778240" y="2103120"/>
            <a:ext cx="0" cy="228600"/>
          </a:xfrm>
          <a:prstGeom prst="line">
            <a:avLst/>
          </a:prstGeom>
          <a:noFill/>
          <a:ln w="19050">
            <a:solidFill>
              <a:schemeClr val="accent1"/>
            </a:solidFill>
            <a:prstDash val="solid"/>
            <a:tailEnd type="triangle"/>
          </a:ln>
        </p:spPr>
      </p:sp>
      <p:sp>
        <p:nvSpPr>
          <p:cNvPr id="24" name="Text 22"/>
          <p:cNvSpPr txBox="1"/>
          <p:nvPr/>
        </p:nvSpPr>
        <p:spPr>
          <a:xfrm>
            <a:off x="7863840" y="2331720"/>
            <a:ext cx="1828800" cy="731520"/>
          </a:xfrm>
          <a:prstGeom prst="roundRect">
            <a:avLst>
              <a:gd name="adj" fmla="val 10000"/>
            </a:avLst>
          </a:prstGeom>
          <a:solidFill>
            <a:schemeClr val="accent1">
              <a:alpha val="14000"/>
            </a:schemeClr>
          </a:solidFill>
          <a:ln w="9525">
            <a:solidFill>
              <a:schemeClr val="accent1"/>
            </a:solidFill>
          </a:ln>
        </p:spPr>
        <p:txBody>
          <a:bodyPr wrap="square" lIns="50800" tIns="50800" rIns="50800" bIns="50800" rtlCol="0" anchor="ctr"/>
          <a:lstStyle/>
          <a:p>
            <a:pPr algn="ctr" indent="0" marL="0">
              <a:buNone/>
            </a:pPr>
            <a:r>
              <a:rPr lang="en-US" sz="1200" b="1" dirty="0">
                <a:solidFill>
                  <a:schemeClr val="tx1"/>
                </a:solidFill>
              </a:rPr>
              <a:t>Softmax</a:t>
            </a:r>
            <a:endParaRPr lang="en-US" sz="1200" dirty="0"/>
          </a:p>
          <a:p>
            <a:pPr algn="ctr" indent="0" marL="0">
              <a:buNone/>
            </a:pPr>
            <a:r>
              <a:rPr lang="en-US" sz="1100" dirty="0">
                <a:solidFill>
                  <a:schemeClr val="tx1"/>
                </a:solidFill>
              </a:rPr>
              <a:t>logits → probabilities</a:t>
            </a:r>
            <a:endParaRPr lang="en-US" sz="1200" dirty="0"/>
          </a:p>
        </p:txBody>
      </p:sp>
      <p:sp>
        <p:nvSpPr>
          <p:cNvPr id="25" name="Shape 23"/>
          <p:cNvSpPr/>
          <p:nvPr/>
        </p:nvSpPr>
        <p:spPr>
          <a:xfrm>
            <a:off x="8778240" y="3063240"/>
            <a:ext cx="0" cy="228600"/>
          </a:xfrm>
          <a:prstGeom prst="line">
            <a:avLst/>
          </a:prstGeom>
          <a:noFill/>
          <a:ln w="19050">
            <a:solidFill>
              <a:schemeClr val="accent1"/>
            </a:solidFill>
            <a:prstDash val="solid"/>
            <a:tailEnd type="triangle"/>
          </a:ln>
        </p:spPr>
      </p:sp>
      <p:sp>
        <p:nvSpPr>
          <p:cNvPr id="26" name="Text 24"/>
          <p:cNvSpPr txBox="1"/>
          <p:nvPr/>
        </p:nvSpPr>
        <p:spPr>
          <a:xfrm>
            <a:off x="7863840" y="3291840"/>
            <a:ext cx="1828800" cy="731520"/>
          </a:xfrm>
          <a:prstGeom prst="roundRect">
            <a:avLst>
              <a:gd name="adj" fmla="val 10000"/>
            </a:avLst>
          </a:prstGeom>
          <a:solidFill>
            <a:schemeClr val="accent1">
              <a:alpha val="14000"/>
            </a:schemeClr>
          </a:solidFill>
          <a:ln w="9525">
            <a:solidFill>
              <a:schemeClr val="accent1"/>
            </a:solidFill>
          </a:ln>
        </p:spPr>
        <p:txBody>
          <a:bodyPr wrap="square" lIns="50800" tIns="50800" rIns="50800" bIns="50800" rtlCol="0" anchor="ctr"/>
          <a:lstStyle/>
          <a:p>
            <a:pPr algn="ctr" indent="0" marL="0">
              <a:buNone/>
            </a:pPr>
            <a:r>
              <a:rPr lang="en-US" sz="1200" b="1" dirty="0">
                <a:solidFill>
                  <a:schemeClr val="tx1"/>
                </a:solidFill>
              </a:rPr>
              <a:t>Sampling</a:t>
            </a:r>
            <a:endParaRPr lang="en-US" sz="1200" dirty="0"/>
          </a:p>
          <a:p>
            <a:pPr algn="ctr" indent="0" marL="0">
              <a:buNone/>
            </a:pPr>
            <a:r>
              <a:rPr lang="en-US" sz="1100" dirty="0">
                <a:solidFill>
                  <a:schemeClr val="tx1"/>
                </a:solidFill>
              </a:rPr>
              <a:t>temperature · top-k · top-p</a:t>
            </a:r>
            <a:endParaRPr lang="en-US" sz="1200" dirty="0"/>
          </a:p>
        </p:txBody>
      </p:sp>
      <p:sp>
        <p:nvSpPr>
          <p:cNvPr id="27" name="Shape 25"/>
          <p:cNvSpPr/>
          <p:nvPr/>
        </p:nvSpPr>
        <p:spPr>
          <a:xfrm>
            <a:off x="8778240" y="4023360"/>
            <a:ext cx="0" cy="228600"/>
          </a:xfrm>
          <a:prstGeom prst="line">
            <a:avLst/>
          </a:prstGeom>
          <a:noFill/>
          <a:ln w="19050">
            <a:solidFill>
              <a:schemeClr val="accent1"/>
            </a:solidFill>
            <a:prstDash val="solid"/>
            <a:tailEnd type="triangle"/>
          </a:ln>
        </p:spPr>
      </p:sp>
      <p:sp>
        <p:nvSpPr>
          <p:cNvPr id="28" name="Text 26"/>
          <p:cNvSpPr txBox="1"/>
          <p:nvPr/>
        </p:nvSpPr>
        <p:spPr>
          <a:xfrm>
            <a:off x="7863840" y="4251960"/>
            <a:ext cx="1828800" cy="731520"/>
          </a:xfrm>
          <a:prstGeom prst="roundRect">
            <a:avLst>
              <a:gd name="adj" fmla="val 10000"/>
            </a:avLst>
          </a:prstGeom>
          <a:solidFill>
            <a:schemeClr val="accent2">
              <a:alpha val="60000"/>
            </a:schemeClr>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Next token</a:t>
            </a:r>
            <a:endParaRPr lang="en-US" sz="1200" dirty="0"/>
          </a:p>
          <a:p>
            <a:pPr algn="ctr" indent="0" marL="0">
              <a:buNone/>
            </a:pPr>
            <a:r>
              <a:rPr lang="en-US" sz="1100" dirty="0">
                <a:solidFill>
                  <a:schemeClr val="tx1"/>
                </a:solidFill>
              </a:rPr>
              <a:t>“ Your”</a:t>
            </a:r>
            <a:endParaRPr lang="en-US" sz="1200" dirty="0"/>
          </a:p>
        </p:txBody>
      </p:sp>
      <p:sp>
        <p:nvSpPr>
          <p:cNvPr id="29" name="Shape 27"/>
          <p:cNvSpPr/>
          <p:nvPr/>
        </p:nvSpPr>
        <p:spPr>
          <a:xfrm>
            <a:off x="9692640" y="4617720"/>
            <a:ext cx="320040" cy="0"/>
          </a:xfrm>
          <a:prstGeom prst="line">
            <a:avLst/>
          </a:prstGeom>
          <a:noFill/>
          <a:ln w="19050">
            <a:solidFill>
              <a:schemeClr val="tx2"/>
            </a:solidFill>
            <a:prstDash val="solid"/>
            <a:tailEnd type="triangle"/>
          </a:ln>
        </p:spPr>
      </p:sp>
      <p:sp>
        <p:nvSpPr>
          <p:cNvPr id="30" name="Text 28"/>
          <p:cNvSpPr txBox="1"/>
          <p:nvPr/>
        </p:nvSpPr>
        <p:spPr>
          <a:xfrm>
            <a:off x="10012680" y="4251960"/>
            <a:ext cx="1600200" cy="731520"/>
          </a:xfrm>
          <a:prstGeom prst="roundRect">
            <a:avLst>
              <a:gd name="adj" fmla="val 10000"/>
            </a:avLst>
          </a:prstGeom>
          <a:solidFill>
            <a:schemeClr val="tx2"/>
          </a:solidFill>
          <a:ln w="9525">
            <a:solidFill>
              <a:schemeClr val="tx2"/>
            </a:solidFill>
          </a:ln>
        </p:spPr>
        <p:txBody>
          <a:bodyPr wrap="square" lIns="50800" tIns="50800" rIns="50800" bIns="50800" rtlCol="0" anchor="ctr"/>
          <a:lstStyle/>
          <a:p>
            <a:pPr algn="ctr" indent="0" marL="0">
              <a:buNone/>
            </a:pPr>
            <a:r>
              <a:rPr lang="en-US" sz="1100" dirty="0">
                <a:solidFill>
                  <a:schemeClr val="bg1"/>
                </a:solidFill>
              </a:rPr>
              <a:t>Detokenize → stream response</a:t>
            </a:r>
            <a:endParaRPr lang="en-US" sz="1100" dirty="0"/>
          </a:p>
        </p:txBody>
      </p:sp>
      <p:sp>
        <p:nvSpPr>
          <p:cNvPr id="31" name="Shape 29"/>
          <p:cNvSpPr/>
          <p:nvPr/>
        </p:nvSpPr>
        <p:spPr>
          <a:xfrm>
            <a:off x="10012680" y="1371600"/>
            <a:ext cx="1600200" cy="2377440"/>
          </a:xfrm>
          <a:prstGeom prst="roundRect">
            <a:avLst>
              <a:gd name="adj" fmla="val 5714"/>
            </a:avLst>
          </a:prstGeom>
          <a:solidFill>
            <a:schemeClr val="bg2"/>
          </a:solidFill>
          <a:ln w="9525">
            <a:solidFill>
              <a:schemeClr val="bg2"/>
            </a:solidFill>
            <a:prstDash val="solid"/>
          </a:ln>
        </p:spPr>
      </p:sp>
      <p:sp>
        <p:nvSpPr>
          <p:cNvPr id="32" name="Text 30"/>
          <p:cNvSpPr txBox="1"/>
          <p:nvPr/>
        </p:nvSpPr>
        <p:spPr>
          <a:xfrm>
            <a:off x="10122408" y="1481328"/>
            <a:ext cx="1417320" cy="219456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Typical scale</a:t>
            </a:r>
            <a:endParaRPr lang="en-US" sz="1200" dirty="0"/>
          </a:p>
          <a:p>
            <a:pPr indent="0" marL="0">
              <a:spcAft>
                <a:spcPts val="600"/>
              </a:spcAft>
              <a:buNone/>
            </a:pPr>
            <a:r>
              <a:rPr lang="en-US" sz="1200" dirty="0">
                <a:solidFill>
                  <a:schemeClr val="tx1"/>
                </a:solidFill>
              </a:rPr>
              <a:t>Vocab: 50k–200k</a:t>
            </a:r>
            <a:endParaRPr lang="en-US" sz="1200" dirty="0"/>
          </a:p>
          <a:p>
            <a:pPr indent="0" marL="0">
              <a:spcAft>
                <a:spcPts val="600"/>
              </a:spcAft>
              <a:buNone/>
            </a:pPr>
            <a:r>
              <a:rPr lang="en-US" sz="1200" dirty="0">
                <a:solidFill>
                  <a:schemeClr val="tx1"/>
                </a:solidFill>
              </a:rPr>
              <a:t>Hidden size: 2k–16k</a:t>
            </a:r>
            <a:endParaRPr lang="en-US" sz="1200" dirty="0"/>
          </a:p>
          <a:p>
            <a:pPr indent="0" marL="0">
              <a:spcAft>
                <a:spcPts val="600"/>
              </a:spcAft>
              <a:buNone/>
            </a:pPr>
            <a:r>
              <a:rPr lang="en-US" sz="1200" dirty="0">
                <a:solidFill>
                  <a:schemeClr val="tx1"/>
                </a:solidFill>
              </a:rPr>
              <a:t>Layers: 24–120</a:t>
            </a:r>
            <a:endParaRPr lang="en-US" sz="1200" dirty="0"/>
          </a:p>
          <a:p>
            <a:pPr indent="0" marL="0">
              <a:spcAft>
                <a:spcPts val="600"/>
              </a:spcAft>
              <a:buNone/>
            </a:pPr>
            <a:r>
              <a:rPr lang="en-US" sz="1200" dirty="0">
                <a:solidFill>
                  <a:schemeClr val="tx1"/>
                </a:solidFill>
              </a:rPr>
              <a:t>Context: 8k–1M+ tokens</a:t>
            </a:r>
            <a:endParaRPr lang="en-US" sz="1200" dirty="0"/>
          </a:p>
          <a:p>
            <a:pPr indent="0" marL="0">
              <a:spcAft>
                <a:spcPts val="600"/>
              </a:spcAft>
              <a:buNone/>
            </a:pPr>
            <a:r>
              <a:rPr lang="en-US" sz="1200" dirty="0">
                <a:solidFill>
                  <a:schemeClr val="tx1"/>
                </a:solidFill>
              </a:rPr>
              <a:t>Params: 1B–1T+</a:t>
            </a:r>
            <a:endParaRPr lang="en-US" sz="1200" dirty="0"/>
          </a:p>
        </p:txBody>
      </p:sp>
      <p:sp>
        <p:nvSpPr>
          <p:cNvPr id="33" name="Shape 31"/>
          <p:cNvSpPr/>
          <p:nvPr/>
        </p:nvSpPr>
        <p:spPr>
          <a:xfrm>
            <a:off x="8778240" y="4983480"/>
            <a:ext cx="0" cy="685800"/>
          </a:xfrm>
          <a:prstGeom prst="line">
            <a:avLst/>
          </a:prstGeom>
          <a:noFill/>
          <a:ln w="25400">
            <a:solidFill>
              <a:schemeClr val="accent2"/>
            </a:solidFill>
            <a:prstDash val="solid"/>
          </a:ln>
        </p:spPr>
      </p:sp>
      <p:sp>
        <p:nvSpPr>
          <p:cNvPr id="34" name="Shape 32"/>
          <p:cNvSpPr/>
          <p:nvPr/>
        </p:nvSpPr>
        <p:spPr>
          <a:xfrm flipH="1">
            <a:off x="1737360" y="5669280"/>
            <a:ext cx="7040880" cy="0"/>
          </a:xfrm>
          <a:prstGeom prst="line">
            <a:avLst/>
          </a:prstGeom>
          <a:noFill/>
          <a:ln w="25400">
            <a:solidFill>
              <a:schemeClr val="accent2"/>
            </a:solidFill>
            <a:prstDash val="solid"/>
          </a:ln>
        </p:spPr>
      </p:sp>
      <p:sp>
        <p:nvSpPr>
          <p:cNvPr id="35" name="Shape 33"/>
          <p:cNvSpPr/>
          <p:nvPr/>
        </p:nvSpPr>
        <p:spPr>
          <a:xfrm flipV="1">
            <a:off x="1737360" y="4983480"/>
            <a:ext cx="0" cy="685800"/>
          </a:xfrm>
          <a:prstGeom prst="line">
            <a:avLst/>
          </a:prstGeom>
          <a:noFill/>
          <a:ln w="25400">
            <a:solidFill>
              <a:schemeClr val="accent2"/>
            </a:solidFill>
            <a:prstDash val="solid"/>
            <a:tailEnd type="triangle"/>
          </a:ln>
        </p:spPr>
      </p:sp>
      <p:sp>
        <p:nvSpPr>
          <p:cNvPr id="36" name="Text 34"/>
          <p:cNvSpPr txBox="1"/>
          <p:nvPr/>
        </p:nvSpPr>
        <p:spPr>
          <a:xfrm>
            <a:off x="2011680" y="5760720"/>
            <a:ext cx="6583680" cy="320040"/>
          </a:xfrm>
          <a:prstGeom prst="rect">
            <a:avLst/>
          </a:prstGeom>
          <a:noFill/>
          <a:ln/>
        </p:spPr>
        <p:txBody>
          <a:bodyPr wrap="square" lIns="0" tIns="0" rIns="0" bIns="0" rtlCol="0" anchor="t"/>
          <a:lstStyle/>
          <a:p>
            <a:pPr algn="ctr" indent="0" marL="0">
              <a:buNone/>
            </a:pPr>
            <a:r>
              <a:rPr lang="en-US" sz="1200" i="1" dirty="0">
                <a:solidFill>
                  <a:schemeClr val="tx2"/>
                </a:solidFill>
              </a:rPr>
              <a:t>Autoregressive loop: append the new token, reuse the KV cache, repeat until &lt;EOS&gt; or max tokens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Self-Attention: How Tokens Understand Context</a:t>
            </a:r>
            <a:endParaRPr lang="en-US" sz="3200" dirty="0"/>
          </a:p>
        </p:txBody>
      </p:sp>
      <p:sp>
        <p:nvSpPr>
          <p:cNvPr id="3" name="Text 1"/>
          <p:cNvSpPr txBox="1"/>
          <p:nvPr/>
        </p:nvSpPr>
        <p:spPr>
          <a:xfrm>
            <a:off x="548640" y="14173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 2"/>
          <p:cNvSpPr txBox="1"/>
          <p:nvPr/>
        </p:nvSpPr>
        <p:spPr>
          <a:xfrm>
            <a:off x="1188720" y="1371600"/>
            <a:ext cx="4754880" cy="365760"/>
          </a:xfrm>
          <a:prstGeom prst="rect">
            <a:avLst/>
          </a:prstGeom>
          <a:noFill/>
          <a:ln/>
        </p:spPr>
        <p:txBody>
          <a:bodyPr wrap="square" lIns="0" tIns="0" rIns="0" bIns="0" rtlCol="0" anchor="t"/>
          <a:lstStyle/>
          <a:p>
            <a:pPr indent="0" marL="0">
              <a:buNone/>
            </a:pPr>
            <a:r>
              <a:rPr lang="en-US" sz="1500" b="1" dirty="0">
                <a:solidFill>
                  <a:schemeClr val="tx2"/>
                </a:solidFill>
              </a:rPr>
              <a:t>Project</a:t>
            </a:r>
            <a:endParaRPr lang="en-US" sz="1500" dirty="0"/>
          </a:p>
        </p:txBody>
      </p:sp>
      <p:sp>
        <p:nvSpPr>
          <p:cNvPr id="5" name="Text 3"/>
          <p:cNvSpPr txBox="1"/>
          <p:nvPr/>
        </p:nvSpPr>
        <p:spPr>
          <a:xfrm>
            <a:off x="1188720" y="1737360"/>
            <a:ext cx="4754880" cy="777240"/>
          </a:xfrm>
          <a:prstGeom prst="rect">
            <a:avLst/>
          </a:prstGeom>
          <a:noFill/>
          <a:ln/>
        </p:spPr>
        <p:txBody>
          <a:bodyPr wrap="square" lIns="0" tIns="0" rIns="0" bIns="0" rtlCol="0" anchor="t"/>
          <a:lstStyle/>
          <a:p>
            <a:pPr indent="0" marL="0">
              <a:buNone/>
            </a:pPr>
            <a:r>
              <a:rPr lang="en-US" sz="1300" dirty="0">
                <a:solidFill>
                  <a:schemeClr val="tx1"/>
                </a:solidFill>
              </a:rPr>
              <a:t>Each token vector is multiplied by learned matrices to form a Query (what am I looking for?), Key (what do I contain?) and Value (what do I pass on?).</a:t>
            </a:r>
            <a:endParaRPr lang="en-US" sz="1300" dirty="0"/>
          </a:p>
        </p:txBody>
      </p:sp>
      <p:sp>
        <p:nvSpPr>
          <p:cNvPr id="6" name="Text 4"/>
          <p:cNvSpPr txBox="1"/>
          <p:nvPr/>
        </p:nvSpPr>
        <p:spPr>
          <a:xfrm>
            <a:off x="548640" y="26060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Text 5"/>
          <p:cNvSpPr txBox="1"/>
          <p:nvPr/>
        </p:nvSpPr>
        <p:spPr>
          <a:xfrm>
            <a:off x="1188720" y="2560320"/>
            <a:ext cx="4754880" cy="365760"/>
          </a:xfrm>
          <a:prstGeom prst="rect">
            <a:avLst/>
          </a:prstGeom>
          <a:noFill/>
          <a:ln/>
        </p:spPr>
        <p:txBody>
          <a:bodyPr wrap="square" lIns="0" tIns="0" rIns="0" bIns="0" rtlCol="0" anchor="t"/>
          <a:lstStyle/>
          <a:p>
            <a:pPr indent="0" marL="0">
              <a:buNone/>
            </a:pPr>
            <a:r>
              <a:rPr lang="en-US" sz="1500" b="1" dirty="0">
                <a:solidFill>
                  <a:schemeClr val="tx2"/>
                </a:solidFill>
              </a:rPr>
              <a:t>Score</a:t>
            </a:r>
            <a:endParaRPr lang="en-US" sz="1500" dirty="0"/>
          </a:p>
        </p:txBody>
      </p:sp>
      <p:sp>
        <p:nvSpPr>
          <p:cNvPr id="8" name="Text 6"/>
          <p:cNvSpPr txBox="1"/>
          <p:nvPr/>
        </p:nvSpPr>
        <p:spPr>
          <a:xfrm>
            <a:off x="1188720" y="2926080"/>
            <a:ext cx="4754880" cy="777240"/>
          </a:xfrm>
          <a:prstGeom prst="rect">
            <a:avLst/>
          </a:prstGeom>
          <a:noFill/>
          <a:ln/>
        </p:spPr>
        <p:txBody>
          <a:bodyPr wrap="square" lIns="0" tIns="0" rIns="0" bIns="0" rtlCol="0" anchor="t"/>
          <a:lstStyle/>
          <a:p>
            <a:pPr indent="0" marL="0">
              <a:buNone/>
            </a:pPr>
            <a:r>
              <a:rPr lang="en-US" sz="1300" dirty="0">
                <a:solidFill>
                  <a:schemeClr val="tx1"/>
                </a:solidFill>
              </a:rPr>
              <a:t>Compare a token’s Query with every earlier token’s Key (dot product, scaled by √dₖ) to measure relevance.</a:t>
            </a:r>
            <a:endParaRPr lang="en-US" sz="1300" dirty="0"/>
          </a:p>
        </p:txBody>
      </p:sp>
      <p:sp>
        <p:nvSpPr>
          <p:cNvPr id="9" name="Text 7"/>
          <p:cNvSpPr txBox="1"/>
          <p:nvPr/>
        </p:nvSpPr>
        <p:spPr>
          <a:xfrm>
            <a:off x="548640" y="37947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 8"/>
          <p:cNvSpPr txBox="1"/>
          <p:nvPr/>
        </p:nvSpPr>
        <p:spPr>
          <a:xfrm>
            <a:off x="1188720" y="3749040"/>
            <a:ext cx="4754880" cy="365760"/>
          </a:xfrm>
          <a:prstGeom prst="rect">
            <a:avLst/>
          </a:prstGeom>
          <a:noFill/>
          <a:ln/>
        </p:spPr>
        <p:txBody>
          <a:bodyPr wrap="square" lIns="0" tIns="0" rIns="0" bIns="0" rtlCol="0" anchor="t"/>
          <a:lstStyle/>
          <a:p>
            <a:pPr indent="0" marL="0">
              <a:buNone/>
            </a:pPr>
            <a:r>
              <a:rPr lang="en-US" sz="1500" b="1" dirty="0">
                <a:solidFill>
                  <a:schemeClr val="tx2"/>
                </a:solidFill>
              </a:rPr>
              <a:t>Weight</a:t>
            </a:r>
            <a:endParaRPr lang="en-US" sz="1500" dirty="0"/>
          </a:p>
        </p:txBody>
      </p:sp>
      <p:sp>
        <p:nvSpPr>
          <p:cNvPr id="11" name="Text 9"/>
          <p:cNvSpPr txBox="1"/>
          <p:nvPr/>
        </p:nvSpPr>
        <p:spPr>
          <a:xfrm>
            <a:off x="1188720" y="4114800"/>
            <a:ext cx="4754880" cy="777240"/>
          </a:xfrm>
          <a:prstGeom prst="rect">
            <a:avLst/>
          </a:prstGeom>
          <a:noFill/>
          <a:ln/>
        </p:spPr>
        <p:txBody>
          <a:bodyPr wrap="square" lIns="0" tIns="0" rIns="0" bIns="0" rtlCol="0" anchor="t"/>
          <a:lstStyle/>
          <a:p>
            <a:pPr indent="0" marL="0">
              <a:buNone/>
            </a:pPr>
            <a:r>
              <a:rPr lang="en-US" sz="1300" dirty="0">
                <a:solidFill>
                  <a:schemeClr val="tx1"/>
                </a:solidFill>
              </a:rPr>
              <a:t>Softmax turns scores into weights that sum to 1; a causal mask hides future tokens.</a:t>
            </a:r>
            <a:endParaRPr lang="en-US" sz="1300" dirty="0"/>
          </a:p>
        </p:txBody>
      </p:sp>
      <p:sp>
        <p:nvSpPr>
          <p:cNvPr id="12" name="Text 10"/>
          <p:cNvSpPr txBox="1"/>
          <p:nvPr/>
        </p:nvSpPr>
        <p:spPr>
          <a:xfrm>
            <a:off x="548640" y="49834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3" name="Text 11"/>
          <p:cNvSpPr txBox="1"/>
          <p:nvPr/>
        </p:nvSpPr>
        <p:spPr>
          <a:xfrm>
            <a:off x="1188720" y="4937760"/>
            <a:ext cx="4754880" cy="365760"/>
          </a:xfrm>
          <a:prstGeom prst="rect">
            <a:avLst/>
          </a:prstGeom>
          <a:noFill/>
          <a:ln/>
        </p:spPr>
        <p:txBody>
          <a:bodyPr wrap="square" lIns="0" tIns="0" rIns="0" bIns="0" rtlCol="0" anchor="t"/>
          <a:lstStyle/>
          <a:p>
            <a:pPr indent="0" marL="0">
              <a:buNone/>
            </a:pPr>
            <a:r>
              <a:rPr lang="en-US" sz="1500" b="1" dirty="0">
                <a:solidFill>
                  <a:schemeClr val="tx2"/>
                </a:solidFill>
              </a:rPr>
              <a:t>Mix</a:t>
            </a:r>
            <a:endParaRPr lang="en-US" sz="1500" dirty="0"/>
          </a:p>
        </p:txBody>
      </p:sp>
      <p:sp>
        <p:nvSpPr>
          <p:cNvPr id="14" name="Text 12"/>
          <p:cNvSpPr txBox="1"/>
          <p:nvPr/>
        </p:nvSpPr>
        <p:spPr>
          <a:xfrm>
            <a:off x="1188720" y="5303520"/>
            <a:ext cx="4754880" cy="777240"/>
          </a:xfrm>
          <a:prstGeom prst="rect">
            <a:avLst/>
          </a:prstGeom>
          <a:noFill/>
          <a:ln/>
        </p:spPr>
        <p:txBody>
          <a:bodyPr wrap="square" lIns="0" tIns="0" rIns="0" bIns="0" rtlCol="0" anchor="t"/>
          <a:lstStyle/>
          <a:p>
            <a:pPr indent="0" marL="0">
              <a:buNone/>
            </a:pPr>
            <a:r>
              <a:rPr lang="en-US" sz="1300" dirty="0">
                <a:solidFill>
                  <a:schemeClr val="tx1"/>
                </a:solidFill>
              </a:rPr>
              <a:t>Output = weighted sum of Values. Many heads run in parallel, each learning different relations; the FFN then refines each token.</a:t>
            </a:r>
            <a:endParaRPr lang="en-US" sz="1300" dirty="0"/>
          </a:p>
        </p:txBody>
      </p:sp>
      <p:sp>
        <p:nvSpPr>
          <p:cNvPr id="15" name="Text 13"/>
          <p:cNvSpPr txBox="1"/>
          <p:nvPr/>
        </p:nvSpPr>
        <p:spPr>
          <a:xfrm>
            <a:off x="6355080" y="1371600"/>
            <a:ext cx="5257800" cy="685800"/>
          </a:xfrm>
          <a:prstGeom prst="roundRect">
            <a:avLst>
              <a:gd name="adj" fmla="val 10667"/>
            </a:avLst>
          </a:prstGeom>
          <a:solidFill>
            <a:schemeClr val="accent2">
              <a:alpha val="25000"/>
            </a:schemeClr>
          </a:solidFill>
          <a:ln w="9525">
            <a:solidFill>
              <a:schemeClr val="accent2"/>
            </a:solidFill>
          </a:ln>
        </p:spPr>
        <p:txBody>
          <a:bodyPr wrap="square" lIns="50800" tIns="50800" rIns="50800" bIns="5080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Attention(Q, K, V) = softmax( Q·Kᵀ / √dₖ ) · V</a:t>
            </a:r>
            <a:endParaRPr lang="en-US" sz="1800" dirty="0"/>
          </a:p>
        </p:txBody>
      </p:sp>
      <p:graphicFrame>
        <p:nvGraphicFramePr>
          <p:cNvPr id="16" name="Chart 0" descr=""/>
          <p:cNvGraphicFramePr/>
          <p:nvPr/>
        </p:nvGraphicFramePr>
        <p:xfrm>
          <a:off x="6355080" y="2194560"/>
          <a:ext cx="5257800" cy="35661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355080" y="5806440"/>
            <a:ext cx="5257800" cy="457200"/>
          </a:xfrm>
          <a:prstGeom prst="rect">
            <a:avLst/>
          </a:prstGeom>
          <a:noFill/>
          <a:ln/>
        </p:spPr>
        <p:txBody>
          <a:bodyPr wrap="square" lIns="0" tIns="0" rIns="0" bIns="0" rtlCol="0" anchor="t"/>
          <a:lstStyle/>
          <a:p>
            <a:pPr indent="0" marL="0">
              <a:buNone/>
            </a:pPr>
            <a:r>
              <a:rPr lang="en-US" sz="1200" i="1" dirty="0">
                <a:solidFill>
                  <a:schemeClr val="accent5"/>
                </a:solidFill>
              </a:rPr>
              <a:t>Sentence: “The customer repaid the loan because it was due.” Attention lets “it” resolve to “loan”, not “customer”.</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Decoding: From Probabilities to Words</a:t>
            </a:r>
            <a:endParaRPr lang="en-US" sz="3200" dirty="0"/>
          </a:p>
        </p:txBody>
      </p:sp>
      <p:graphicFrame>
        <p:nvGraphicFramePr>
          <p:cNvPr id="3" name="Chart 0" descr=""/>
          <p:cNvGraphicFramePr/>
          <p:nvPr/>
        </p:nvGraphicFramePr>
        <p:xfrm>
          <a:off x="548640" y="137160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371600"/>
            <a:ext cx="4114800" cy="320040"/>
          </a:xfrm>
          <a:prstGeom prst="rect">
            <a:avLst/>
          </a:prstGeom>
          <a:noFill/>
          <a:ln/>
        </p:spPr>
        <p:txBody>
          <a:bodyPr wrap="square" lIns="0" tIns="0" rIns="0" bIns="0" rtlCol="0" anchor="t"/>
          <a:lstStyle/>
          <a:p>
            <a:pPr indent="0" marL="0">
              <a:buNone/>
            </a:pPr>
            <a:r>
              <a:rPr lang="en-US" sz="1500" b="1" dirty="0">
                <a:solidFill>
                  <a:schemeClr val="tx2"/>
                </a:solidFill>
              </a:rPr>
              <a:t>Greedy</a:t>
            </a:r>
            <a:endParaRPr lang="en-US" sz="1500" dirty="0"/>
          </a:p>
        </p:txBody>
      </p:sp>
      <p:sp>
        <p:nvSpPr>
          <p:cNvPr id="5" name="Text 2"/>
          <p:cNvSpPr txBox="1"/>
          <p:nvPr/>
        </p:nvSpPr>
        <p:spPr>
          <a:xfrm>
            <a:off x="7498080" y="1700784"/>
            <a:ext cx="4114800" cy="594360"/>
          </a:xfrm>
          <a:prstGeom prst="rect">
            <a:avLst/>
          </a:prstGeom>
          <a:noFill/>
          <a:ln/>
        </p:spPr>
        <p:txBody>
          <a:bodyPr wrap="square" lIns="0" tIns="0" rIns="0" bIns="0" rtlCol="0" anchor="t"/>
          <a:lstStyle/>
          <a:p>
            <a:pPr indent="0" marL="0">
              <a:buNone/>
            </a:pPr>
            <a:r>
              <a:rPr lang="en-US" sz="1300" dirty="0">
                <a:solidFill>
                  <a:schemeClr val="tx1"/>
                </a:solidFill>
              </a:rPr>
              <a:t>Always pick the most likely token. Deterministic, but can be repetitive.</a:t>
            </a:r>
            <a:endParaRPr lang="en-US" sz="1300" dirty="0"/>
          </a:p>
        </p:txBody>
      </p:sp>
      <p:sp>
        <p:nvSpPr>
          <p:cNvPr id="6" name="Text 3"/>
          <p:cNvSpPr txBox="1"/>
          <p:nvPr/>
        </p:nvSpPr>
        <p:spPr>
          <a:xfrm>
            <a:off x="7498080" y="2331720"/>
            <a:ext cx="4114800" cy="320040"/>
          </a:xfrm>
          <a:prstGeom prst="rect">
            <a:avLst/>
          </a:prstGeom>
          <a:noFill/>
          <a:ln/>
        </p:spPr>
        <p:txBody>
          <a:bodyPr wrap="square" lIns="0" tIns="0" rIns="0" bIns="0" rtlCol="0" anchor="t"/>
          <a:lstStyle/>
          <a:p>
            <a:pPr indent="0" marL="0">
              <a:buNone/>
            </a:pPr>
            <a:r>
              <a:rPr lang="en-US" sz="1500" b="1" dirty="0">
                <a:solidFill>
                  <a:schemeClr val="tx2"/>
                </a:solidFill>
              </a:rPr>
              <a:t>Temperature</a:t>
            </a:r>
            <a:endParaRPr lang="en-US" sz="1500" dirty="0"/>
          </a:p>
        </p:txBody>
      </p:sp>
      <p:sp>
        <p:nvSpPr>
          <p:cNvPr id="7" name="Text 4"/>
          <p:cNvSpPr txBox="1"/>
          <p:nvPr/>
        </p:nvSpPr>
        <p:spPr>
          <a:xfrm>
            <a:off x="7498080" y="2660904"/>
            <a:ext cx="4114800" cy="594360"/>
          </a:xfrm>
          <a:prstGeom prst="rect">
            <a:avLst/>
          </a:prstGeom>
          <a:noFill/>
          <a:ln/>
        </p:spPr>
        <p:txBody>
          <a:bodyPr wrap="square" lIns="0" tIns="0" rIns="0" bIns="0" rtlCol="0" anchor="t"/>
          <a:lstStyle/>
          <a:p>
            <a:pPr indent="0" marL="0">
              <a:buNone/>
            </a:pPr>
            <a:r>
              <a:rPr lang="en-US" sz="1300" dirty="0">
                <a:solidFill>
                  <a:schemeClr val="tx1"/>
                </a:solidFill>
              </a:rPr>
              <a:t>Divides logits before softmax: low T sharpens (safer), high T flattens (more varied).</a:t>
            </a:r>
            <a:endParaRPr lang="en-US" sz="1300" dirty="0"/>
          </a:p>
        </p:txBody>
      </p:sp>
      <p:sp>
        <p:nvSpPr>
          <p:cNvPr id="8" name="Text 5"/>
          <p:cNvSpPr txBox="1"/>
          <p:nvPr/>
        </p:nvSpPr>
        <p:spPr>
          <a:xfrm>
            <a:off x="7498080" y="3291840"/>
            <a:ext cx="4114800" cy="320040"/>
          </a:xfrm>
          <a:prstGeom prst="rect">
            <a:avLst/>
          </a:prstGeom>
          <a:noFill/>
          <a:ln/>
        </p:spPr>
        <p:txBody>
          <a:bodyPr wrap="square" lIns="0" tIns="0" rIns="0" bIns="0" rtlCol="0" anchor="t"/>
          <a:lstStyle/>
          <a:p>
            <a:pPr indent="0" marL="0">
              <a:buNone/>
            </a:pPr>
            <a:r>
              <a:rPr lang="en-US" sz="1500" b="1" dirty="0">
                <a:solidFill>
                  <a:schemeClr val="tx2"/>
                </a:solidFill>
              </a:rPr>
              <a:t>Top-k</a:t>
            </a:r>
            <a:endParaRPr lang="en-US" sz="1500" dirty="0"/>
          </a:p>
        </p:txBody>
      </p:sp>
      <p:sp>
        <p:nvSpPr>
          <p:cNvPr id="9" name="Text 6"/>
          <p:cNvSpPr txBox="1"/>
          <p:nvPr/>
        </p:nvSpPr>
        <p:spPr>
          <a:xfrm>
            <a:off x="7498080" y="3621024"/>
            <a:ext cx="4114800" cy="594360"/>
          </a:xfrm>
          <a:prstGeom prst="rect">
            <a:avLst/>
          </a:prstGeom>
          <a:noFill/>
          <a:ln/>
        </p:spPr>
        <p:txBody>
          <a:bodyPr wrap="square" lIns="0" tIns="0" rIns="0" bIns="0" rtlCol="0" anchor="t"/>
          <a:lstStyle/>
          <a:p>
            <a:pPr indent="0" marL="0">
              <a:buNone/>
            </a:pPr>
            <a:r>
              <a:rPr lang="en-US" sz="1300" dirty="0">
                <a:solidFill>
                  <a:schemeClr val="tx1"/>
                </a:solidFill>
              </a:rPr>
              <a:t>Sample only from the k most likely tokens.</a:t>
            </a:r>
            <a:endParaRPr lang="en-US" sz="1300" dirty="0"/>
          </a:p>
        </p:txBody>
      </p:sp>
      <p:sp>
        <p:nvSpPr>
          <p:cNvPr id="10" name="Text 7"/>
          <p:cNvSpPr txBox="1"/>
          <p:nvPr/>
        </p:nvSpPr>
        <p:spPr>
          <a:xfrm>
            <a:off x="7498080" y="4251960"/>
            <a:ext cx="4114800" cy="320040"/>
          </a:xfrm>
          <a:prstGeom prst="rect">
            <a:avLst/>
          </a:prstGeom>
          <a:noFill/>
          <a:ln/>
        </p:spPr>
        <p:txBody>
          <a:bodyPr wrap="square" lIns="0" tIns="0" rIns="0" bIns="0" rtlCol="0" anchor="t"/>
          <a:lstStyle/>
          <a:p>
            <a:pPr indent="0" marL="0">
              <a:buNone/>
            </a:pPr>
            <a:r>
              <a:rPr lang="en-US" sz="1500" b="1" dirty="0">
                <a:solidFill>
                  <a:schemeClr val="tx2"/>
                </a:solidFill>
              </a:rPr>
              <a:t>Top-p (nucleus)</a:t>
            </a:r>
            <a:endParaRPr lang="en-US" sz="1500" dirty="0"/>
          </a:p>
        </p:txBody>
      </p:sp>
      <p:sp>
        <p:nvSpPr>
          <p:cNvPr id="11" name="Text 8"/>
          <p:cNvSpPr txBox="1"/>
          <p:nvPr/>
        </p:nvSpPr>
        <p:spPr>
          <a:xfrm>
            <a:off x="7498080" y="4581144"/>
            <a:ext cx="4114800" cy="594360"/>
          </a:xfrm>
          <a:prstGeom prst="rect">
            <a:avLst/>
          </a:prstGeom>
          <a:noFill/>
          <a:ln/>
        </p:spPr>
        <p:txBody>
          <a:bodyPr wrap="square" lIns="0" tIns="0" rIns="0" bIns="0" rtlCol="0" anchor="t"/>
          <a:lstStyle/>
          <a:p>
            <a:pPr indent="0" marL="0">
              <a:buNone/>
            </a:pPr>
            <a:r>
              <a:rPr lang="en-US" sz="1300" dirty="0">
                <a:solidFill>
                  <a:schemeClr val="tx1"/>
                </a:solidFill>
              </a:rPr>
              <a:t>Sample from the smallest set whose probabilities add up to p (e.g., 0.9).</a:t>
            </a:r>
            <a:endParaRPr lang="en-US" sz="1300" dirty="0"/>
          </a:p>
        </p:txBody>
      </p:sp>
      <p:sp>
        <p:nvSpPr>
          <p:cNvPr id="12" name="Shape 9"/>
          <p:cNvSpPr/>
          <p:nvPr/>
        </p:nvSpPr>
        <p:spPr>
          <a:xfrm>
            <a:off x="7498080" y="5303520"/>
            <a:ext cx="4114800" cy="868680"/>
          </a:xfrm>
          <a:prstGeom prst="roundRect">
            <a:avLst>
              <a:gd name="adj" fmla="val 10526"/>
            </a:avLst>
          </a:prstGeom>
          <a:solidFill>
            <a:schemeClr val="accent1">
              <a:alpha val="15000"/>
            </a:schemeClr>
          </a:solidFill>
          <a:ln w="9525">
            <a:solidFill>
              <a:schemeClr val="accent1"/>
            </a:solidFill>
            <a:prstDash val="solid"/>
          </a:ln>
        </p:spPr>
      </p:sp>
      <p:sp>
        <p:nvSpPr>
          <p:cNvPr id="13" name="Text 10"/>
          <p:cNvSpPr txBox="1"/>
          <p:nvPr/>
        </p:nvSpPr>
        <p:spPr>
          <a:xfrm>
            <a:off x="7680960" y="5303520"/>
            <a:ext cx="3749040" cy="868680"/>
          </a:xfrm>
          <a:prstGeom prst="rect">
            <a:avLst/>
          </a:prstGeom>
          <a:noFill/>
          <a:ln/>
        </p:spPr>
        <p:txBody>
          <a:bodyPr wrap="square" lIns="0" tIns="0" rIns="0" bIns="0" rtlCol="0" anchor="ctr"/>
          <a:lstStyle/>
          <a:p>
            <a:pPr indent="0" marL="0">
              <a:buNone/>
            </a:pPr>
            <a:r>
              <a:rPr lang="en-US" sz="1300" b="1" dirty="0">
                <a:solidFill>
                  <a:schemeClr val="tx2"/>
                </a:solidFill>
              </a:rPr>
              <a:t>Bank default: T ≈ 0–0.3 for factual or customer-facing answers; higher only for creative drafts.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How Other Generative Models Create Data</a:t>
            </a:r>
            <a:endParaRPr lang="en-US" sz="3200" dirty="0"/>
          </a:p>
        </p:txBody>
      </p:sp>
      <p:sp>
        <p:nvSpPr>
          <p:cNvPr id="3" name="Shape 1"/>
          <p:cNvSpPr/>
          <p:nvPr/>
        </p:nvSpPr>
        <p:spPr>
          <a:xfrm>
            <a:off x="548640" y="1371600"/>
            <a:ext cx="3502152" cy="4846320"/>
          </a:xfrm>
          <a:prstGeom prst="roundRect">
            <a:avLst>
              <a:gd name="adj" fmla="val 2611"/>
            </a:avLst>
          </a:prstGeom>
          <a:solidFill>
            <a:schemeClr val="bg2"/>
          </a:solidFill>
          <a:ln w="9525">
            <a:solidFill>
              <a:schemeClr val="bg2"/>
            </a:solidFill>
            <a:prstDash val="solid"/>
          </a:ln>
        </p:spPr>
      </p:sp>
      <p:sp>
        <p:nvSpPr>
          <p:cNvPr id="4" name="Text 2"/>
          <p:cNvSpPr txBox="1"/>
          <p:nvPr/>
        </p:nvSpPr>
        <p:spPr>
          <a:xfrm>
            <a:off x="777240" y="1463040"/>
            <a:ext cx="3017520" cy="41148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GAN</a:t>
            </a:r>
            <a:endParaRPr lang="en-US" sz="1800" dirty="0"/>
          </a:p>
        </p:txBody>
      </p:sp>
      <p:sp>
        <p:nvSpPr>
          <p:cNvPr id="5" name="Text 3"/>
          <p:cNvSpPr txBox="1"/>
          <p:nvPr/>
        </p:nvSpPr>
        <p:spPr>
          <a:xfrm>
            <a:off x="822960" y="1965960"/>
            <a:ext cx="2953512" cy="438912"/>
          </a:xfrm>
          <a:prstGeom prst="roundRect">
            <a:avLst>
              <a:gd name="adj" fmla="val 16667"/>
            </a:avLst>
          </a:prstGeom>
          <a:solidFill>
            <a:schemeClr val="accent4">
              <a:alpha val="18000"/>
            </a:schemeClr>
          </a:solidFill>
          <a:ln w="9525">
            <a:solidFill>
              <a:schemeClr val="accent4"/>
            </a:solidFill>
          </a:ln>
        </p:spPr>
        <p:txBody>
          <a:bodyPr wrap="square" lIns="50800" tIns="50800" rIns="50800" bIns="50800" rtlCol="0" anchor="ctr"/>
          <a:lstStyle/>
          <a:p>
            <a:pPr algn="ctr" indent="0" marL="0">
              <a:buNone/>
            </a:pPr>
            <a:r>
              <a:rPr lang="en-US" sz="1200" dirty="0">
                <a:solidFill>
                  <a:schemeClr val="tx1"/>
                </a:solidFill>
              </a:rPr>
              <a:t>Random noise z</a:t>
            </a:r>
            <a:endParaRPr lang="en-US" sz="1200" dirty="0"/>
          </a:p>
        </p:txBody>
      </p:sp>
      <p:sp>
        <p:nvSpPr>
          <p:cNvPr id="6" name="Shape 4"/>
          <p:cNvSpPr/>
          <p:nvPr/>
        </p:nvSpPr>
        <p:spPr>
          <a:xfrm>
            <a:off x="2299716" y="2404872"/>
            <a:ext cx="0" cy="182880"/>
          </a:xfrm>
          <a:prstGeom prst="line">
            <a:avLst/>
          </a:prstGeom>
          <a:noFill/>
          <a:ln w="19050">
            <a:solidFill>
              <a:schemeClr val="accent4"/>
            </a:solidFill>
            <a:prstDash val="solid"/>
            <a:tailEnd type="triangle"/>
          </a:ln>
        </p:spPr>
      </p:sp>
      <p:sp>
        <p:nvSpPr>
          <p:cNvPr id="7" name="Text 5"/>
          <p:cNvSpPr txBox="1"/>
          <p:nvPr/>
        </p:nvSpPr>
        <p:spPr>
          <a:xfrm>
            <a:off x="822960" y="2587752"/>
            <a:ext cx="2953512" cy="438912"/>
          </a:xfrm>
          <a:prstGeom prst="roundRect">
            <a:avLst>
              <a:gd name="adj" fmla="val 16667"/>
            </a:avLst>
          </a:prstGeom>
          <a:solidFill>
            <a:schemeClr val="accent4">
              <a:alpha val="18000"/>
            </a:schemeClr>
          </a:solidFill>
          <a:ln w="9525">
            <a:solidFill>
              <a:schemeClr val="accent4"/>
            </a:solidFill>
          </a:ln>
        </p:spPr>
        <p:txBody>
          <a:bodyPr wrap="square" lIns="50800" tIns="50800" rIns="50800" bIns="50800" rtlCol="0" anchor="ctr"/>
          <a:lstStyle/>
          <a:p>
            <a:pPr algn="ctr" indent="0" marL="0">
              <a:buNone/>
            </a:pPr>
            <a:r>
              <a:rPr lang="en-US" sz="1200" dirty="0">
                <a:solidFill>
                  <a:schemeClr val="tx1"/>
                </a:solidFill>
              </a:rPr>
              <a:t>Generator network</a:t>
            </a:r>
            <a:endParaRPr lang="en-US" sz="1200" dirty="0"/>
          </a:p>
        </p:txBody>
      </p:sp>
      <p:sp>
        <p:nvSpPr>
          <p:cNvPr id="8" name="Shape 6"/>
          <p:cNvSpPr/>
          <p:nvPr/>
        </p:nvSpPr>
        <p:spPr>
          <a:xfrm>
            <a:off x="2299716" y="3026664"/>
            <a:ext cx="0" cy="182880"/>
          </a:xfrm>
          <a:prstGeom prst="line">
            <a:avLst/>
          </a:prstGeom>
          <a:noFill/>
          <a:ln w="19050">
            <a:solidFill>
              <a:schemeClr val="accent4"/>
            </a:solidFill>
            <a:prstDash val="solid"/>
            <a:tailEnd type="triangle"/>
          </a:ln>
        </p:spPr>
      </p:sp>
      <p:sp>
        <p:nvSpPr>
          <p:cNvPr id="9" name="Text 7"/>
          <p:cNvSpPr txBox="1"/>
          <p:nvPr/>
        </p:nvSpPr>
        <p:spPr>
          <a:xfrm>
            <a:off x="822960" y="3209544"/>
            <a:ext cx="2953512" cy="438912"/>
          </a:xfrm>
          <a:prstGeom prst="roundRect">
            <a:avLst>
              <a:gd name="adj" fmla="val 16667"/>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200" dirty="0">
                <a:solidFill>
                  <a:schemeClr val="bg1"/>
                </a:solidFill>
              </a:rPr>
              <a:t>Synthetic sample</a:t>
            </a:r>
            <a:endParaRPr lang="en-US" sz="1200" dirty="0"/>
          </a:p>
        </p:txBody>
      </p:sp>
      <p:sp>
        <p:nvSpPr>
          <p:cNvPr id="10" name="Shape 8"/>
          <p:cNvSpPr/>
          <p:nvPr/>
        </p:nvSpPr>
        <p:spPr>
          <a:xfrm>
            <a:off x="2299716" y="3648456"/>
            <a:ext cx="0" cy="182880"/>
          </a:xfrm>
          <a:prstGeom prst="line">
            <a:avLst/>
          </a:prstGeom>
          <a:noFill/>
          <a:ln w="19050">
            <a:solidFill>
              <a:schemeClr val="accent4"/>
            </a:solidFill>
            <a:prstDash val="solid"/>
            <a:tailEnd type="triangle"/>
          </a:ln>
        </p:spPr>
      </p:sp>
      <p:sp>
        <p:nvSpPr>
          <p:cNvPr id="11" name="Text 9"/>
          <p:cNvSpPr txBox="1"/>
          <p:nvPr/>
        </p:nvSpPr>
        <p:spPr>
          <a:xfrm>
            <a:off x="822960" y="3831336"/>
            <a:ext cx="2953512" cy="438912"/>
          </a:xfrm>
          <a:prstGeom prst="roundRect">
            <a:avLst>
              <a:gd name="adj" fmla="val 16667"/>
            </a:avLst>
          </a:prstGeom>
          <a:solidFill>
            <a:schemeClr val="accent4">
              <a:alpha val="18000"/>
            </a:schemeClr>
          </a:solidFill>
          <a:ln w="9525">
            <a:solidFill>
              <a:schemeClr val="accent4"/>
            </a:solidFill>
          </a:ln>
        </p:spPr>
        <p:txBody>
          <a:bodyPr wrap="square" lIns="50800" tIns="50800" rIns="50800" bIns="50800" rtlCol="0" anchor="ctr"/>
          <a:lstStyle/>
          <a:p>
            <a:pPr algn="ctr" indent="0" marL="0">
              <a:buNone/>
            </a:pPr>
            <a:r>
              <a:rPr lang="en-US" sz="1200" dirty="0">
                <a:solidFill>
                  <a:schemeClr val="tx1"/>
                </a:solidFill>
              </a:rPr>
              <a:t>Discriminator  (+ real data)</a:t>
            </a:r>
            <a:endParaRPr lang="en-US" sz="1200" dirty="0"/>
          </a:p>
        </p:txBody>
      </p:sp>
      <p:sp>
        <p:nvSpPr>
          <p:cNvPr id="12" name="Shape 10"/>
          <p:cNvSpPr/>
          <p:nvPr/>
        </p:nvSpPr>
        <p:spPr>
          <a:xfrm>
            <a:off x="2299716" y="4270248"/>
            <a:ext cx="0" cy="182880"/>
          </a:xfrm>
          <a:prstGeom prst="line">
            <a:avLst/>
          </a:prstGeom>
          <a:noFill/>
          <a:ln w="19050">
            <a:solidFill>
              <a:schemeClr val="accent4"/>
            </a:solidFill>
            <a:prstDash val="solid"/>
            <a:tailEnd type="triangle"/>
          </a:ln>
        </p:spPr>
      </p:sp>
      <p:sp>
        <p:nvSpPr>
          <p:cNvPr id="13" name="Text 11"/>
          <p:cNvSpPr txBox="1"/>
          <p:nvPr/>
        </p:nvSpPr>
        <p:spPr>
          <a:xfrm>
            <a:off x="822960" y="4453128"/>
            <a:ext cx="2953512" cy="438912"/>
          </a:xfrm>
          <a:prstGeom prst="roundRect">
            <a:avLst>
              <a:gd name="adj" fmla="val 16667"/>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200" dirty="0">
                <a:solidFill>
                  <a:schemeClr val="bg1"/>
                </a:solidFill>
              </a:rPr>
              <a:t>“Real or fake?” → feedback</a:t>
            </a:r>
            <a:endParaRPr lang="en-US" sz="1200" dirty="0"/>
          </a:p>
        </p:txBody>
      </p:sp>
      <p:sp>
        <p:nvSpPr>
          <p:cNvPr id="14" name="Text 12"/>
          <p:cNvSpPr txBox="1"/>
          <p:nvPr/>
        </p:nvSpPr>
        <p:spPr>
          <a:xfrm>
            <a:off x="777240" y="5120640"/>
            <a:ext cx="3063240" cy="1005840"/>
          </a:xfrm>
          <a:prstGeom prst="rect">
            <a:avLst/>
          </a:prstGeom>
          <a:noFill/>
          <a:ln/>
        </p:spPr>
        <p:txBody>
          <a:bodyPr wrap="square" lIns="0" tIns="0" rIns="0" bIns="0" rtlCol="0" anchor="t"/>
          <a:lstStyle/>
          <a:p>
            <a:pPr indent="0" marL="0">
              <a:buNone/>
            </a:pPr>
            <a:r>
              <a:rPr lang="en-US" sz="1200" i="1" dirty="0">
                <a:solidFill>
                  <a:schemeClr val="tx1"/>
                </a:solidFill>
              </a:rPr>
              <a:t>Two networks play a game until fakes are indistinguishable. Use: synthetic fraud transactions.</a:t>
            </a:r>
            <a:endParaRPr lang="en-US" sz="1200" dirty="0"/>
          </a:p>
        </p:txBody>
      </p:sp>
      <p:sp>
        <p:nvSpPr>
          <p:cNvPr id="15" name="Shape 13"/>
          <p:cNvSpPr/>
          <p:nvPr/>
        </p:nvSpPr>
        <p:spPr>
          <a:xfrm>
            <a:off x="4329684" y="1371600"/>
            <a:ext cx="3502152" cy="4846320"/>
          </a:xfrm>
          <a:prstGeom prst="roundRect">
            <a:avLst>
              <a:gd name="adj" fmla="val 2611"/>
            </a:avLst>
          </a:prstGeom>
          <a:solidFill>
            <a:schemeClr val="bg2"/>
          </a:solidFill>
          <a:ln w="9525">
            <a:solidFill>
              <a:schemeClr val="bg2"/>
            </a:solidFill>
            <a:prstDash val="solid"/>
          </a:ln>
        </p:spPr>
      </p:sp>
      <p:sp>
        <p:nvSpPr>
          <p:cNvPr id="16" name="Text 14"/>
          <p:cNvSpPr txBox="1"/>
          <p:nvPr/>
        </p:nvSpPr>
        <p:spPr>
          <a:xfrm>
            <a:off x="4558284" y="1463040"/>
            <a:ext cx="301752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VAE</a:t>
            </a:r>
            <a:endParaRPr lang="en-US" sz="1800" dirty="0"/>
          </a:p>
        </p:txBody>
      </p:sp>
      <p:sp>
        <p:nvSpPr>
          <p:cNvPr id="17" name="Text 15"/>
          <p:cNvSpPr txBox="1"/>
          <p:nvPr/>
        </p:nvSpPr>
        <p:spPr>
          <a:xfrm>
            <a:off x="4604004" y="1965960"/>
            <a:ext cx="2953512" cy="438912"/>
          </a:xfrm>
          <a:prstGeom prst="roundRect">
            <a:avLst>
              <a:gd name="adj" fmla="val 16667"/>
            </a:avLst>
          </a:prstGeom>
          <a:solidFill>
            <a:schemeClr val="accent3">
              <a:alpha val="18000"/>
            </a:schemeClr>
          </a:solidFill>
          <a:ln w="9525">
            <a:solidFill>
              <a:schemeClr val="accent3"/>
            </a:solidFill>
          </a:ln>
        </p:spPr>
        <p:txBody>
          <a:bodyPr wrap="square" lIns="50800" tIns="50800" rIns="50800" bIns="50800" rtlCol="0" anchor="ctr"/>
          <a:lstStyle/>
          <a:p>
            <a:pPr algn="ctr" indent="0" marL="0">
              <a:buNone/>
            </a:pPr>
            <a:r>
              <a:rPr lang="en-US" sz="1200" dirty="0">
                <a:solidFill>
                  <a:schemeClr val="tx1"/>
                </a:solidFill>
              </a:rPr>
              <a:t>Input record</a:t>
            </a:r>
            <a:endParaRPr lang="en-US" sz="1200" dirty="0"/>
          </a:p>
        </p:txBody>
      </p:sp>
      <p:sp>
        <p:nvSpPr>
          <p:cNvPr id="18" name="Shape 16"/>
          <p:cNvSpPr/>
          <p:nvPr/>
        </p:nvSpPr>
        <p:spPr>
          <a:xfrm>
            <a:off x="6080760" y="2404872"/>
            <a:ext cx="0" cy="182880"/>
          </a:xfrm>
          <a:prstGeom prst="line">
            <a:avLst/>
          </a:prstGeom>
          <a:noFill/>
          <a:ln w="19050">
            <a:solidFill>
              <a:schemeClr val="accent3"/>
            </a:solidFill>
            <a:prstDash val="solid"/>
            <a:tailEnd type="triangle"/>
          </a:ln>
        </p:spPr>
      </p:sp>
      <p:sp>
        <p:nvSpPr>
          <p:cNvPr id="19" name="Text 17"/>
          <p:cNvSpPr txBox="1"/>
          <p:nvPr/>
        </p:nvSpPr>
        <p:spPr>
          <a:xfrm>
            <a:off x="4604004" y="2587752"/>
            <a:ext cx="2953512" cy="438912"/>
          </a:xfrm>
          <a:prstGeom prst="roundRect">
            <a:avLst>
              <a:gd name="adj" fmla="val 16667"/>
            </a:avLst>
          </a:prstGeom>
          <a:solidFill>
            <a:schemeClr val="accent3">
              <a:alpha val="18000"/>
            </a:schemeClr>
          </a:solidFill>
          <a:ln w="9525">
            <a:solidFill>
              <a:schemeClr val="accent3"/>
            </a:solidFill>
          </a:ln>
        </p:spPr>
        <p:txBody>
          <a:bodyPr wrap="square" lIns="50800" tIns="50800" rIns="50800" bIns="50800" rtlCol="0" anchor="ctr"/>
          <a:lstStyle/>
          <a:p>
            <a:pPr algn="ctr" indent="0" marL="0">
              <a:buNone/>
            </a:pPr>
            <a:r>
              <a:rPr lang="en-US" sz="1200" dirty="0">
                <a:solidFill>
                  <a:schemeClr val="tx1"/>
                </a:solidFill>
              </a:rPr>
              <a:t>Encoder → mean μ, spread σ</a:t>
            </a:r>
            <a:endParaRPr lang="en-US" sz="1200" dirty="0"/>
          </a:p>
        </p:txBody>
      </p:sp>
      <p:sp>
        <p:nvSpPr>
          <p:cNvPr id="20" name="Shape 18"/>
          <p:cNvSpPr/>
          <p:nvPr/>
        </p:nvSpPr>
        <p:spPr>
          <a:xfrm>
            <a:off x="6080760" y="3026664"/>
            <a:ext cx="0" cy="182880"/>
          </a:xfrm>
          <a:prstGeom prst="line">
            <a:avLst/>
          </a:prstGeom>
          <a:noFill/>
          <a:ln w="19050">
            <a:solidFill>
              <a:schemeClr val="accent3"/>
            </a:solidFill>
            <a:prstDash val="solid"/>
            <a:tailEnd type="triangle"/>
          </a:ln>
        </p:spPr>
      </p:sp>
      <p:sp>
        <p:nvSpPr>
          <p:cNvPr id="21" name="Text 19"/>
          <p:cNvSpPr txBox="1"/>
          <p:nvPr/>
        </p:nvSpPr>
        <p:spPr>
          <a:xfrm>
            <a:off x="4604004" y="3209544"/>
            <a:ext cx="2953512" cy="438912"/>
          </a:xfrm>
          <a:prstGeom prst="roundRect">
            <a:avLst>
              <a:gd name="adj" fmla="val 1666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200" dirty="0">
                <a:solidFill>
                  <a:schemeClr val="bg1"/>
                </a:solidFill>
              </a:rPr>
              <a:t>Sample latent z</a:t>
            </a:r>
            <a:endParaRPr lang="en-US" sz="1200" dirty="0"/>
          </a:p>
        </p:txBody>
      </p:sp>
      <p:sp>
        <p:nvSpPr>
          <p:cNvPr id="22" name="Shape 20"/>
          <p:cNvSpPr/>
          <p:nvPr/>
        </p:nvSpPr>
        <p:spPr>
          <a:xfrm>
            <a:off x="6080760" y="3648456"/>
            <a:ext cx="0" cy="182880"/>
          </a:xfrm>
          <a:prstGeom prst="line">
            <a:avLst/>
          </a:prstGeom>
          <a:noFill/>
          <a:ln w="19050">
            <a:solidFill>
              <a:schemeClr val="accent3"/>
            </a:solidFill>
            <a:prstDash val="solid"/>
            <a:tailEnd type="triangle"/>
          </a:ln>
        </p:spPr>
      </p:sp>
      <p:sp>
        <p:nvSpPr>
          <p:cNvPr id="23" name="Text 21"/>
          <p:cNvSpPr txBox="1"/>
          <p:nvPr/>
        </p:nvSpPr>
        <p:spPr>
          <a:xfrm>
            <a:off x="4604004" y="3831336"/>
            <a:ext cx="2953512" cy="438912"/>
          </a:xfrm>
          <a:prstGeom prst="roundRect">
            <a:avLst>
              <a:gd name="adj" fmla="val 16667"/>
            </a:avLst>
          </a:prstGeom>
          <a:solidFill>
            <a:schemeClr val="accent3">
              <a:alpha val="18000"/>
            </a:schemeClr>
          </a:solidFill>
          <a:ln w="9525">
            <a:solidFill>
              <a:schemeClr val="accent3"/>
            </a:solidFill>
          </a:ln>
        </p:spPr>
        <p:txBody>
          <a:bodyPr wrap="square" lIns="50800" tIns="50800" rIns="50800" bIns="50800" rtlCol="0" anchor="ctr"/>
          <a:lstStyle/>
          <a:p>
            <a:pPr algn="ctr" indent="0" marL="0">
              <a:buNone/>
            </a:pPr>
            <a:r>
              <a:rPr lang="en-US" sz="1200" dirty="0">
                <a:solidFill>
                  <a:schemeClr val="tx1"/>
                </a:solidFill>
              </a:rPr>
              <a:t>Decoder network</a:t>
            </a:r>
            <a:endParaRPr lang="en-US" sz="1200" dirty="0"/>
          </a:p>
        </p:txBody>
      </p:sp>
      <p:sp>
        <p:nvSpPr>
          <p:cNvPr id="24" name="Shape 22"/>
          <p:cNvSpPr/>
          <p:nvPr/>
        </p:nvSpPr>
        <p:spPr>
          <a:xfrm>
            <a:off x="6080760" y="4270248"/>
            <a:ext cx="0" cy="182880"/>
          </a:xfrm>
          <a:prstGeom prst="line">
            <a:avLst/>
          </a:prstGeom>
          <a:noFill/>
          <a:ln w="19050">
            <a:solidFill>
              <a:schemeClr val="accent3"/>
            </a:solidFill>
            <a:prstDash val="solid"/>
            <a:tailEnd type="triangle"/>
          </a:ln>
        </p:spPr>
      </p:sp>
      <p:sp>
        <p:nvSpPr>
          <p:cNvPr id="25" name="Text 23"/>
          <p:cNvSpPr txBox="1"/>
          <p:nvPr/>
        </p:nvSpPr>
        <p:spPr>
          <a:xfrm>
            <a:off x="4604004" y="4453128"/>
            <a:ext cx="2953512" cy="438912"/>
          </a:xfrm>
          <a:prstGeom prst="roundRect">
            <a:avLst>
              <a:gd name="adj" fmla="val 1666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200" dirty="0">
                <a:solidFill>
                  <a:schemeClr val="bg1"/>
                </a:solidFill>
              </a:rPr>
              <a:t>Reconstruction / new sample</a:t>
            </a:r>
            <a:endParaRPr lang="en-US" sz="1200" dirty="0"/>
          </a:p>
        </p:txBody>
      </p:sp>
      <p:sp>
        <p:nvSpPr>
          <p:cNvPr id="26" name="Text 24"/>
          <p:cNvSpPr txBox="1"/>
          <p:nvPr/>
        </p:nvSpPr>
        <p:spPr>
          <a:xfrm>
            <a:off x="4558284" y="5120640"/>
            <a:ext cx="3063240" cy="1005840"/>
          </a:xfrm>
          <a:prstGeom prst="rect">
            <a:avLst/>
          </a:prstGeom>
          <a:noFill/>
          <a:ln/>
        </p:spPr>
        <p:txBody>
          <a:bodyPr wrap="square" lIns="0" tIns="0" rIns="0" bIns="0" rtlCol="0" anchor="t"/>
          <a:lstStyle/>
          <a:p>
            <a:pPr indent="0" marL="0">
              <a:buNone/>
            </a:pPr>
            <a:r>
              <a:rPr lang="en-US" sz="1200" i="1" dirty="0">
                <a:solidFill>
                  <a:schemeClr val="tx1"/>
                </a:solidFill>
              </a:rPr>
              <a:t>Learns a compressed latent space; high reconstruction error flags anomalies.</a:t>
            </a:r>
            <a:endParaRPr lang="en-US" sz="1200" dirty="0"/>
          </a:p>
        </p:txBody>
      </p:sp>
      <p:sp>
        <p:nvSpPr>
          <p:cNvPr id="27" name="Shape 25"/>
          <p:cNvSpPr/>
          <p:nvPr/>
        </p:nvSpPr>
        <p:spPr>
          <a:xfrm>
            <a:off x="8110728" y="1371600"/>
            <a:ext cx="3502152" cy="4846320"/>
          </a:xfrm>
          <a:prstGeom prst="roundRect">
            <a:avLst>
              <a:gd name="adj" fmla="val 2611"/>
            </a:avLst>
          </a:prstGeom>
          <a:solidFill>
            <a:schemeClr val="bg2"/>
          </a:solidFill>
          <a:ln w="9525">
            <a:solidFill>
              <a:schemeClr val="bg2"/>
            </a:solidFill>
            <a:prstDash val="solid"/>
          </a:ln>
        </p:spPr>
      </p:sp>
      <p:sp>
        <p:nvSpPr>
          <p:cNvPr id="28" name="Text 26"/>
          <p:cNvSpPr txBox="1"/>
          <p:nvPr/>
        </p:nvSpPr>
        <p:spPr>
          <a:xfrm>
            <a:off x="8339328" y="1463040"/>
            <a:ext cx="3017520" cy="41148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Diffusion</a:t>
            </a:r>
            <a:endParaRPr lang="en-US" sz="1800" dirty="0"/>
          </a:p>
        </p:txBody>
      </p:sp>
      <p:sp>
        <p:nvSpPr>
          <p:cNvPr id="29" name="Text 27"/>
          <p:cNvSpPr txBox="1"/>
          <p:nvPr/>
        </p:nvSpPr>
        <p:spPr>
          <a:xfrm>
            <a:off x="8385048" y="1965960"/>
            <a:ext cx="2953512" cy="438912"/>
          </a:xfrm>
          <a:prstGeom prst="roundRect">
            <a:avLst>
              <a:gd name="adj" fmla="val 16667"/>
            </a:avLst>
          </a:prstGeom>
          <a:solidFill>
            <a:schemeClr val="accent6">
              <a:alpha val="18000"/>
            </a:schemeClr>
          </a:solidFill>
          <a:ln w="9525">
            <a:solidFill>
              <a:schemeClr val="accent6"/>
            </a:solidFill>
          </a:ln>
        </p:spPr>
        <p:txBody>
          <a:bodyPr wrap="square" lIns="50800" tIns="50800" rIns="50800" bIns="50800" rtlCol="0" anchor="ctr"/>
          <a:lstStyle/>
          <a:p>
            <a:pPr algn="ctr" indent="0" marL="0">
              <a:buNone/>
            </a:pPr>
            <a:r>
              <a:rPr lang="en-US" sz="1200" dirty="0">
                <a:solidFill>
                  <a:schemeClr val="tx1"/>
                </a:solidFill>
              </a:rPr>
              <a:t>Pure random noise</a:t>
            </a:r>
            <a:endParaRPr lang="en-US" sz="1200" dirty="0"/>
          </a:p>
        </p:txBody>
      </p:sp>
      <p:sp>
        <p:nvSpPr>
          <p:cNvPr id="30" name="Shape 28"/>
          <p:cNvSpPr/>
          <p:nvPr/>
        </p:nvSpPr>
        <p:spPr>
          <a:xfrm>
            <a:off x="9861804" y="2404872"/>
            <a:ext cx="0" cy="182880"/>
          </a:xfrm>
          <a:prstGeom prst="line">
            <a:avLst/>
          </a:prstGeom>
          <a:noFill/>
          <a:ln w="19050">
            <a:solidFill>
              <a:schemeClr val="accent6"/>
            </a:solidFill>
            <a:prstDash val="solid"/>
            <a:tailEnd type="triangle"/>
          </a:ln>
        </p:spPr>
      </p:sp>
      <p:sp>
        <p:nvSpPr>
          <p:cNvPr id="31" name="Text 29"/>
          <p:cNvSpPr txBox="1"/>
          <p:nvPr/>
        </p:nvSpPr>
        <p:spPr>
          <a:xfrm>
            <a:off x="8385048" y="2587752"/>
            <a:ext cx="2953512" cy="438912"/>
          </a:xfrm>
          <a:prstGeom prst="roundRect">
            <a:avLst>
              <a:gd name="adj" fmla="val 16667"/>
            </a:avLst>
          </a:prstGeom>
          <a:solidFill>
            <a:schemeClr val="accent6">
              <a:alpha val="18000"/>
            </a:schemeClr>
          </a:solidFill>
          <a:ln w="9525">
            <a:solidFill>
              <a:schemeClr val="accent6"/>
            </a:solidFill>
          </a:ln>
        </p:spPr>
        <p:txBody>
          <a:bodyPr wrap="square" lIns="50800" tIns="50800" rIns="50800" bIns="50800" rtlCol="0" anchor="ctr"/>
          <a:lstStyle/>
          <a:p>
            <a:pPr algn="ctr" indent="0" marL="0">
              <a:buNone/>
            </a:pPr>
            <a:r>
              <a:rPr lang="en-US" sz="1200" dirty="0">
                <a:solidFill>
                  <a:schemeClr val="tx1"/>
                </a:solidFill>
              </a:rPr>
              <a:t>Denoising network (U-Net / transformer)</a:t>
            </a:r>
            <a:endParaRPr lang="en-US" sz="1200" dirty="0"/>
          </a:p>
        </p:txBody>
      </p:sp>
      <p:sp>
        <p:nvSpPr>
          <p:cNvPr id="32" name="Shape 30"/>
          <p:cNvSpPr/>
          <p:nvPr/>
        </p:nvSpPr>
        <p:spPr>
          <a:xfrm>
            <a:off x="9861804" y="3026664"/>
            <a:ext cx="0" cy="182880"/>
          </a:xfrm>
          <a:prstGeom prst="line">
            <a:avLst/>
          </a:prstGeom>
          <a:noFill/>
          <a:ln w="19050">
            <a:solidFill>
              <a:schemeClr val="accent6"/>
            </a:solidFill>
            <a:prstDash val="solid"/>
            <a:tailEnd type="triangle"/>
          </a:ln>
        </p:spPr>
      </p:sp>
      <p:sp>
        <p:nvSpPr>
          <p:cNvPr id="33" name="Text 31"/>
          <p:cNvSpPr txBox="1"/>
          <p:nvPr/>
        </p:nvSpPr>
        <p:spPr>
          <a:xfrm>
            <a:off x="8385048" y="3209544"/>
            <a:ext cx="2953512" cy="438912"/>
          </a:xfrm>
          <a:prstGeom prst="roundRect">
            <a:avLst>
              <a:gd name="adj" fmla="val 16667"/>
            </a:avLst>
          </a:prstGeom>
          <a:solidFill>
            <a:schemeClr val="accent6"/>
          </a:solidFill>
          <a:ln w="9525">
            <a:solidFill>
              <a:schemeClr val="accent6"/>
            </a:solidFill>
          </a:ln>
        </p:spPr>
        <p:txBody>
          <a:bodyPr wrap="square" lIns="50800" tIns="50800" rIns="50800" bIns="50800" rtlCol="0" anchor="ctr"/>
          <a:lstStyle/>
          <a:p>
            <a:pPr algn="ctr" indent="0" marL="0">
              <a:buNone/>
            </a:pPr>
            <a:r>
              <a:rPr lang="en-US" sz="1200" dirty="0">
                <a:solidFill>
                  <a:schemeClr val="bg1"/>
                </a:solidFill>
              </a:rPr>
              <a:t>Repeat T steps, removing noise</a:t>
            </a:r>
            <a:endParaRPr lang="en-US" sz="1200" dirty="0"/>
          </a:p>
        </p:txBody>
      </p:sp>
      <p:sp>
        <p:nvSpPr>
          <p:cNvPr id="34" name="Shape 32"/>
          <p:cNvSpPr/>
          <p:nvPr/>
        </p:nvSpPr>
        <p:spPr>
          <a:xfrm>
            <a:off x="9861804" y="3648456"/>
            <a:ext cx="0" cy="182880"/>
          </a:xfrm>
          <a:prstGeom prst="line">
            <a:avLst/>
          </a:prstGeom>
          <a:noFill/>
          <a:ln w="19050">
            <a:solidFill>
              <a:schemeClr val="accent6"/>
            </a:solidFill>
            <a:prstDash val="solid"/>
            <a:tailEnd type="triangle"/>
          </a:ln>
        </p:spPr>
      </p:sp>
      <p:sp>
        <p:nvSpPr>
          <p:cNvPr id="35" name="Text 33"/>
          <p:cNvSpPr txBox="1"/>
          <p:nvPr/>
        </p:nvSpPr>
        <p:spPr>
          <a:xfrm>
            <a:off x="8385048" y="3831336"/>
            <a:ext cx="2953512" cy="438912"/>
          </a:xfrm>
          <a:prstGeom prst="roundRect">
            <a:avLst>
              <a:gd name="adj" fmla="val 16667"/>
            </a:avLst>
          </a:prstGeom>
          <a:solidFill>
            <a:schemeClr val="accent6">
              <a:alpha val="18000"/>
            </a:schemeClr>
          </a:solidFill>
          <a:ln w="9525">
            <a:solidFill>
              <a:schemeClr val="accent6"/>
            </a:solidFill>
          </a:ln>
        </p:spPr>
        <p:txBody>
          <a:bodyPr wrap="square" lIns="50800" tIns="50800" rIns="50800" bIns="50800" rtlCol="0" anchor="ctr"/>
          <a:lstStyle/>
          <a:p>
            <a:pPr algn="ctr" indent="0" marL="0">
              <a:buNone/>
            </a:pPr>
            <a:r>
              <a:rPr lang="en-US" sz="1200" dirty="0">
                <a:solidFill>
                  <a:schemeClr val="tx1"/>
                </a:solidFill>
              </a:rPr>
              <a:t>Guided by text prompt</a:t>
            </a:r>
            <a:endParaRPr lang="en-US" sz="1200" dirty="0"/>
          </a:p>
        </p:txBody>
      </p:sp>
      <p:sp>
        <p:nvSpPr>
          <p:cNvPr id="36" name="Shape 34"/>
          <p:cNvSpPr/>
          <p:nvPr/>
        </p:nvSpPr>
        <p:spPr>
          <a:xfrm>
            <a:off x="9861804" y="4270248"/>
            <a:ext cx="0" cy="182880"/>
          </a:xfrm>
          <a:prstGeom prst="line">
            <a:avLst/>
          </a:prstGeom>
          <a:noFill/>
          <a:ln w="19050">
            <a:solidFill>
              <a:schemeClr val="accent6"/>
            </a:solidFill>
            <a:prstDash val="solid"/>
            <a:tailEnd type="triangle"/>
          </a:ln>
        </p:spPr>
      </p:sp>
      <p:sp>
        <p:nvSpPr>
          <p:cNvPr id="37" name="Text 35"/>
          <p:cNvSpPr txBox="1"/>
          <p:nvPr/>
        </p:nvSpPr>
        <p:spPr>
          <a:xfrm>
            <a:off x="8385048" y="4453128"/>
            <a:ext cx="2953512" cy="438912"/>
          </a:xfrm>
          <a:prstGeom prst="roundRect">
            <a:avLst>
              <a:gd name="adj" fmla="val 16667"/>
            </a:avLst>
          </a:prstGeom>
          <a:solidFill>
            <a:schemeClr val="accent6"/>
          </a:solidFill>
          <a:ln w="9525">
            <a:solidFill>
              <a:schemeClr val="accent6"/>
            </a:solidFill>
          </a:ln>
        </p:spPr>
        <p:txBody>
          <a:bodyPr wrap="square" lIns="50800" tIns="50800" rIns="50800" bIns="50800" rtlCol="0" anchor="ctr"/>
          <a:lstStyle/>
          <a:p>
            <a:pPr algn="ctr" indent="0" marL="0">
              <a:buNone/>
            </a:pPr>
            <a:r>
              <a:rPr lang="en-US" sz="1200" dirty="0">
                <a:solidFill>
                  <a:schemeClr val="bg1"/>
                </a:solidFill>
              </a:rPr>
              <a:t>New image / document</a:t>
            </a:r>
            <a:endParaRPr lang="en-US" sz="1200" dirty="0"/>
          </a:p>
        </p:txBody>
      </p:sp>
      <p:sp>
        <p:nvSpPr>
          <p:cNvPr id="38" name="Text 36"/>
          <p:cNvSpPr txBox="1"/>
          <p:nvPr/>
        </p:nvSpPr>
        <p:spPr>
          <a:xfrm>
            <a:off x="8339328" y="5120640"/>
            <a:ext cx="3063240" cy="1005840"/>
          </a:xfrm>
          <a:prstGeom prst="rect">
            <a:avLst/>
          </a:prstGeom>
          <a:noFill/>
          <a:ln/>
        </p:spPr>
        <p:txBody>
          <a:bodyPr wrap="square" lIns="0" tIns="0" rIns="0" bIns="0" rtlCol="0" anchor="t"/>
          <a:lstStyle/>
          <a:p>
            <a:pPr indent="0" marL="0">
              <a:buNone/>
            </a:pPr>
            <a:r>
              <a:rPr lang="en-US" sz="1200" i="1" dirty="0">
                <a:solidFill>
                  <a:schemeClr val="tx1"/>
                </a:solidFill>
              </a:rPr>
              <a:t>Trained by adding noise to real data and learning to reverse it. Use: marketing visuals.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Key Challenges: Bias, Hallucination, Stochasticity</a:t>
            </a:r>
            <a:endParaRPr lang="en-US" sz="3200" dirty="0"/>
          </a:p>
        </p:txBody>
      </p:sp>
      <p:sp>
        <p:nvSpPr>
          <p:cNvPr id="3" name="Shape 1"/>
          <p:cNvSpPr/>
          <p:nvPr/>
        </p:nvSpPr>
        <p:spPr>
          <a:xfrm>
            <a:off x="548640" y="1371600"/>
            <a:ext cx="3502152" cy="4846320"/>
          </a:xfrm>
          <a:prstGeom prst="roundRect">
            <a:avLst>
              <a:gd name="adj" fmla="val 2611"/>
            </a:avLst>
          </a:prstGeom>
          <a:solidFill>
            <a:schemeClr val="bg2"/>
          </a:solidFill>
          <a:ln w="9525">
            <a:solidFill>
              <a:schemeClr val="bg2"/>
            </a:solidFill>
            <a:prstDash val="solid"/>
          </a:ln>
        </p:spPr>
      </p:sp>
      <p:sp>
        <p:nvSpPr>
          <p:cNvPr id="4" name="Text 2"/>
          <p:cNvSpPr txBox="1"/>
          <p:nvPr/>
        </p:nvSpPr>
        <p:spPr>
          <a:xfrm>
            <a:off x="548640" y="1371600"/>
            <a:ext cx="3502152" cy="548640"/>
          </a:xfrm>
          <a:prstGeom prst="roundRect">
            <a:avLst>
              <a:gd name="adj" fmla="val 13333"/>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700" b="1" dirty="0">
                <a:solidFill>
                  <a:schemeClr val="bg1"/>
                </a:solidFill>
              </a:rPr>
              <a:t>Bias</a:t>
            </a:r>
            <a:endParaRPr lang="en-US" sz="1700" dirty="0"/>
          </a:p>
        </p:txBody>
      </p:sp>
      <p:sp>
        <p:nvSpPr>
          <p:cNvPr id="5" name="Text 3"/>
          <p:cNvSpPr txBox="1"/>
          <p:nvPr/>
        </p:nvSpPr>
        <p:spPr>
          <a:xfrm>
            <a:off x="749808" y="2057400"/>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What</a:t>
            </a:r>
            <a:endParaRPr lang="en-US" sz="1400" dirty="0"/>
          </a:p>
          <a:p>
            <a:pPr indent="0" marL="0">
              <a:buNone/>
            </a:pPr>
            <a:r>
              <a:rPr lang="en-US" sz="1200" dirty="0">
                <a:solidFill>
                  <a:schemeClr val="tx1"/>
                </a:solidFill>
              </a:rPr>
              <a:t>Systematically skewed or unfair outputs for some groups.</a:t>
            </a:r>
            <a:endParaRPr lang="en-US" sz="1400" dirty="0"/>
          </a:p>
        </p:txBody>
      </p:sp>
      <p:sp>
        <p:nvSpPr>
          <p:cNvPr id="6" name="Text 4"/>
          <p:cNvSpPr txBox="1"/>
          <p:nvPr/>
        </p:nvSpPr>
        <p:spPr>
          <a:xfrm>
            <a:off x="749808" y="3081528"/>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Why</a:t>
            </a:r>
            <a:endParaRPr lang="en-US" sz="1400" dirty="0"/>
          </a:p>
          <a:p>
            <a:pPr indent="0" marL="0">
              <a:buNone/>
            </a:pPr>
            <a:r>
              <a:rPr lang="en-US" sz="1200" dirty="0">
                <a:solidFill>
                  <a:schemeClr val="tx1"/>
                </a:solidFill>
              </a:rPr>
              <a:t>Training data mirrors historical and societal bias; under-represented languages and segments.</a:t>
            </a:r>
            <a:endParaRPr lang="en-US" sz="1400" dirty="0"/>
          </a:p>
        </p:txBody>
      </p:sp>
      <p:sp>
        <p:nvSpPr>
          <p:cNvPr id="7" name="Text 5"/>
          <p:cNvSpPr txBox="1"/>
          <p:nvPr/>
        </p:nvSpPr>
        <p:spPr>
          <a:xfrm>
            <a:off x="749808" y="4105656"/>
            <a:ext cx="3108960" cy="960120"/>
          </a:xfrm>
          <a:prstGeom prst="rect">
            <a:avLst/>
          </a:prstGeom>
          <a:noFill/>
          <a:ln/>
        </p:spPr>
        <p:txBody>
          <a:bodyPr wrap="square" lIns="0" tIns="0" rIns="0" bIns="0" rtlCol="0" anchor="t"/>
          <a:lstStyle/>
          <a:p>
            <a:pPr indent="0" marL="0">
              <a:buNone/>
            </a:pPr>
            <a:r>
              <a:rPr lang="en-US" sz="1300" b="1" dirty="0">
                <a:solidFill>
                  <a:schemeClr val="tx2"/>
                </a:solidFill>
              </a:rPr>
              <a:t>Bank example</a:t>
            </a:r>
            <a:endParaRPr lang="en-US" sz="1400" dirty="0"/>
          </a:p>
          <a:p>
            <a:pPr indent="0" marL="0">
              <a:buNone/>
            </a:pPr>
            <a:r>
              <a:rPr lang="en-US" sz="1200" dirty="0">
                <a:solidFill>
                  <a:schemeClr val="tx1"/>
                </a:solidFill>
              </a:rPr>
              <a:t>Assistant uses a different tone or suggests lower limits based on name, gender or region.</a:t>
            </a:r>
            <a:endParaRPr lang="en-US" sz="1400" dirty="0"/>
          </a:p>
        </p:txBody>
      </p:sp>
      <p:sp>
        <p:nvSpPr>
          <p:cNvPr id="8" name="Text 6"/>
          <p:cNvSpPr txBox="1"/>
          <p:nvPr/>
        </p:nvSpPr>
        <p:spPr>
          <a:xfrm>
            <a:off x="749808" y="5129784"/>
            <a:ext cx="3108960" cy="960120"/>
          </a:xfrm>
          <a:prstGeom prst="rect">
            <a:avLst/>
          </a:prstGeom>
          <a:noFill/>
          <a:ln/>
        </p:spPr>
        <p:txBody>
          <a:bodyPr wrap="square" lIns="0" tIns="0" rIns="0" bIns="0" rtlCol="0" anchor="t"/>
          <a:lstStyle/>
          <a:p>
            <a:pPr indent="0" marL="0">
              <a:buNone/>
            </a:pPr>
            <a:r>
              <a:rPr lang="en-US" sz="1300" b="1" dirty="0">
                <a:solidFill>
                  <a:schemeClr val="tx2"/>
                </a:solidFill>
              </a:rPr>
              <a:t>Mitigate</a:t>
            </a:r>
            <a:endParaRPr lang="en-US" sz="1400" dirty="0"/>
          </a:p>
          <a:p>
            <a:pPr indent="0" marL="0">
              <a:buNone/>
            </a:pPr>
            <a:r>
              <a:rPr lang="en-US" sz="1200" dirty="0">
                <a:solidFill>
                  <a:schemeClr val="tx1"/>
                </a:solidFill>
              </a:rPr>
              <a:t>Segment-wise bias tests, diverse eval sets, no protected attributes in prompts, fairness review.</a:t>
            </a:r>
            <a:endParaRPr lang="en-US" sz="1400" dirty="0"/>
          </a:p>
        </p:txBody>
      </p:sp>
      <p:sp>
        <p:nvSpPr>
          <p:cNvPr id="9" name="Shape 7"/>
          <p:cNvSpPr/>
          <p:nvPr/>
        </p:nvSpPr>
        <p:spPr>
          <a:xfrm>
            <a:off x="4329684" y="1371600"/>
            <a:ext cx="3502152" cy="4846320"/>
          </a:xfrm>
          <a:prstGeom prst="roundRect">
            <a:avLst>
              <a:gd name="adj" fmla="val 2611"/>
            </a:avLst>
          </a:prstGeom>
          <a:solidFill>
            <a:schemeClr val="bg2"/>
          </a:solidFill>
          <a:ln w="9525">
            <a:solidFill>
              <a:schemeClr val="bg2"/>
            </a:solidFill>
            <a:prstDash val="solid"/>
          </a:ln>
        </p:spPr>
      </p:sp>
      <p:sp>
        <p:nvSpPr>
          <p:cNvPr id="10" name="Text 8"/>
          <p:cNvSpPr txBox="1"/>
          <p:nvPr/>
        </p:nvSpPr>
        <p:spPr>
          <a:xfrm>
            <a:off x="4329684" y="1371600"/>
            <a:ext cx="3502152" cy="548640"/>
          </a:xfrm>
          <a:prstGeom prst="roundRect">
            <a:avLst>
              <a:gd name="adj" fmla="val 13333"/>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700" b="1" dirty="0">
                <a:solidFill>
                  <a:schemeClr val="tx1"/>
                </a:solidFill>
              </a:rPr>
              <a:t>Hallucination</a:t>
            </a:r>
            <a:endParaRPr lang="en-US" sz="1700" dirty="0"/>
          </a:p>
        </p:txBody>
      </p:sp>
      <p:sp>
        <p:nvSpPr>
          <p:cNvPr id="11" name="Text 9"/>
          <p:cNvSpPr txBox="1"/>
          <p:nvPr/>
        </p:nvSpPr>
        <p:spPr>
          <a:xfrm>
            <a:off x="4530852" y="2057400"/>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What</a:t>
            </a:r>
            <a:endParaRPr lang="en-US" sz="1400" dirty="0"/>
          </a:p>
          <a:p>
            <a:pPr indent="0" marL="0">
              <a:buNone/>
            </a:pPr>
            <a:r>
              <a:rPr lang="en-US" sz="1200" dirty="0">
                <a:solidFill>
                  <a:schemeClr val="tx1"/>
                </a:solidFill>
              </a:rPr>
              <a:t>Fluent, confident content that is false or unsupported.</a:t>
            </a:r>
            <a:endParaRPr lang="en-US" sz="1400" dirty="0"/>
          </a:p>
        </p:txBody>
      </p:sp>
      <p:sp>
        <p:nvSpPr>
          <p:cNvPr id="12" name="Text 10"/>
          <p:cNvSpPr txBox="1"/>
          <p:nvPr/>
        </p:nvSpPr>
        <p:spPr>
          <a:xfrm>
            <a:off x="4530852" y="3081528"/>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Why</a:t>
            </a:r>
            <a:endParaRPr lang="en-US" sz="1400" dirty="0"/>
          </a:p>
          <a:p>
            <a:pPr indent="0" marL="0">
              <a:buNone/>
            </a:pPr>
            <a:r>
              <a:rPr lang="en-US" sz="1200" dirty="0">
                <a:solidFill>
                  <a:schemeClr val="tx1"/>
                </a:solidFill>
              </a:rPr>
              <a:t>Model optimises plausibility, not truth; knowledge gaps and stale cutoff; no grounding.</a:t>
            </a:r>
            <a:endParaRPr lang="en-US" sz="1400" dirty="0"/>
          </a:p>
        </p:txBody>
      </p:sp>
      <p:sp>
        <p:nvSpPr>
          <p:cNvPr id="13" name="Text 11"/>
          <p:cNvSpPr txBox="1"/>
          <p:nvPr/>
        </p:nvSpPr>
        <p:spPr>
          <a:xfrm>
            <a:off x="4530852" y="4105656"/>
            <a:ext cx="3108960" cy="960120"/>
          </a:xfrm>
          <a:prstGeom prst="rect">
            <a:avLst/>
          </a:prstGeom>
          <a:noFill/>
          <a:ln/>
        </p:spPr>
        <p:txBody>
          <a:bodyPr wrap="square" lIns="0" tIns="0" rIns="0" bIns="0" rtlCol="0" anchor="t"/>
          <a:lstStyle/>
          <a:p>
            <a:pPr indent="0" marL="0">
              <a:buNone/>
            </a:pPr>
            <a:r>
              <a:rPr lang="en-US" sz="1300" b="1" dirty="0">
                <a:solidFill>
                  <a:schemeClr val="tx2"/>
                </a:solidFill>
              </a:rPr>
              <a:t>Bank example</a:t>
            </a:r>
            <a:endParaRPr lang="en-US" sz="1400" dirty="0"/>
          </a:p>
          <a:p>
            <a:pPr indent="0" marL="0">
              <a:buNone/>
            </a:pPr>
            <a:r>
              <a:rPr lang="en-US" sz="1200" dirty="0">
                <a:solidFill>
                  <a:schemeClr val="tx1"/>
                </a:solidFill>
              </a:rPr>
              <a:t>Chatbot invents a prepayment penalty or quotes a wrong FD rate.</a:t>
            </a:r>
            <a:endParaRPr lang="en-US" sz="1400" dirty="0"/>
          </a:p>
        </p:txBody>
      </p:sp>
      <p:sp>
        <p:nvSpPr>
          <p:cNvPr id="14" name="Text 12"/>
          <p:cNvSpPr txBox="1"/>
          <p:nvPr/>
        </p:nvSpPr>
        <p:spPr>
          <a:xfrm>
            <a:off x="4530852" y="5129784"/>
            <a:ext cx="3108960" cy="960120"/>
          </a:xfrm>
          <a:prstGeom prst="rect">
            <a:avLst/>
          </a:prstGeom>
          <a:noFill/>
          <a:ln/>
        </p:spPr>
        <p:txBody>
          <a:bodyPr wrap="square" lIns="0" tIns="0" rIns="0" bIns="0" rtlCol="0" anchor="t"/>
          <a:lstStyle/>
          <a:p>
            <a:pPr indent="0" marL="0">
              <a:buNone/>
            </a:pPr>
            <a:r>
              <a:rPr lang="en-US" sz="1300" b="1" dirty="0">
                <a:solidFill>
                  <a:schemeClr val="tx2"/>
                </a:solidFill>
              </a:rPr>
              <a:t>Mitigate</a:t>
            </a:r>
            <a:endParaRPr lang="en-US" sz="1400" dirty="0"/>
          </a:p>
          <a:p>
            <a:pPr indent="0" marL="0">
              <a:buNone/>
            </a:pPr>
            <a:r>
              <a:rPr lang="en-US" sz="1200" dirty="0">
                <a:solidFill>
                  <a:schemeClr val="tx1"/>
                </a:solidFill>
              </a:rPr>
              <a:t>RAG with citations, groundedness checks, “I don’t know” fallback, low temperature, human review.</a:t>
            </a:r>
            <a:endParaRPr lang="en-US" sz="1400" dirty="0"/>
          </a:p>
        </p:txBody>
      </p:sp>
      <p:sp>
        <p:nvSpPr>
          <p:cNvPr id="15" name="Shape 13"/>
          <p:cNvSpPr/>
          <p:nvPr/>
        </p:nvSpPr>
        <p:spPr>
          <a:xfrm>
            <a:off x="8110728" y="1371600"/>
            <a:ext cx="3502152" cy="4846320"/>
          </a:xfrm>
          <a:prstGeom prst="roundRect">
            <a:avLst>
              <a:gd name="adj" fmla="val 2611"/>
            </a:avLst>
          </a:prstGeom>
          <a:solidFill>
            <a:schemeClr val="bg2"/>
          </a:solidFill>
          <a:ln w="9525">
            <a:solidFill>
              <a:schemeClr val="bg2"/>
            </a:solidFill>
            <a:prstDash val="solid"/>
          </a:ln>
        </p:spPr>
      </p:sp>
      <p:sp>
        <p:nvSpPr>
          <p:cNvPr id="16" name="Text 14"/>
          <p:cNvSpPr txBox="1"/>
          <p:nvPr/>
        </p:nvSpPr>
        <p:spPr>
          <a:xfrm>
            <a:off x="8110728" y="1371600"/>
            <a:ext cx="3502152" cy="548640"/>
          </a:xfrm>
          <a:prstGeom prst="roundRect">
            <a:avLst>
              <a:gd name="adj" fmla="val 13333"/>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700" b="1" dirty="0">
                <a:solidFill>
                  <a:schemeClr val="bg1"/>
                </a:solidFill>
              </a:rPr>
              <a:t>Stochasticity</a:t>
            </a:r>
            <a:endParaRPr lang="en-US" sz="1700" dirty="0"/>
          </a:p>
        </p:txBody>
      </p:sp>
      <p:sp>
        <p:nvSpPr>
          <p:cNvPr id="17" name="Text 15"/>
          <p:cNvSpPr txBox="1"/>
          <p:nvPr/>
        </p:nvSpPr>
        <p:spPr>
          <a:xfrm>
            <a:off x="8311896" y="2057400"/>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What</a:t>
            </a:r>
            <a:endParaRPr lang="en-US" sz="1400" dirty="0"/>
          </a:p>
          <a:p>
            <a:pPr indent="0" marL="0">
              <a:buNone/>
            </a:pPr>
            <a:r>
              <a:rPr lang="en-US" sz="1200" dirty="0">
                <a:solidFill>
                  <a:schemeClr val="tx1"/>
                </a:solidFill>
              </a:rPr>
              <a:t>The same prompt can give different outputs on different runs.</a:t>
            </a:r>
            <a:endParaRPr lang="en-US" sz="1400" dirty="0"/>
          </a:p>
        </p:txBody>
      </p:sp>
      <p:sp>
        <p:nvSpPr>
          <p:cNvPr id="18" name="Text 16"/>
          <p:cNvSpPr txBox="1"/>
          <p:nvPr/>
        </p:nvSpPr>
        <p:spPr>
          <a:xfrm>
            <a:off x="8311896" y="3081528"/>
            <a:ext cx="3108960" cy="960120"/>
          </a:xfrm>
          <a:prstGeom prst="rect">
            <a:avLst/>
          </a:prstGeom>
          <a:noFill/>
          <a:ln/>
        </p:spPr>
        <p:txBody>
          <a:bodyPr wrap="square" lIns="0" tIns="0" rIns="0" bIns="0" rtlCol="0" anchor="t"/>
          <a:lstStyle/>
          <a:p>
            <a:pPr indent="0" marL="0">
              <a:buNone/>
            </a:pPr>
            <a:r>
              <a:rPr lang="en-US" sz="1300" b="1" dirty="0">
                <a:solidFill>
                  <a:schemeClr val="tx2"/>
                </a:solidFill>
              </a:rPr>
              <a:t>Why</a:t>
            </a:r>
            <a:endParaRPr lang="en-US" sz="1400" dirty="0"/>
          </a:p>
          <a:p>
            <a:pPr indent="0" marL="0">
              <a:buNone/>
            </a:pPr>
            <a:r>
              <a:rPr lang="en-US" sz="1200" dirty="0">
                <a:solidFill>
                  <a:schemeClr val="tx1"/>
                </a:solidFill>
              </a:rPr>
              <a:t>Sampling from probabilities, temperature / top-p, GPU numerics, model version updates.</a:t>
            </a:r>
            <a:endParaRPr lang="en-US" sz="1400" dirty="0"/>
          </a:p>
        </p:txBody>
      </p:sp>
      <p:sp>
        <p:nvSpPr>
          <p:cNvPr id="19" name="Text 17"/>
          <p:cNvSpPr txBox="1"/>
          <p:nvPr/>
        </p:nvSpPr>
        <p:spPr>
          <a:xfrm>
            <a:off x="8311896" y="4105656"/>
            <a:ext cx="3108960" cy="960120"/>
          </a:xfrm>
          <a:prstGeom prst="rect">
            <a:avLst/>
          </a:prstGeom>
          <a:noFill/>
          <a:ln/>
        </p:spPr>
        <p:txBody>
          <a:bodyPr wrap="square" lIns="0" tIns="0" rIns="0" bIns="0" rtlCol="0" anchor="t"/>
          <a:lstStyle/>
          <a:p>
            <a:pPr indent="0" marL="0">
              <a:buNone/>
            </a:pPr>
            <a:r>
              <a:rPr lang="en-US" sz="1300" b="1" dirty="0">
                <a:solidFill>
                  <a:schemeClr val="tx2"/>
                </a:solidFill>
              </a:rPr>
              <a:t>Bank example</a:t>
            </a:r>
            <a:endParaRPr lang="en-US" sz="1400" dirty="0"/>
          </a:p>
          <a:p>
            <a:pPr indent="0" marL="0">
              <a:buNone/>
            </a:pPr>
            <a:r>
              <a:rPr lang="en-US" sz="1200" dirty="0">
                <a:solidFill>
                  <a:schemeClr val="tx1"/>
                </a:solidFill>
              </a:rPr>
              <a:t>Two customers asking the same fee question get different answers; audit replay fails.</a:t>
            </a:r>
            <a:endParaRPr lang="en-US" sz="1400" dirty="0"/>
          </a:p>
        </p:txBody>
      </p:sp>
      <p:sp>
        <p:nvSpPr>
          <p:cNvPr id="20" name="Text 18"/>
          <p:cNvSpPr txBox="1"/>
          <p:nvPr/>
        </p:nvSpPr>
        <p:spPr>
          <a:xfrm>
            <a:off x="8311896" y="5129784"/>
            <a:ext cx="3108960" cy="960120"/>
          </a:xfrm>
          <a:prstGeom prst="rect">
            <a:avLst/>
          </a:prstGeom>
          <a:noFill/>
          <a:ln/>
        </p:spPr>
        <p:txBody>
          <a:bodyPr wrap="square" lIns="0" tIns="0" rIns="0" bIns="0" rtlCol="0" anchor="t"/>
          <a:lstStyle/>
          <a:p>
            <a:pPr indent="0" marL="0">
              <a:buNone/>
            </a:pPr>
            <a:r>
              <a:rPr lang="en-US" sz="1300" b="1" dirty="0">
                <a:solidFill>
                  <a:schemeClr val="tx2"/>
                </a:solidFill>
              </a:rPr>
              <a:t>Mitigate</a:t>
            </a:r>
            <a:endParaRPr lang="en-US" sz="1400" dirty="0"/>
          </a:p>
          <a:p>
            <a:pPr indent="0" marL="0">
              <a:buNone/>
            </a:pPr>
            <a:r>
              <a:rPr lang="en-US" sz="1200" dirty="0">
                <a:solidFill>
                  <a:schemeClr val="tx1"/>
                </a:solidFill>
              </a:rPr>
              <a:t>T ≈ 0, pinned model and prompt versions, JSON-schema outputs, full logging, consistency tests.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1463040"/>
            <a:ext cx="2743200" cy="10972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03</a:t>
            </a:r>
            <a:endParaRPr lang="en-US" sz="6000" dirty="0"/>
          </a:p>
        </p:txBody>
      </p:sp>
      <p:sp>
        <p:nvSpPr>
          <p:cNvPr id="3"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rPr>
              <a:t>Deployment Challenges</a:t>
            </a:r>
            <a:endParaRPr lang="en-US" sz="4000" dirty="0"/>
          </a:p>
        </p:txBody>
      </p:sp>
      <p:sp>
        <p:nvSpPr>
          <p:cNvPr id="4" name="Text 0"/>
          <p:cNvSpPr/>
          <p:nvPr>
            <p:ph idx="101" type="body" hasCustomPrompt="1"/>
          </p:nvPr>
        </p:nvSpPr>
        <p:spPr>
          <a:xfrm>
            <a:off x="731520" y="3794760"/>
            <a:ext cx="10515600" cy="731520"/>
          </a:xfrm>
          <a:prstGeom prst="rect">
            <a:avLst/>
          </a:prstGeom>
          <a:noFill/>
          <a:ln/>
        </p:spPr>
        <p:txBody>
          <a:bodyPr wrap="square" rtlCol="0" anchor="t"/>
          <a:lstStyle/>
          <a:p>
            <a:pPr algn="l" indent="0" marL="0">
              <a:buNone/>
            </a:pPr>
            <a:r>
              <a:rPr lang="en-US" sz="1800" dirty="0">
                <a:solidFill>
                  <a:schemeClr val="accent2"/>
                </a:solidFill>
              </a:rPr>
              <a:t>S010 Business and Technical Challenges in Deployment</a:t>
            </a:r>
            <a:endParaRPr lang="en-US" sz="1800" dirty="0"/>
          </a:p>
        </p:txBody>
      </p:sp>
      <p:sp>
        <p:nvSpPr>
          <p:cNvPr id="5" name="Shape 3"/>
          <p:cNvSpPr/>
          <p:nvPr/>
        </p:nvSpPr>
        <p:spPr>
          <a:xfrm>
            <a:off x="9326880" y="4206240"/>
            <a:ext cx="3108960" cy="3108960"/>
          </a:xfrm>
          <a:prstGeom prst="ellipse">
            <a:avLst/>
          </a:prstGeom>
          <a:solidFill>
            <a:schemeClr val="accent1">
              <a:alpha val="0"/>
            </a:schemeClr>
          </a:solidFill>
          <a:ln w="25400">
            <a:solidFill>
              <a:schemeClr val="accent1">
                <a:alpha val="40000"/>
              </a:schemeClr>
            </a:solidFill>
            <a:prstDash val="solid"/>
          </a:ln>
        </p:spPr>
      </p:sp>
      <p:sp>
        <p:nvSpPr>
          <p:cNvPr id="6" name="Shape 4"/>
          <p:cNvSpPr/>
          <p:nvPr/>
        </p:nvSpPr>
        <p:spPr>
          <a:xfrm>
            <a:off x="9829800" y="4709160"/>
            <a:ext cx="2103120" cy="2103120"/>
          </a:xfrm>
          <a:prstGeom prst="ellipse">
            <a:avLst/>
          </a:prstGeom>
          <a:solidFill>
            <a:schemeClr val="accent2">
              <a:alpha val="0"/>
            </a:schemeClr>
          </a:solidFill>
          <a:ln w="25400">
            <a:solidFill>
              <a:schemeClr val="accent2">
                <a:alpha val="60000"/>
              </a:schemeClr>
            </a:solidFill>
            <a:prstDash val="solid"/>
          </a:ln>
        </p:spPr>
      </p:sp>
      <p:sp>
        <p:nvSpPr>
          <p:cNvPr id="7" name="Shape 5"/>
          <p:cNvSpPr/>
          <p:nvPr/>
        </p:nvSpPr>
        <p:spPr>
          <a:xfrm>
            <a:off x="10287000" y="5166360"/>
            <a:ext cx="1188720" cy="1188720"/>
          </a:xfrm>
          <a:prstGeom prst="ellipse">
            <a:avLst/>
          </a:prstGeom>
          <a:solidFill>
            <a:schemeClr val="accent2"/>
          </a:solidFill>
          <a:ln w="25400">
            <a:solidFill>
              <a:schemeClr val="accent2"/>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Business Challenges in Deploying GenAI</a:t>
            </a:r>
            <a:endParaRPr lang="en-US" sz="3200" dirty="0"/>
          </a:p>
        </p:txBody>
      </p:sp>
      <p:sp>
        <p:nvSpPr>
          <p:cNvPr id="3" name="Shape 1"/>
          <p:cNvSpPr/>
          <p:nvPr/>
        </p:nvSpPr>
        <p:spPr>
          <a:xfrm>
            <a:off x="548640" y="1371600"/>
            <a:ext cx="3502152" cy="2240280"/>
          </a:xfrm>
          <a:prstGeom prst="roundRect">
            <a:avLst>
              <a:gd name="adj" fmla="val 4082"/>
            </a:avLst>
          </a:prstGeom>
          <a:solidFill>
            <a:schemeClr val="bg2"/>
          </a:solidFill>
          <a:ln w="9525">
            <a:solidFill>
              <a:schemeClr val="bg2"/>
            </a:solidFill>
            <a:prstDash val="solid"/>
          </a:ln>
        </p:spPr>
      </p:sp>
      <p:sp>
        <p:nvSpPr>
          <p:cNvPr id="4" name="Shape 2"/>
          <p:cNvSpPr/>
          <p:nvPr/>
        </p:nvSpPr>
        <p:spPr>
          <a:xfrm>
            <a:off x="777240" y="1600200"/>
            <a:ext cx="594360" cy="59436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1508760" y="160020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Regulation &amp; compliance</a:t>
            </a:r>
            <a:endParaRPr lang="en-US" sz="1500" dirty="0"/>
          </a:p>
        </p:txBody>
      </p:sp>
      <p:sp>
        <p:nvSpPr>
          <p:cNvPr id="7" name="Text 4"/>
          <p:cNvSpPr txBox="1"/>
          <p:nvPr/>
        </p:nvSpPr>
        <p:spPr>
          <a:xfrm>
            <a:off x="777240"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RBI guidance on AI and outsourcing, DPDP Act 2023 consent rules, data localisation, model risk management.</a:t>
            </a:r>
            <a:endParaRPr lang="en-US" sz="1300" dirty="0"/>
          </a:p>
        </p:txBody>
      </p:sp>
      <p:sp>
        <p:nvSpPr>
          <p:cNvPr id="8" name="Shape 5"/>
          <p:cNvSpPr/>
          <p:nvPr/>
        </p:nvSpPr>
        <p:spPr>
          <a:xfrm>
            <a:off x="4329684" y="1371600"/>
            <a:ext cx="3502152" cy="2240280"/>
          </a:xfrm>
          <a:prstGeom prst="roundRect">
            <a:avLst>
              <a:gd name="adj" fmla="val 4082"/>
            </a:avLst>
          </a:prstGeom>
          <a:solidFill>
            <a:schemeClr val="bg2"/>
          </a:solidFill>
          <a:ln w="9525">
            <a:solidFill>
              <a:schemeClr val="bg2"/>
            </a:solidFill>
            <a:prstDash val="solid"/>
          </a:ln>
        </p:spPr>
      </p:sp>
      <p:sp>
        <p:nvSpPr>
          <p:cNvPr id="9" name="Shape 6"/>
          <p:cNvSpPr/>
          <p:nvPr/>
        </p:nvSpPr>
        <p:spPr>
          <a:xfrm>
            <a:off x="4558284" y="1600200"/>
            <a:ext cx="594360" cy="594360"/>
          </a:xfrm>
          <a:prstGeom prst="ellipse">
            <a:avLst/>
          </a:prstGeom>
          <a:solidFill>
            <a:schemeClr val="accent4"/>
          </a:solidFill>
          <a:ln w="12700">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4706874" y="1748790"/>
            <a:ext cx="297180" cy="297180"/>
          </a:xfrm>
          <a:prstGeom prst="rect">
            <a:avLst/>
          </a:prstGeom>
        </p:spPr>
      </p:pic>
      <p:sp>
        <p:nvSpPr>
          <p:cNvPr id="11" name="Text 7"/>
          <p:cNvSpPr txBox="1"/>
          <p:nvPr/>
        </p:nvSpPr>
        <p:spPr>
          <a:xfrm>
            <a:off x="5289804" y="160020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ROI &amp; cost uncertainty</a:t>
            </a:r>
            <a:endParaRPr lang="en-US" sz="1500" dirty="0"/>
          </a:p>
        </p:txBody>
      </p:sp>
      <p:sp>
        <p:nvSpPr>
          <p:cNvPr id="12" name="Text 8"/>
          <p:cNvSpPr txBox="1"/>
          <p:nvPr/>
        </p:nvSpPr>
        <p:spPr>
          <a:xfrm>
            <a:off x="4558284"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Token and GPU costs scale with usage; value is hard to measure; pilots stall before production.</a:t>
            </a:r>
            <a:endParaRPr lang="en-US" sz="1300" dirty="0"/>
          </a:p>
        </p:txBody>
      </p:sp>
      <p:sp>
        <p:nvSpPr>
          <p:cNvPr id="13" name="Shape 9"/>
          <p:cNvSpPr/>
          <p:nvPr/>
        </p:nvSpPr>
        <p:spPr>
          <a:xfrm>
            <a:off x="8110728" y="1371600"/>
            <a:ext cx="3502152" cy="2240280"/>
          </a:xfrm>
          <a:prstGeom prst="roundRect">
            <a:avLst>
              <a:gd name="adj" fmla="val 4082"/>
            </a:avLst>
          </a:prstGeom>
          <a:solidFill>
            <a:schemeClr val="bg2"/>
          </a:solidFill>
          <a:ln w="9525">
            <a:solidFill>
              <a:schemeClr val="bg2"/>
            </a:solidFill>
            <a:prstDash val="solid"/>
          </a:ln>
        </p:spPr>
      </p:sp>
      <p:sp>
        <p:nvSpPr>
          <p:cNvPr id="14" name="Shape 10"/>
          <p:cNvSpPr/>
          <p:nvPr/>
        </p:nvSpPr>
        <p:spPr>
          <a:xfrm>
            <a:off x="8339328" y="1600200"/>
            <a:ext cx="594360" cy="59436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8487918" y="1748790"/>
            <a:ext cx="297180" cy="297180"/>
          </a:xfrm>
          <a:prstGeom prst="rect">
            <a:avLst/>
          </a:prstGeom>
        </p:spPr>
      </p:pic>
      <p:sp>
        <p:nvSpPr>
          <p:cNvPr id="16" name="Text 11"/>
          <p:cNvSpPr txBox="1"/>
          <p:nvPr/>
        </p:nvSpPr>
        <p:spPr>
          <a:xfrm>
            <a:off x="9070848" y="160020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Trust &amp; reputation</a:t>
            </a:r>
            <a:endParaRPr lang="en-US" sz="1500" dirty="0"/>
          </a:p>
        </p:txBody>
      </p:sp>
      <p:sp>
        <p:nvSpPr>
          <p:cNvPr id="17" name="Text 12"/>
          <p:cNvSpPr txBox="1"/>
          <p:nvPr/>
        </p:nvSpPr>
        <p:spPr>
          <a:xfrm>
            <a:off x="8339328" y="2331720"/>
            <a:ext cx="3063240" cy="1188720"/>
          </a:xfrm>
          <a:prstGeom prst="rect">
            <a:avLst/>
          </a:prstGeom>
          <a:noFill/>
          <a:ln/>
        </p:spPr>
        <p:txBody>
          <a:bodyPr wrap="square" lIns="0" tIns="0" rIns="0" bIns="0" rtlCol="0" anchor="t"/>
          <a:lstStyle/>
          <a:p>
            <a:pPr indent="0" marL="0">
              <a:buNone/>
            </a:pPr>
            <a:r>
              <a:rPr lang="en-US" sz="1300" dirty="0">
                <a:solidFill>
                  <a:schemeClr val="tx1"/>
                </a:solidFill>
              </a:rPr>
              <a:t>One wrong or offensive answer can go viral; mis-selling and liability for AI-generated advice.</a:t>
            </a:r>
            <a:endParaRPr lang="en-US" sz="1300" dirty="0"/>
          </a:p>
        </p:txBody>
      </p:sp>
      <p:sp>
        <p:nvSpPr>
          <p:cNvPr id="18" name="Shape 13"/>
          <p:cNvSpPr/>
          <p:nvPr/>
        </p:nvSpPr>
        <p:spPr>
          <a:xfrm>
            <a:off x="548640" y="3794760"/>
            <a:ext cx="3502152" cy="2240280"/>
          </a:xfrm>
          <a:prstGeom prst="roundRect">
            <a:avLst>
              <a:gd name="adj" fmla="val 4082"/>
            </a:avLst>
          </a:prstGeom>
          <a:solidFill>
            <a:schemeClr val="bg2"/>
          </a:solidFill>
          <a:ln w="9525">
            <a:solidFill>
              <a:schemeClr val="bg2"/>
            </a:solidFill>
            <a:prstDash val="solid"/>
          </a:ln>
        </p:spPr>
      </p:sp>
      <p:sp>
        <p:nvSpPr>
          <p:cNvPr id="19" name="Shape 14"/>
          <p:cNvSpPr/>
          <p:nvPr/>
        </p:nvSpPr>
        <p:spPr>
          <a:xfrm>
            <a:off x="777240" y="4023360"/>
            <a:ext cx="594360" cy="594360"/>
          </a:xfrm>
          <a:prstGeom prst="ellipse">
            <a:avLst/>
          </a:prstGeom>
          <a:solidFill>
            <a:schemeClr val="accent4"/>
          </a:solidFill>
          <a:ln w="12700">
            <a:solidFill>
              <a:schemeClr val="accent4"/>
            </a:solidFill>
            <a:prstDash val="solid"/>
          </a:ln>
        </p:spPr>
      </p:sp>
      <p:pic>
        <p:nvPicPr>
          <p:cNvPr id="20" name="Image 3" descr="preencoded.png">    </p:cNvPr>
          <p:cNvPicPr>
            <a:picLocks noChangeAspect="1"/>
          </p:cNvPicPr>
          <p:nvPr/>
        </p:nvPicPr>
        <p:blipFill>
          <a:blip r:embed="rId4"/>
          <a:stretch>
            <a:fillRect/>
          </a:stretch>
        </p:blipFill>
        <p:spPr>
          <a:xfrm>
            <a:off x="925830" y="4171950"/>
            <a:ext cx="297180" cy="297180"/>
          </a:xfrm>
          <a:prstGeom prst="rect">
            <a:avLst/>
          </a:prstGeom>
        </p:spPr>
      </p:pic>
      <p:sp>
        <p:nvSpPr>
          <p:cNvPr id="21" name="Text 15"/>
          <p:cNvSpPr txBox="1"/>
          <p:nvPr/>
        </p:nvSpPr>
        <p:spPr>
          <a:xfrm>
            <a:off x="1508760" y="402336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Explainability &amp; accountability</a:t>
            </a:r>
            <a:endParaRPr lang="en-US" sz="1500" dirty="0"/>
          </a:p>
        </p:txBody>
      </p:sp>
      <p:sp>
        <p:nvSpPr>
          <p:cNvPr id="22" name="Text 16"/>
          <p:cNvSpPr txBox="1"/>
          <p:nvPr/>
        </p:nvSpPr>
        <p:spPr>
          <a:xfrm>
            <a:off x="777240"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Who owns an AI-drafted decision? Regulators and auditors expect traceable reasoning.</a:t>
            </a:r>
            <a:endParaRPr lang="en-US" sz="1300" dirty="0"/>
          </a:p>
        </p:txBody>
      </p:sp>
      <p:sp>
        <p:nvSpPr>
          <p:cNvPr id="23" name="Shape 17"/>
          <p:cNvSpPr/>
          <p:nvPr/>
        </p:nvSpPr>
        <p:spPr>
          <a:xfrm>
            <a:off x="4329684" y="3794760"/>
            <a:ext cx="3502152" cy="2240280"/>
          </a:xfrm>
          <a:prstGeom prst="roundRect">
            <a:avLst>
              <a:gd name="adj" fmla="val 4082"/>
            </a:avLst>
          </a:prstGeom>
          <a:solidFill>
            <a:schemeClr val="bg2"/>
          </a:solidFill>
          <a:ln w="9525">
            <a:solidFill>
              <a:schemeClr val="bg2"/>
            </a:solidFill>
            <a:prstDash val="solid"/>
          </a:ln>
        </p:spPr>
      </p:sp>
      <p:sp>
        <p:nvSpPr>
          <p:cNvPr id="24" name="Shape 18"/>
          <p:cNvSpPr/>
          <p:nvPr/>
        </p:nvSpPr>
        <p:spPr>
          <a:xfrm>
            <a:off x="4558284" y="4023360"/>
            <a:ext cx="594360" cy="594360"/>
          </a:xfrm>
          <a:prstGeom prst="ellipse">
            <a:avLst/>
          </a:prstGeom>
          <a:solidFill>
            <a:schemeClr val="accent4"/>
          </a:solidFill>
          <a:ln w="12700">
            <a:solidFill>
              <a:schemeClr val="accent4"/>
            </a:solidFill>
            <a:prstDash val="solid"/>
          </a:ln>
        </p:spPr>
      </p:sp>
      <p:pic>
        <p:nvPicPr>
          <p:cNvPr id="25" name="Image 4" descr="preencoded.png">    </p:cNvPr>
          <p:cNvPicPr>
            <a:picLocks noChangeAspect="1"/>
          </p:cNvPicPr>
          <p:nvPr/>
        </p:nvPicPr>
        <p:blipFill>
          <a:blip r:embed="rId5"/>
          <a:stretch>
            <a:fillRect/>
          </a:stretch>
        </p:blipFill>
        <p:spPr>
          <a:xfrm>
            <a:off x="4706874" y="4171950"/>
            <a:ext cx="297180" cy="297180"/>
          </a:xfrm>
          <a:prstGeom prst="rect">
            <a:avLst/>
          </a:prstGeom>
        </p:spPr>
      </p:pic>
      <p:sp>
        <p:nvSpPr>
          <p:cNvPr id="26" name="Text 19"/>
          <p:cNvSpPr txBox="1"/>
          <p:nvPr/>
        </p:nvSpPr>
        <p:spPr>
          <a:xfrm>
            <a:off x="5289804" y="402336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Skills &amp; change management</a:t>
            </a:r>
            <a:endParaRPr lang="en-US" sz="1500" dirty="0"/>
          </a:p>
        </p:txBody>
      </p:sp>
      <p:sp>
        <p:nvSpPr>
          <p:cNvPr id="27" name="Text 20"/>
          <p:cNvSpPr txBox="1"/>
          <p:nvPr/>
        </p:nvSpPr>
        <p:spPr>
          <a:xfrm>
            <a:off x="4558284"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Talent gaps, staff fear of replacement, processes that must be redesigned around AI.</a:t>
            </a:r>
            <a:endParaRPr lang="en-US" sz="1300" dirty="0"/>
          </a:p>
        </p:txBody>
      </p:sp>
      <p:sp>
        <p:nvSpPr>
          <p:cNvPr id="28" name="Shape 21"/>
          <p:cNvSpPr/>
          <p:nvPr/>
        </p:nvSpPr>
        <p:spPr>
          <a:xfrm>
            <a:off x="8110728" y="3794760"/>
            <a:ext cx="3502152" cy="2240280"/>
          </a:xfrm>
          <a:prstGeom prst="roundRect">
            <a:avLst>
              <a:gd name="adj" fmla="val 4082"/>
            </a:avLst>
          </a:prstGeom>
          <a:solidFill>
            <a:schemeClr val="bg2"/>
          </a:solidFill>
          <a:ln w="9525">
            <a:solidFill>
              <a:schemeClr val="bg2"/>
            </a:solidFill>
            <a:prstDash val="solid"/>
          </a:ln>
        </p:spPr>
      </p:sp>
      <p:sp>
        <p:nvSpPr>
          <p:cNvPr id="29" name="Shape 22"/>
          <p:cNvSpPr/>
          <p:nvPr/>
        </p:nvSpPr>
        <p:spPr>
          <a:xfrm>
            <a:off x="8339328" y="4023360"/>
            <a:ext cx="594360" cy="594360"/>
          </a:xfrm>
          <a:prstGeom prst="ellipse">
            <a:avLst/>
          </a:prstGeom>
          <a:solidFill>
            <a:schemeClr val="accent4"/>
          </a:solidFill>
          <a:ln w="12700">
            <a:solidFill>
              <a:schemeClr val="accent4"/>
            </a:solidFill>
            <a:prstDash val="solid"/>
          </a:ln>
        </p:spPr>
      </p:sp>
      <p:pic>
        <p:nvPicPr>
          <p:cNvPr id="30" name="Image 5" descr="preencoded.png">    </p:cNvPr>
          <p:cNvPicPr>
            <a:picLocks noChangeAspect="1"/>
          </p:cNvPicPr>
          <p:nvPr/>
        </p:nvPicPr>
        <p:blipFill>
          <a:blip r:embed="rId6"/>
          <a:stretch>
            <a:fillRect/>
          </a:stretch>
        </p:blipFill>
        <p:spPr>
          <a:xfrm>
            <a:off x="8487918" y="4171950"/>
            <a:ext cx="297180" cy="297180"/>
          </a:xfrm>
          <a:prstGeom prst="rect">
            <a:avLst/>
          </a:prstGeom>
        </p:spPr>
      </p:pic>
      <p:sp>
        <p:nvSpPr>
          <p:cNvPr id="31" name="Text 23"/>
          <p:cNvSpPr txBox="1"/>
          <p:nvPr/>
        </p:nvSpPr>
        <p:spPr>
          <a:xfrm>
            <a:off x="9070848" y="4023360"/>
            <a:ext cx="2377440" cy="594360"/>
          </a:xfrm>
          <a:prstGeom prst="rect">
            <a:avLst/>
          </a:prstGeom>
          <a:noFill/>
          <a:ln/>
        </p:spPr>
        <p:txBody>
          <a:bodyPr wrap="square" lIns="0" tIns="0" rIns="0" bIns="0" rtlCol="0" anchor="ctr"/>
          <a:lstStyle/>
          <a:p>
            <a:pPr indent="0" marL="0">
              <a:buNone/>
            </a:pPr>
            <a:r>
              <a:rPr lang="en-US" sz="1500" b="1" dirty="0">
                <a:solidFill>
                  <a:schemeClr val="tx2"/>
                </a:solidFill>
              </a:rPr>
              <a:t>Vendor &amp; concentration risk</a:t>
            </a:r>
            <a:endParaRPr lang="en-US" sz="1500" dirty="0"/>
          </a:p>
        </p:txBody>
      </p:sp>
      <p:sp>
        <p:nvSpPr>
          <p:cNvPr id="32" name="Text 24"/>
          <p:cNvSpPr txBox="1"/>
          <p:nvPr/>
        </p:nvSpPr>
        <p:spPr>
          <a:xfrm>
            <a:off x="8339328" y="4754880"/>
            <a:ext cx="3063240" cy="1188720"/>
          </a:xfrm>
          <a:prstGeom prst="rect">
            <a:avLst/>
          </a:prstGeom>
          <a:noFill/>
          <a:ln/>
        </p:spPr>
        <p:txBody>
          <a:bodyPr wrap="square" lIns="0" tIns="0" rIns="0" bIns="0" rtlCol="0" anchor="t"/>
          <a:lstStyle/>
          <a:p>
            <a:pPr indent="0" marL="0">
              <a:buNone/>
            </a:pPr>
            <a:r>
              <a:rPr lang="en-US" sz="1300" dirty="0">
                <a:solidFill>
                  <a:schemeClr val="tx1"/>
                </a:solidFill>
              </a:rPr>
              <a:t>Lock-in to one provider, model deprecation, third-party outsourcing obligations.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Technical Challenges in Deploying GenAI</a:t>
            </a:r>
            <a:endParaRPr lang="en-US" sz="3200" dirty="0"/>
          </a:p>
        </p:txBody>
      </p:sp>
      <p:sp>
        <p:nvSpPr>
          <p:cNvPr id="3" name="Shape 1"/>
          <p:cNvSpPr/>
          <p:nvPr/>
        </p:nvSpPr>
        <p:spPr>
          <a:xfrm>
            <a:off x="548640" y="1371600"/>
            <a:ext cx="5440680" cy="1051560"/>
          </a:xfrm>
          <a:prstGeom prst="roundRect">
            <a:avLst>
              <a:gd name="adj" fmla="val 8696"/>
            </a:avLst>
          </a:prstGeom>
          <a:solidFill>
            <a:schemeClr val="bg2"/>
          </a:solidFill>
          <a:ln w="9525">
            <a:solidFill>
              <a:schemeClr val="bg2"/>
            </a:solidFill>
            <a:prstDash val="solid"/>
          </a:ln>
        </p:spPr>
      </p:sp>
      <p:sp>
        <p:nvSpPr>
          <p:cNvPr id="4" name="Shape 2"/>
          <p:cNvSpPr/>
          <p:nvPr/>
        </p:nvSpPr>
        <p:spPr>
          <a:xfrm>
            <a:off x="749808" y="1600200"/>
            <a:ext cx="594360" cy="59436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98398" y="1748790"/>
            <a:ext cx="297180" cy="297180"/>
          </a:xfrm>
          <a:prstGeom prst="rect">
            <a:avLst/>
          </a:prstGeom>
        </p:spPr>
      </p:pic>
      <p:sp>
        <p:nvSpPr>
          <p:cNvPr id="6" name="Text 3"/>
          <p:cNvSpPr txBox="1"/>
          <p:nvPr/>
        </p:nvSpPr>
        <p:spPr>
          <a:xfrm>
            <a:off x="1508760" y="1508760"/>
            <a:ext cx="4297680" cy="365760"/>
          </a:xfrm>
          <a:prstGeom prst="rect">
            <a:avLst/>
          </a:prstGeom>
          <a:noFill/>
          <a:ln/>
        </p:spPr>
        <p:txBody>
          <a:bodyPr wrap="square" lIns="0" tIns="0" rIns="0" bIns="0" rtlCol="0" anchor="t"/>
          <a:lstStyle/>
          <a:p>
            <a:pPr indent="0" marL="0">
              <a:buNone/>
            </a:pPr>
            <a:r>
              <a:rPr lang="en-US" sz="1500" b="1" dirty="0">
                <a:solidFill>
                  <a:schemeClr val="tx2"/>
                </a:solidFill>
              </a:rPr>
              <a:t>Data privacy &amp; PII leakage</a:t>
            </a:r>
            <a:endParaRPr lang="en-US" sz="1500" dirty="0"/>
          </a:p>
        </p:txBody>
      </p:sp>
      <p:sp>
        <p:nvSpPr>
          <p:cNvPr id="7" name="Text 4"/>
          <p:cNvSpPr txBox="1"/>
          <p:nvPr/>
        </p:nvSpPr>
        <p:spPr>
          <a:xfrm>
            <a:off x="1508760" y="1874520"/>
            <a:ext cx="4297680" cy="457200"/>
          </a:xfrm>
          <a:prstGeom prst="rect">
            <a:avLst/>
          </a:prstGeom>
          <a:noFill/>
          <a:ln/>
        </p:spPr>
        <p:txBody>
          <a:bodyPr wrap="square" lIns="0" tIns="0" rIns="0" bIns="0" rtlCol="0" anchor="t"/>
          <a:lstStyle/>
          <a:p>
            <a:pPr indent="0" marL="0">
              <a:buNone/>
            </a:pPr>
            <a:r>
              <a:rPr lang="en-US" sz="1300" dirty="0">
                <a:solidFill>
                  <a:schemeClr val="tx1"/>
                </a:solidFill>
              </a:rPr>
              <a:t>Customer data in prompts, logs or vendor training sets.</a:t>
            </a:r>
            <a:endParaRPr lang="en-US" sz="1300" dirty="0"/>
          </a:p>
        </p:txBody>
      </p:sp>
      <p:sp>
        <p:nvSpPr>
          <p:cNvPr id="8" name="Shape 5"/>
          <p:cNvSpPr/>
          <p:nvPr/>
        </p:nvSpPr>
        <p:spPr>
          <a:xfrm>
            <a:off x="6172200" y="1371600"/>
            <a:ext cx="5440680" cy="1051560"/>
          </a:xfrm>
          <a:prstGeom prst="roundRect">
            <a:avLst>
              <a:gd name="adj" fmla="val 8696"/>
            </a:avLst>
          </a:prstGeom>
          <a:solidFill>
            <a:schemeClr val="bg2"/>
          </a:solidFill>
          <a:ln w="9525">
            <a:solidFill>
              <a:schemeClr val="bg2"/>
            </a:solidFill>
            <a:prstDash val="solid"/>
          </a:ln>
        </p:spPr>
      </p:sp>
      <p:sp>
        <p:nvSpPr>
          <p:cNvPr id="9" name="Shape 6"/>
          <p:cNvSpPr/>
          <p:nvPr/>
        </p:nvSpPr>
        <p:spPr>
          <a:xfrm>
            <a:off x="6373368" y="1600200"/>
            <a:ext cx="594360" cy="594360"/>
          </a:xfrm>
          <a:prstGeom prst="ellipse">
            <a:avLst/>
          </a:prstGeom>
          <a:solidFill>
            <a:schemeClr val="accent3"/>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6521958" y="1748790"/>
            <a:ext cx="297180" cy="297180"/>
          </a:xfrm>
          <a:prstGeom prst="rect">
            <a:avLst/>
          </a:prstGeom>
        </p:spPr>
      </p:pic>
      <p:sp>
        <p:nvSpPr>
          <p:cNvPr id="11" name="Text 7"/>
          <p:cNvSpPr txBox="1"/>
          <p:nvPr/>
        </p:nvSpPr>
        <p:spPr>
          <a:xfrm>
            <a:off x="7132320" y="1508760"/>
            <a:ext cx="4297680" cy="365760"/>
          </a:xfrm>
          <a:prstGeom prst="rect">
            <a:avLst/>
          </a:prstGeom>
          <a:noFill/>
          <a:ln/>
        </p:spPr>
        <p:txBody>
          <a:bodyPr wrap="square" lIns="0" tIns="0" rIns="0" bIns="0" rtlCol="0" anchor="t"/>
          <a:lstStyle/>
          <a:p>
            <a:pPr indent="0" marL="0">
              <a:buNone/>
            </a:pPr>
            <a:r>
              <a:rPr lang="en-US" sz="1500" b="1" dirty="0">
                <a:solidFill>
                  <a:schemeClr val="tx2"/>
                </a:solidFill>
              </a:rPr>
              <a:t>Prompt injection &amp; jailbreaks</a:t>
            </a:r>
            <a:endParaRPr lang="en-US" sz="1500" dirty="0"/>
          </a:p>
        </p:txBody>
      </p:sp>
      <p:sp>
        <p:nvSpPr>
          <p:cNvPr id="12" name="Text 8"/>
          <p:cNvSpPr txBox="1"/>
          <p:nvPr/>
        </p:nvSpPr>
        <p:spPr>
          <a:xfrm>
            <a:off x="7132320" y="1874520"/>
            <a:ext cx="4297680" cy="457200"/>
          </a:xfrm>
          <a:prstGeom prst="rect">
            <a:avLst/>
          </a:prstGeom>
          <a:noFill/>
          <a:ln/>
        </p:spPr>
        <p:txBody>
          <a:bodyPr wrap="square" lIns="0" tIns="0" rIns="0" bIns="0" rtlCol="0" anchor="t"/>
          <a:lstStyle/>
          <a:p>
            <a:pPr indent="0" marL="0">
              <a:buNone/>
            </a:pPr>
            <a:r>
              <a:rPr lang="en-US" sz="1300" dirty="0">
                <a:solidFill>
                  <a:schemeClr val="tx1"/>
                </a:solidFill>
              </a:rPr>
              <a:t>Malicious text in chats or documents hijacks instructions.</a:t>
            </a:r>
            <a:endParaRPr lang="en-US" sz="1300" dirty="0"/>
          </a:p>
        </p:txBody>
      </p:sp>
      <p:sp>
        <p:nvSpPr>
          <p:cNvPr id="13" name="Shape 9"/>
          <p:cNvSpPr/>
          <p:nvPr/>
        </p:nvSpPr>
        <p:spPr>
          <a:xfrm>
            <a:off x="548640" y="2578608"/>
            <a:ext cx="5440680" cy="1051560"/>
          </a:xfrm>
          <a:prstGeom prst="roundRect">
            <a:avLst>
              <a:gd name="adj" fmla="val 8696"/>
            </a:avLst>
          </a:prstGeom>
          <a:solidFill>
            <a:schemeClr val="bg2"/>
          </a:solidFill>
          <a:ln w="9525">
            <a:solidFill>
              <a:schemeClr val="bg2"/>
            </a:solidFill>
            <a:prstDash val="solid"/>
          </a:ln>
        </p:spPr>
      </p:sp>
      <p:sp>
        <p:nvSpPr>
          <p:cNvPr id="14" name="Shape 10"/>
          <p:cNvSpPr/>
          <p:nvPr/>
        </p:nvSpPr>
        <p:spPr>
          <a:xfrm>
            <a:off x="749808" y="2807208"/>
            <a:ext cx="594360" cy="594360"/>
          </a:xfrm>
          <a:prstGeom prst="ellipse">
            <a:avLst/>
          </a:prstGeom>
          <a:solidFill>
            <a:schemeClr val="accent3"/>
          </a:solidFill>
          <a:ln w="12700">
            <a:solidFill>
              <a:schemeClr val="accent3"/>
            </a:solidFill>
            <a:prstDash val="solid"/>
          </a:ln>
        </p:spPr>
      </p:sp>
      <p:pic>
        <p:nvPicPr>
          <p:cNvPr id="15" name="Image 2" descr="preencoded.png">    </p:cNvPr>
          <p:cNvPicPr>
            <a:picLocks noChangeAspect="1"/>
          </p:cNvPicPr>
          <p:nvPr/>
        </p:nvPicPr>
        <p:blipFill>
          <a:blip r:embed="rId3"/>
          <a:stretch>
            <a:fillRect/>
          </a:stretch>
        </p:blipFill>
        <p:spPr>
          <a:xfrm>
            <a:off x="898398" y="2955798"/>
            <a:ext cx="297180" cy="297180"/>
          </a:xfrm>
          <a:prstGeom prst="rect">
            <a:avLst/>
          </a:prstGeom>
        </p:spPr>
      </p:pic>
      <p:sp>
        <p:nvSpPr>
          <p:cNvPr id="16" name="Text 11"/>
          <p:cNvSpPr txBox="1"/>
          <p:nvPr/>
        </p:nvSpPr>
        <p:spPr>
          <a:xfrm>
            <a:off x="1508760" y="2715768"/>
            <a:ext cx="4297680" cy="365760"/>
          </a:xfrm>
          <a:prstGeom prst="rect">
            <a:avLst/>
          </a:prstGeom>
          <a:noFill/>
          <a:ln/>
        </p:spPr>
        <p:txBody>
          <a:bodyPr wrap="square" lIns="0" tIns="0" rIns="0" bIns="0" rtlCol="0" anchor="t"/>
          <a:lstStyle/>
          <a:p>
            <a:pPr indent="0" marL="0">
              <a:buNone/>
            </a:pPr>
            <a:r>
              <a:rPr lang="en-US" sz="1500" b="1" dirty="0">
                <a:solidFill>
                  <a:schemeClr val="tx2"/>
                </a:solidFill>
              </a:rPr>
              <a:t>Legacy integration</a:t>
            </a:r>
            <a:endParaRPr lang="en-US" sz="1500" dirty="0"/>
          </a:p>
        </p:txBody>
      </p:sp>
      <p:sp>
        <p:nvSpPr>
          <p:cNvPr id="17" name="Text 12"/>
          <p:cNvSpPr txBox="1"/>
          <p:nvPr/>
        </p:nvSpPr>
        <p:spPr>
          <a:xfrm>
            <a:off x="1508760" y="3081528"/>
            <a:ext cx="4297680" cy="457200"/>
          </a:xfrm>
          <a:prstGeom prst="rect">
            <a:avLst/>
          </a:prstGeom>
          <a:noFill/>
          <a:ln/>
        </p:spPr>
        <p:txBody>
          <a:bodyPr wrap="square" lIns="0" tIns="0" rIns="0" bIns="0" rtlCol="0" anchor="t"/>
          <a:lstStyle/>
          <a:p>
            <a:pPr indent="0" marL="0">
              <a:buNone/>
            </a:pPr>
            <a:r>
              <a:rPr lang="en-US" sz="1300" dirty="0">
                <a:solidFill>
                  <a:schemeClr val="tx1"/>
                </a:solidFill>
              </a:rPr>
              <a:t>Core banking and mainframe APIs not built for AI agents.</a:t>
            </a:r>
            <a:endParaRPr lang="en-US" sz="1300" dirty="0"/>
          </a:p>
        </p:txBody>
      </p:sp>
      <p:sp>
        <p:nvSpPr>
          <p:cNvPr id="18" name="Shape 13"/>
          <p:cNvSpPr/>
          <p:nvPr/>
        </p:nvSpPr>
        <p:spPr>
          <a:xfrm>
            <a:off x="6172200" y="2578608"/>
            <a:ext cx="5440680" cy="1051560"/>
          </a:xfrm>
          <a:prstGeom prst="roundRect">
            <a:avLst>
              <a:gd name="adj" fmla="val 8696"/>
            </a:avLst>
          </a:prstGeom>
          <a:solidFill>
            <a:schemeClr val="bg2"/>
          </a:solidFill>
          <a:ln w="9525">
            <a:solidFill>
              <a:schemeClr val="bg2"/>
            </a:solidFill>
            <a:prstDash val="solid"/>
          </a:ln>
        </p:spPr>
      </p:sp>
      <p:sp>
        <p:nvSpPr>
          <p:cNvPr id="19" name="Shape 14"/>
          <p:cNvSpPr/>
          <p:nvPr/>
        </p:nvSpPr>
        <p:spPr>
          <a:xfrm>
            <a:off x="6373368" y="2807208"/>
            <a:ext cx="594360" cy="594360"/>
          </a:xfrm>
          <a:prstGeom prst="ellipse">
            <a:avLst/>
          </a:prstGeom>
          <a:solidFill>
            <a:schemeClr val="accent3"/>
          </a:solidFill>
          <a:ln w="12700">
            <a:solidFill>
              <a:schemeClr val="accent3"/>
            </a:solidFill>
            <a:prstDash val="solid"/>
          </a:ln>
        </p:spPr>
      </p:sp>
      <p:pic>
        <p:nvPicPr>
          <p:cNvPr id="20" name="Image 3" descr="preencoded.png">    </p:cNvPr>
          <p:cNvPicPr>
            <a:picLocks noChangeAspect="1"/>
          </p:cNvPicPr>
          <p:nvPr/>
        </p:nvPicPr>
        <p:blipFill>
          <a:blip r:embed="rId4"/>
          <a:stretch>
            <a:fillRect/>
          </a:stretch>
        </p:blipFill>
        <p:spPr>
          <a:xfrm>
            <a:off x="6521958" y="2955798"/>
            <a:ext cx="297180" cy="297180"/>
          </a:xfrm>
          <a:prstGeom prst="rect">
            <a:avLst/>
          </a:prstGeom>
        </p:spPr>
      </p:pic>
      <p:sp>
        <p:nvSpPr>
          <p:cNvPr id="21" name="Text 15"/>
          <p:cNvSpPr txBox="1"/>
          <p:nvPr/>
        </p:nvSpPr>
        <p:spPr>
          <a:xfrm>
            <a:off x="7132320" y="2715768"/>
            <a:ext cx="4297680" cy="365760"/>
          </a:xfrm>
          <a:prstGeom prst="rect">
            <a:avLst/>
          </a:prstGeom>
          <a:noFill/>
          <a:ln/>
        </p:spPr>
        <p:txBody>
          <a:bodyPr wrap="square" lIns="0" tIns="0" rIns="0" bIns="0" rtlCol="0" anchor="t"/>
          <a:lstStyle/>
          <a:p>
            <a:pPr indent="0" marL="0">
              <a:buNone/>
            </a:pPr>
            <a:r>
              <a:rPr lang="en-US" sz="1500" b="1" dirty="0">
                <a:solidFill>
                  <a:schemeClr val="tx2"/>
                </a:solidFill>
              </a:rPr>
              <a:t>Latency &amp; scalability</a:t>
            </a:r>
            <a:endParaRPr lang="en-US" sz="1500" dirty="0"/>
          </a:p>
        </p:txBody>
      </p:sp>
      <p:sp>
        <p:nvSpPr>
          <p:cNvPr id="22" name="Text 16"/>
          <p:cNvSpPr txBox="1"/>
          <p:nvPr/>
        </p:nvSpPr>
        <p:spPr>
          <a:xfrm>
            <a:off x="7132320" y="3081528"/>
            <a:ext cx="4297680" cy="457200"/>
          </a:xfrm>
          <a:prstGeom prst="rect">
            <a:avLst/>
          </a:prstGeom>
          <a:noFill/>
          <a:ln/>
        </p:spPr>
        <p:txBody>
          <a:bodyPr wrap="square" lIns="0" tIns="0" rIns="0" bIns="0" rtlCol="0" anchor="t"/>
          <a:lstStyle/>
          <a:p>
            <a:pPr indent="0" marL="0">
              <a:buNone/>
            </a:pPr>
            <a:r>
              <a:rPr lang="en-US" sz="1300" dirty="0">
                <a:solidFill>
                  <a:schemeClr val="tx1"/>
                </a:solidFill>
              </a:rPr>
              <a:t>Seconds-long responses; peak loads on salary days.</a:t>
            </a:r>
            <a:endParaRPr lang="en-US" sz="1300" dirty="0"/>
          </a:p>
        </p:txBody>
      </p:sp>
      <p:sp>
        <p:nvSpPr>
          <p:cNvPr id="23" name="Shape 17"/>
          <p:cNvSpPr/>
          <p:nvPr/>
        </p:nvSpPr>
        <p:spPr>
          <a:xfrm>
            <a:off x="548640" y="3785616"/>
            <a:ext cx="5440680" cy="1051560"/>
          </a:xfrm>
          <a:prstGeom prst="roundRect">
            <a:avLst>
              <a:gd name="adj" fmla="val 8696"/>
            </a:avLst>
          </a:prstGeom>
          <a:solidFill>
            <a:schemeClr val="bg2"/>
          </a:solidFill>
          <a:ln w="9525">
            <a:solidFill>
              <a:schemeClr val="bg2"/>
            </a:solidFill>
            <a:prstDash val="solid"/>
          </a:ln>
        </p:spPr>
      </p:sp>
      <p:sp>
        <p:nvSpPr>
          <p:cNvPr id="24" name="Shape 18"/>
          <p:cNvSpPr/>
          <p:nvPr/>
        </p:nvSpPr>
        <p:spPr>
          <a:xfrm>
            <a:off x="749808" y="4014216"/>
            <a:ext cx="594360" cy="594360"/>
          </a:xfrm>
          <a:prstGeom prst="ellipse">
            <a:avLst/>
          </a:prstGeom>
          <a:solidFill>
            <a:schemeClr val="accent3"/>
          </a:solidFill>
          <a:ln w="12700">
            <a:solidFill>
              <a:schemeClr val="accent3"/>
            </a:solidFill>
            <a:prstDash val="solid"/>
          </a:ln>
        </p:spPr>
      </p:sp>
      <p:pic>
        <p:nvPicPr>
          <p:cNvPr id="25" name="Image 4" descr="preencoded.png">    </p:cNvPr>
          <p:cNvPicPr>
            <a:picLocks noChangeAspect="1"/>
          </p:cNvPicPr>
          <p:nvPr/>
        </p:nvPicPr>
        <p:blipFill>
          <a:blip r:embed="rId5"/>
          <a:stretch>
            <a:fillRect/>
          </a:stretch>
        </p:blipFill>
        <p:spPr>
          <a:xfrm>
            <a:off x="898398" y="4162806"/>
            <a:ext cx="297180" cy="297180"/>
          </a:xfrm>
          <a:prstGeom prst="rect">
            <a:avLst/>
          </a:prstGeom>
        </p:spPr>
      </p:pic>
      <p:sp>
        <p:nvSpPr>
          <p:cNvPr id="26" name="Text 19"/>
          <p:cNvSpPr txBox="1"/>
          <p:nvPr/>
        </p:nvSpPr>
        <p:spPr>
          <a:xfrm>
            <a:off x="1508760" y="3922776"/>
            <a:ext cx="4297680" cy="365760"/>
          </a:xfrm>
          <a:prstGeom prst="rect">
            <a:avLst/>
          </a:prstGeom>
          <a:noFill/>
          <a:ln/>
        </p:spPr>
        <p:txBody>
          <a:bodyPr wrap="square" lIns="0" tIns="0" rIns="0" bIns="0" rtlCol="0" anchor="t"/>
          <a:lstStyle/>
          <a:p>
            <a:pPr indent="0" marL="0">
              <a:buNone/>
            </a:pPr>
            <a:r>
              <a:rPr lang="en-US" sz="1500" b="1" dirty="0">
                <a:solidFill>
                  <a:schemeClr val="tx2"/>
                </a:solidFill>
              </a:rPr>
              <a:t>Retrieval quality</a:t>
            </a:r>
            <a:endParaRPr lang="en-US" sz="1500" dirty="0"/>
          </a:p>
        </p:txBody>
      </p:sp>
      <p:sp>
        <p:nvSpPr>
          <p:cNvPr id="27" name="Text 20"/>
          <p:cNvSpPr txBox="1"/>
          <p:nvPr/>
        </p:nvSpPr>
        <p:spPr>
          <a:xfrm>
            <a:off x="1508760" y="4288536"/>
            <a:ext cx="4297680" cy="457200"/>
          </a:xfrm>
          <a:prstGeom prst="rect">
            <a:avLst/>
          </a:prstGeom>
          <a:noFill/>
          <a:ln/>
        </p:spPr>
        <p:txBody>
          <a:bodyPr wrap="square" lIns="0" tIns="0" rIns="0" bIns="0" rtlCol="0" anchor="t"/>
          <a:lstStyle/>
          <a:p>
            <a:pPr indent="0" marL="0">
              <a:buNone/>
            </a:pPr>
            <a:r>
              <a:rPr lang="en-US" sz="1300" dirty="0">
                <a:solidFill>
                  <a:schemeClr val="tx1"/>
                </a:solidFill>
              </a:rPr>
              <a:t>Poor chunking or stale documents → wrong context → wrong answers.</a:t>
            </a:r>
            <a:endParaRPr lang="en-US" sz="1300" dirty="0"/>
          </a:p>
        </p:txBody>
      </p:sp>
      <p:sp>
        <p:nvSpPr>
          <p:cNvPr id="28" name="Shape 21"/>
          <p:cNvSpPr/>
          <p:nvPr/>
        </p:nvSpPr>
        <p:spPr>
          <a:xfrm>
            <a:off x="6172200" y="3785616"/>
            <a:ext cx="5440680" cy="1051560"/>
          </a:xfrm>
          <a:prstGeom prst="roundRect">
            <a:avLst>
              <a:gd name="adj" fmla="val 8696"/>
            </a:avLst>
          </a:prstGeom>
          <a:solidFill>
            <a:schemeClr val="bg2"/>
          </a:solidFill>
          <a:ln w="9525">
            <a:solidFill>
              <a:schemeClr val="bg2"/>
            </a:solidFill>
            <a:prstDash val="solid"/>
          </a:ln>
        </p:spPr>
      </p:sp>
      <p:sp>
        <p:nvSpPr>
          <p:cNvPr id="29" name="Shape 22"/>
          <p:cNvSpPr/>
          <p:nvPr/>
        </p:nvSpPr>
        <p:spPr>
          <a:xfrm>
            <a:off x="6373368" y="4014216"/>
            <a:ext cx="594360" cy="594360"/>
          </a:xfrm>
          <a:prstGeom prst="ellipse">
            <a:avLst/>
          </a:prstGeom>
          <a:solidFill>
            <a:schemeClr val="accent3"/>
          </a:solidFill>
          <a:ln w="12700">
            <a:solidFill>
              <a:schemeClr val="accent3"/>
            </a:solidFill>
            <a:prstDash val="solid"/>
          </a:ln>
        </p:spPr>
      </p:sp>
      <p:pic>
        <p:nvPicPr>
          <p:cNvPr id="30" name="Image 5" descr="preencoded.png">    </p:cNvPr>
          <p:cNvPicPr>
            <a:picLocks noChangeAspect="1"/>
          </p:cNvPicPr>
          <p:nvPr/>
        </p:nvPicPr>
        <p:blipFill>
          <a:blip r:embed="rId6"/>
          <a:stretch>
            <a:fillRect/>
          </a:stretch>
        </p:blipFill>
        <p:spPr>
          <a:xfrm>
            <a:off x="6521958" y="4162806"/>
            <a:ext cx="297180" cy="297180"/>
          </a:xfrm>
          <a:prstGeom prst="rect">
            <a:avLst/>
          </a:prstGeom>
        </p:spPr>
      </p:pic>
      <p:sp>
        <p:nvSpPr>
          <p:cNvPr id="31" name="Text 23"/>
          <p:cNvSpPr txBox="1"/>
          <p:nvPr/>
        </p:nvSpPr>
        <p:spPr>
          <a:xfrm>
            <a:off x="7132320" y="3922776"/>
            <a:ext cx="4297680" cy="365760"/>
          </a:xfrm>
          <a:prstGeom prst="rect">
            <a:avLst/>
          </a:prstGeom>
          <a:noFill/>
          <a:ln/>
        </p:spPr>
        <p:txBody>
          <a:bodyPr wrap="square" lIns="0" tIns="0" rIns="0" bIns="0" rtlCol="0" anchor="t"/>
          <a:lstStyle/>
          <a:p>
            <a:pPr indent="0" marL="0">
              <a:buNone/>
            </a:pPr>
            <a:r>
              <a:rPr lang="en-US" sz="1500" b="1" dirty="0">
                <a:solidFill>
                  <a:schemeClr val="tx2"/>
                </a:solidFill>
              </a:rPr>
              <a:t>Evaluation is hard</a:t>
            </a:r>
            <a:endParaRPr lang="en-US" sz="1500" dirty="0"/>
          </a:p>
        </p:txBody>
      </p:sp>
      <p:sp>
        <p:nvSpPr>
          <p:cNvPr id="32" name="Text 24"/>
          <p:cNvSpPr txBox="1"/>
          <p:nvPr/>
        </p:nvSpPr>
        <p:spPr>
          <a:xfrm>
            <a:off x="7132320" y="4288536"/>
            <a:ext cx="4297680" cy="457200"/>
          </a:xfrm>
          <a:prstGeom prst="rect">
            <a:avLst/>
          </a:prstGeom>
          <a:noFill/>
          <a:ln/>
        </p:spPr>
        <p:txBody>
          <a:bodyPr wrap="square" lIns="0" tIns="0" rIns="0" bIns="0" rtlCol="0" anchor="t"/>
          <a:lstStyle/>
          <a:p>
            <a:pPr indent="0" marL="0">
              <a:buNone/>
            </a:pPr>
            <a:r>
              <a:rPr lang="en-US" sz="1300" dirty="0">
                <a:solidFill>
                  <a:schemeClr val="tx1"/>
                </a:solidFill>
              </a:rPr>
              <a:t>No single accuracy metric; needs golden sets and human review.</a:t>
            </a:r>
            <a:endParaRPr lang="en-US" sz="1300" dirty="0"/>
          </a:p>
        </p:txBody>
      </p:sp>
      <p:sp>
        <p:nvSpPr>
          <p:cNvPr id="33" name="Shape 25"/>
          <p:cNvSpPr/>
          <p:nvPr/>
        </p:nvSpPr>
        <p:spPr>
          <a:xfrm>
            <a:off x="548640" y="4992624"/>
            <a:ext cx="5440680" cy="1051560"/>
          </a:xfrm>
          <a:prstGeom prst="roundRect">
            <a:avLst>
              <a:gd name="adj" fmla="val 8696"/>
            </a:avLst>
          </a:prstGeom>
          <a:solidFill>
            <a:schemeClr val="bg2"/>
          </a:solidFill>
          <a:ln w="9525">
            <a:solidFill>
              <a:schemeClr val="bg2"/>
            </a:solidFill>
            <a:prstDash val="solid"/>
          </a:ln>
        </p:spPr>
      </p:sp>
      <p:sp>
        <p:nvSpPr>
          <p:cNvPr id="34" name="Shape 26"/>
          <p:cNvSpPr/>
          <p:nvPr/>
        </p:nvSpPr>
        <p:spPr>
          <a:xfrm>
            <a:off x="749808" y="5221224"/>
            <a:ext cx="594360" cy="594360"/>
          </a:xfrm>
          <a:prstGeom prst="ellipse">
            <a:avLst/>
          </a:prstGeom>
          <a:solidFill>
            <a:schemeClr val="accent3"/>
          </a:solidFill>
          <a:ln w="12700">
            <a:solidFill>
              <a:schemeClr val="accent3"/>
            </a:solidFill>
            <a:prstDash val="solid"/>
          </a:ln>
        </p:spPr>
      </p:sp>
      <p:pic>
        <p:nvPicPr>
          <p:cNvPr id="35" name="Image 6" descr="preencoded.png">    </p:cNvPr>
          <p:cNvPicPr>
            <a:picLocks noChangeAspect="1"/>
          </p:cNvPicPr>
          <p:nvPr/>
        </p:nvPicPr>
        <p:blipFill>
          <a:blip r:embed="rId7"/>
          <a:stretch>
            <a:fillRect/>
          </a:stretch>
        </p:blipFill>
        <p:spPr>
          <a:xfrm>
            <a:off x="898398" y="5369814"/>
            <a:ext cx="297180" cy="297180"/>
          </a:xfrm>
          <a:prstGeom prst="rect">
            <a:avLst/>
          </a:prstGeom>
        </p:spPr>
      </p:pic>
      <p:sp>
        <p:nvSpPr>
          <p:cNvPr id="36" name="Text 27"/>
          <p:cNvSpPr txBox="1"/>
          <p:nvPr/>
        </p:nvSpPr>
        <p:spPr>
          <a:xfrm>
            <a:off x="1508760" y="5129784"/>
            <a:ext cx="4297680" cy="365760"/>
          </a:xfrm>
          <a:prstGeom prst="rect">
            <a:avLst/>
          </a:prstGeom>
          <a:noFill/>
          <a:ln/>
        </p:spPr>
        <p:txBody>
          <a:bodyPr wrap="square" lIns="0" tIns="0" rIns="0" bIns="0" rtlCol="0" anchor="t"/>
          <a:lstStyle/>
          <a:p>
            <a:pPr indent="0" marL="0">
              <a:buNone/>
            </a:pPr>
            <a:r>
              <a:rPr lang="en-US" sz="1500" b="1" dirty="0">
                <a:solidFill>
                  <a:schemeClr val="tx2"/>
                </a:solidFill>
              </a:rPr>
              <a:t>Drift &amp; version changes</a:t>
            </a:r>
            <a:endParaRPr lang="en-US" sz="1500" dirty="0"/>
          </a:p>
        </p:txBody>
      </p:sp>
      <p:sp>
        <p:nvSpPr>
          <p:cNvPr id="37" name="Text 28"/>
          <p:cNvSpPr txBox="1"/>
          <p:nvPr/>
        </p:nvSpPr>
        <p:spPr>
          <a:xfrm>
            <a:off x="1508760" y="5495544"/>
            <a:ext cx="4297680" cy="457200"/>
          </a:xfrm>
          <a:prstGeom prst="rect">
            <a:avLst/>
          </a:prstGeom>
          <a:noFill/>
          <a:ln/>
        </p:spPr>
        <p:txBody>
          <a:bodyPr wrap="square" lIns="0" tIns="0" rIns="0" bIns="0" rtlCol="0" anchor="t"/>
          <a:lstStyle/>
          <a:p>
            <a:pPr indent="0" marL="0">
              <a:buNone/>
            </a:pPr>
            <a:r>
              <a:rPr lang="en-US" sz="1300" dirty="0">
                <a:solidFill>
                  <a:schemeClr val="tx1"/>
                </a:solidFill>
              </a:rPr>
              <a:t>Provider updates change behaviour; KB and products change too.</a:t>
            </a:r>
            <a:endParaRPr lang="en-US" sz="1300" dirty="0"/>
          </a:p>
        </p:txBody>
      </p:sp>
      <p:sp>
        <p:nvSpPr>
          <p:cNvPr id="38" name="Shape 29"/>
          <p:cNvSpPr/>
          <p:nvPr/>
        </p:nvSpPr>
        <p:spPr>
          <a:xfrm>
            <a:off x="6172200" y="4992624"/>
            <a:ext cx="5440680" cy="1051560"/>
          </a:xfrm>
          <a:prstGeom prst="roundRect">
            <a:avLst>
              <a:gd name="adj" fmla="val 8696"/>
            </a:avLst>
          </a:prstGeom>
          <a:solidFill>
            <a:schemeClr val="bg2"/>
          </a:solidFill>
          <a:ln w="9525">
            <a:solidFill>
              <a:schemeClr val="bg2"/>
            </a:solidFill>
            <a:prstDash val="solid"/>
          </a:ln>
        </p:spPr>
      </p:sp>
      <p:sp>
        <p:nvSpPr>
          <p:cNvPr id="39" name="Shape 30"/>
          <p:cNvSpPr/>
          <p:nvPr/>
        </p:nvSpPr>
        <p:spPr>
          <a:xfrm>
            <a:off x="6373368" y="5221224"/>
            <a:ext cx="594360" cy="594360"/>
          </a:xfrm>
          <a:prstGeom prst="ellipse">
            <a:avLst/>
          </a:prstGeom>
          <a:solidFill>
            <a:schemeClr val="accent3"/>
          </a:solidFill>
          <a:ln w="12700">
            <a:solidFill>
              <a:schemeClr val="accent3"/>
            </a:solidFill>
            <a:prstDash val="solid"/>
          </a:ln>
        </p:spPr>
      </p:sp>
      <p:pic>
        <p:nvPicPr>
          <p:cNvPr id="40" name="Image 7" descr="preencoded.png">    </p:cNvPr>
          <p:cNvPicPr>
            <a:picLocks noChangeAspect="1"/>
          </p:cNvPicPr>
          <p:nvPr/>
        </p:nvPicPr>
        <p:blipFill>
          <a:blip r:embed="rId8"/>
          <a:stretch>
            <a:fillRect/>
          </a:stretch>
        </p:blipFill>
        <p:spPr>
          <a:xfrm>
            <a:off x="6521958" y="5369814"/>
            <a:ext cx="297180" cy="297180"/>
          </a:xfrm>
          <a:prstGeom prst="rect">
            <a:avLst/>
          </a:prstGeom>
        </p:spPr>
      </p:pic>
      <p:sp>
        <p:nvSpPr>
          <p:cNvPr id="41" name="Text 31"/>
          <p:cNvSpPr txBox="1"/>
          <p:nvPr/>
        </p:nvSpPr>
        <p:spPr>
          <a:xfrm>
            <a:off x="7132320" y="5129784"/>
            <a:ext cx="4297680" cy="365760"/>
          </a:xfrm>
          <a:prstGeom prst="rect">
            <a:avLst/>
          </a:prstGeom>
          <a:noFill/>
          <a:ln/>
        </p:spPr>
        <p:txBody>
          <a:bodyPr wrap="square" lIns="0" tIns="0" rIns="0" bIns="0" rtlCol="0" anchor="t"/>
          <a:lstStyle/>
          <a:p>
            <a:pPr indent="0" marL="0">
              <a:buNone/>
            </a:pPr>
            <a:r>
              <a:rPr lang="en-US" sz="1500" b="1" dirty="0">
                <a:solidFill>
                  <a:schemeClr val="tx2"/>
                </a:solidFill>
              </a:rPr>
              <a:t>Infrastructure &amp; cost</a:t>
            </a:r>
            <a:endParaRPr lang="en-US" sz="1500" dirty="0"/>
          </a:p>
        </p:txBody>
      </p:sp>
      <p:sp>
        <p:nvSpPr>
          <p:cNvPr id="42" name="Text 32"/>
          <p:cNvSpPr txBox="1"/>
          <p:nvPr/>
        </p:nvSpPr>
        <p:spPr>
          <a:xfrm>
            <a:off x="7132320" y="5495544"/>
            <a:ext cx="4297680" cy="457200"/>
          </a:xfrm>
          <a:prstGeom prst="rect">
            <a:avLst/>
          </a:prstGeom>
          <a:noFill/>
          <a:ln/>
        </p:spPr>
        <p:txBody>
          <a:bodyPr wrap="square" lIns="0" tIns="0" rIns="0" bIns="0" rtlCol="0" anchor="t"/>
          <a:lstStyle/>
          <a:p>
            <a:pPr indent="0" marL="0">
              <a:buNone/>
            </a:pPr>
            <a:r>
              <a:rPr lang="en-US" sz="1300" dirty="0">
                <a:solidFill>
                  <a:schemeClr val="tx1"/>
                </a:solidFill>
              </a:rPr>
              <a:t>GPU capacity, on-prem hosting, cost per token at scale.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Reference Architecture: GenAI Platform for a Bank</a:t>
            </a:r>
            <a:endParaRPr lang="en-US" sz="3200" dirty="0"/>
          </a:p>
        </p:txBody>
      </p:sp>
      <p:sp>
        <p:nvSpPr>
          <p:cNvPr id="3" name="Text 1"/>
          <p:cNvSpPr txBox="1"/>
          <p:nvPr/>
        </p:nvSpPr>
        <p:spPr>
          <a:xfrm>
            <a:off x="548640" y="1371600"/>
            <a:ext cx="2194560" cy="841248"/>
          </a:xfrm>
          <a:prstGeom prst="roundRect">
            <a:avLst>
              <a:gd name="adj" fmla="val 8696"/>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300" b="1" dirty="0">
                <a:solidFill>
                  <a:schemeClr val="tx1"/>
                </a:solidFill>
              </a:rPr>
              <a:t>Channels &amp; experience</a:t>
            </a:r>
            <a:endParaRPr lang="en-US" sz="1300" dirty="0"/>
          </a:p>
        </p:txBody>
      </p:sp>
      <p:sp>
        <p:nvSpPr>
          <p:cNvPr id="4" name="Text 2"/>
          <p:cNvSpPr txBox="1"/>
          <p:nvPr/>
        </p:nvSpPr>
        <p:spPr>
          <a:xfrm>
            <a:off x="2880360" y="1371600"/>
            <a:ext cx="6263640" cy="841248"/>
          </a:xfrm>
          <a:prstGeom prst="roundRect">
            <a:avLst>
              <a:gd name="adj" fmla="val 8696"/>
            </a:avLst>
          </a:prstGeom>
          <a:solidFill>
            <a:schemeClr val="accent2">
              <a:alpha val="14000"/>
            </a:schemeClr>
          </a:solidFill>
          <a:ln w="9525">
            <a:solidFill>
              <a:schemeClr val="accent2"/>
            </a:solidFill>
          </a:ln>
        </p:spPr>
        <p:txBody>
          <a:bodyPr wrap="square" lIns="127000" tIns="127000" rIns="127000" bIns="127000" rtlCol="0" anchor="ctr"/>
          <a:lstStyle/>
          <a:p>
            <a:pPr algn="l" indent="0" marL="0">
              <a:buNone/>
            </a:pPr>
            <a:r>
              <a:rPr lang="en-US" sz="1300" dirty="0">
                <a:solidFill>
                  <a:schemeClr val="tx1"/>
                </a:solidFill>
              </a:rPr>
              <a:t>Mobile app · Net banking · WhatsApp · Branch / RM desktop · Contact-centre agent console</a:t>
            </a:r>
            <a:endParaRPr lang="en-US" sz="1300" dirty="0"/>
          </a:p>
        </p:txBody>
      </p:sp>
      <p:sp>
        <p:nvSpPr>
          <p:cNvPr id="5" name="Text 3"/>
          <p:cNvSpPr txBox="1"/>
          <p:nvPr/>
        </p:nvSpPr>
        <p:spPr>
          <a:xfrm>
            <a:off x="548640" y="2322576"/>
            <a:ext cx="2194560" cy="841248"/>
          </a:xfrm>
          <a:prstGeom prst="roundRect">
            <a:avLst>
              <a:gd name="adj" fmla="val 8696"/>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300" b="1" dirty="0">
                <a:solidFill>
                  <a:schemeClr val="bg1"/>
                </a:solidFill>
              </a:rPr>
              <a:t>Orchestration &amp; apps</a:t>
            </a:r>
            <a:endParaRPr lang="en-US" sz="1300" dirty="0"/>
          </a:p>
        </p:txBody>
      </p:sp>
      <p:sp>
        <p:nvSpPr>
          <p:cNvPr id="6" name="Text 4"/>
          <p:cNvSpPr txBox="1"/>
          <p:nvPr/>
        </p:nvSpPr>
        <p:spPr>
          <a:xfrm>
            <a:off x="2880360" y="2322576"/>
            <a:ext cx="6263640" cy="841248"/>
          </a:xfrm>
          <a:prstGeom prst="roundRect">
            <a:avLst>
              <a:gd name="adj" fmla="val 8696"/>
            </a:avLst>
          </a:prstGeom>
          <a:solidFill>
            <a:schemeClr val="accent1">
              <a:alpha val="14000"/>
            </a:schemeClr>
          </a:solidFill>
          <a:ln w="9525">
            <a:solidFill>
              <a:schemeClr val="accent1"/>
            </a:solidFill>
          </a:ln>
        </p:spPr>
        <p:txBody>
          <a:bodyPr wrap="square" lIns="127000" tIns="127000" rIns="127000" bIns="127000" rtlCol="0" anchor="ctr"/>
          <a:lstStyle/>
          <a:p>
            <a:pPr algn="l" indent="0" marL="0">
              <a:buNone/>
            </a:pPr>
            <a:r>
              <a:rPr lang="en-US" sz="1300" dirty="0">
                <a:solidFill>
                  <a:schemeClr val="tx1"/>
                </a:solidFill>
              </a:rPr>
              <a:t>Agent / workflow orchestrator · Prompt library · RAG pipelines · Tool &amp; API connectors · Session memory</a:t>
            </a:r>
            <a:endParaRPr lang="en-US" sz="1300" dirty="0"/>
          </a:p>
        </p:txBody>
      </p:sp>
      <p:sp>
        <p:nvSpPr>
          <p:cNvPr id="7" name="Text 5"/>
          <p:cNvSpPr txBox="1"/>
          <p:nvPr/>
        </p:nvSpPr>
        <p:spPr>
          <a:xfrm>
            <a:off x="548640" y="3273552"/>
            <a:ext cx="2194560" cy="841248"/>
          </a:xfrm>
          <a:prstGeom prst="roundRect">
            <a:avLst>
              <a:gd name="adj" fmla="val 8696"/>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300" b="1" dirty="0">
                <a:solidFill>
                  <a:schemeClr val="bg1"/>
                </a:solidFill>
              </a:rPr>
              <a:t>Model layer</a:t>
            </a:r>
            <a:endParaRPr lang="en-US" sz="1300" dirty="0"/>
          </a:p>
        </p:txBody>
      </p:sp>
      <p:sp>
        <p:nvSpPr>
          <p:cNvPr id="8" name="Text 6"/>
          <p:cNvSpPr txBox="1"/>
          <p:nvPr/>
        </p:nvSpPr>
        <p:spPr>
          <a:xfrm>
            <a:off x="2880360" y="3273552"/>
            <a:ext cx="6263640" cy="841248"/>
          </a:xfrm>
          <a:prstGeom prst="roundRect">
            <a:avLst>
              <a:gd name="adj" fmla="val 8696"/>
            </a:avLst>
          </a:prstGeom>
          <a:solidFill>
            <a:schemeClr val="accent3">
              <a:alpha val="14000"/>
            </a:schemeClr>
          </a:solidFill>
          <a:ln w="9525">
            <a:solidFill>
              <a:schemeClr val="accent3"/>
            </a:solidFill>
          </a:ln>
        </p:spPr>
        <p:txBody>
          <a:bodyPr wrap="square" lIns="127000" tIns="127000" rIns="127000" bIns="127000" rtlCol="0" anchor="ctr"/>
          <a:lstStyle/>
          <a:p>
            <a:pPr algn="l" indent="0" marL="0">
              <a:buNone/>
            </a:pPr>
            <a:r>
              <a:rPr lang="en-US" sz="1300" dirty="0">
                <a:solidFill>
                  <a:schemeClr val="tx1"/>
                </a:solidFill>
              </a:rPr>
              <a:t>Model gateway &amp; router · Private open-weight LLMs · Managed LLM APIs in VPC · Embedding models · Classical ML</a:t>
            </a:r>
            <a:endParaRPr lang="en-US" sz="1300" dirty="0"/>
          </a:p>
        </p:txBody>
      </p:sp>
      <p:sp>
        <p:nvSpPr>
          <p:cNvPr id="9" name="Text 7"/>
          <p:cNvSpPr txBox="1"/>
          <p:nvPr/>
        </p:nvSpPr>
        <p:spPr>
          <a:xfrm>
            <a:off x="548640" y="4224528"/>
            <a:ext cx="2194560" cy="841248"/>
          </a:xfrm>
          <a:prstGeom prst="roundRect">
            <a:avLst>
              <a:gd name="adj" fmla="val 8696"/>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300" b="1" dirty="0">
                <a:solidFill>
                  <a:schemeClr val="bg1"/>
                </a:solidFill>
              </a:rPr>
              <a:t>Data &amp; knowledge</a:t>
            </a:r>
            <a:endParaRPr lang="en-US" sz="1300" dirty="0"/>
          </a:p>
        </p:txBody>
      </p:sp>
      <p:sp>
        <p:nvSpPr>
          <p:cNvPr id="10" name="Text 8"/>
          <p:cNvSpPr txBox="1"/>
          <p:nvPr/>
        </p:nvSpPr>
        <p:spPr>
          <a:xfrm>
            <a:off x="2880360" y="4224528"/>
            <a:ext cx="6263640" cy="841248"/>
          </a:xfrm>
          <a:prstGeom prst="roundRect">
            <a:avLst>
              <a:gd name="adj" fmla="val 8696"/>
            </a:avLst>
          </a:prstGeom>
          <a:solidFill>
            <a:schemeClr val="accent5">
              <a:alpha val="14000"/>
            </a:schemeClr>
          </a:solidFill>
          <a:ln w="9525">
            <a:solidFill>
              <a:schemeClr val="accent5"/>
            </a:solidFill>
          </a:ln>
        </p:spPr>
        <p:txBody>
          <a:bodyPr wrap="square" lIns="127000" tIns="127000" rIns="127000" bIns="127000" rtlCol="0" anchor="ctr"/>
          <a:lstStyle/>
          <a:p>
            <a:pPr algn="l" indent="0" marL="0">
              <a:buNone/>
            </a:pPr>
            <a:r>
              <a:rPr lang="en-US" sz="1300" dirty="0">
                <a:solidFill>
                  <a:schemeClr val="tx1"/>
                </a:solidFill>
              </a:rPr>
              <a:t>Vector DB · Document store · Data lake / warehouse · Core banking, LOS, CRM, TMS · Feature store</a:t>
            </a:r>
            <a:endParaRPr lang="en-US" sz="1300" dirty="0"/>
          </a:p>
        </p:txBody>
      </p:sp>
      <p:sp>
        <p:nvSpPr>
          <p:cNvPr id="11" name="Text 9"/>
          <p:cNvSpPr txBox="1"/>
          <p:nvPr/>
        </p:nvSpPr>
        <p:spPr>
          <a:xfrm>
            <a:off x="548640" y="5175504"/>
            <a:ext cx="2194560" cy="841248"/>
          </a:xfrm>
          <a:prstGeom prst="roundRect">
            <a:avLst>
              <a:gd name="adj" fmla="val 8696"/>
            </a:avLst>
          </a:prstGeom>
          <a:solidFill>
            <a:schemeClr val="tx2"/>
          </a:solidFill>
          <a:ln w="9525">
            <a:solidFill>
              <a:schemeClr val="tx2"/>
            </a:solidFill>
          </a:ln>
        </p:spPr>
        <p:txBody>
          <a:bodyPr wrap="square" lIns="50800" tIns="50800" rIns="50800" bIns="50800" rtlCol="0" anchor="ctr"/>
          <a:lstStyle/>
          <a:p>
            <a:pPr algn="ctr" indent="0" marL="0">
              <a:buNone/>
            </a:pPr>
            <a:r>
              <a:rPr lang="en-US" sz="1300" b="1" dirty="0">
                <a:solidFill>
                  <a:schemeClr val="bg1"/>
                </a:solidFill>
              </a:rPr>
              <a:t>Infrastructure</a:t>
            </a:r>
            <a:endParaRPr lang="en-US" sz="1300" dirty="0"/>
          </a:p>
        </p:txBody>
      </p:sp>
      <p:sp>
        <p:nvSpPr>
          <p:cNvPr id="12" name="Text 10"/>
          <p:cNvSpPr txBox="1"/>
          <p:nvPr/>
        </p:nvSpPr>
        <p:spPr>
          <a:xfrm>
            <a:off x="2880360" y="5175504"/>
            <a:ext cx="6263640" cy="841248"/>
          </a:xfrm>
          <a:prstGeom prst="roundRect">
            <a:avLst>
              <a:gd name="adj" fmla="val 8696"/>
            </a:avLst>
          </a:prstGeom>
          <a:solidFill>
            <a:schemeClr val="accent5">
              <a:alpha val="14000"/>
            </a:schemeClr>
          </a:solidFill>
          <a:ln w="9525">
            <a:solidFill>
              <a:schemeClr val="accent5"/>
            </a:solidFill>
          </a:ln>
        </p:spPr>
        <p:txBody>
          <a:bodyPr wrap="square" lIns="127000" tIns="127000" rIns="127000" bIns="127000" rtlCol="0" anchor="ctr"/>
          <a:lstStyle/>
          <a:p>
            <a:pPr algn="l" indent="0" marL="0">
              <a:buNone/>
            </a:pPr>
            <a:r>
              <a:rPr lang="en-US" sz="1300" dirty="0">
                <a:solidFill>
                  <a:schemeClr val="tx1"/>
                </a:solidFill>
              </a:rPr>
              <a:t>GPU / cloud with data localised in India · Kubernetes · Secrets &amp; key management · Network isolation</a:t>
            </a:r>
            <a:endParaRPr lang="en-US" sz="1300" dirty="0"/>
          </a:p>
        </p:txBody>
      </p:sp>
      <p:sp>
        <p:nvSpPr>
          <p:cNvPr id="13" name="Shape 11"/>
          <p:cNvSpPr/>
          <p:nvPr/>
        </p:nvSpPr>
        <p:spPr>
          <a:xfrm>
            <a:off x="9372600" y="1371600"/>
            <a:ext cx="2240280" cy="4645152"/>
          </a:xfrm>
          <a:prstGeom prst="roundRect">
            <a:avLst>
              <a:gd name="adj" fmla="val 4082"/>
            </a:avLst>
          </a:prstGeom>
          <a:solidFill>
            <a:schemeClr val="accent4">
              <a:alpha val="12000"/>
            </a:schemeClr>
          </a:solidFill>
          <a:ln w="15875">
            <a:solidFill>
              <a:schemeClr val="accent4"/>
            </a:solidFill>
            <a:prstDash val="solid"/>
          </a:ln>
        </p:spPr>
      </p:sp>
      <p:sp>
        <p:nvSpPr>
          <p:cNvPr id="14" name="Text 12"/>
          <p:cNvSpPr txBox="1"/>
          <p:nvPr/>
        </p:nvSpPr>
        <p:spPr>
          <a:xfrm>
            <a:off x="9509760" y="1508760"/>
            <a:ext cx="2011680" cy="4389120"/>
          </a:xfrm>
          <a:prstGeom prst="rect">
            <a:avLst/>
          </a:prstGeom>
          <a:noFill/>
          <a:ln/>
        </p:spPr>
        <p:txBody>
          <a:bodyPr wrap="square" lIns="0" tIns="0" rIns="0" bIns="0" rtlCol="0" anchor="t"/>
          <a:lstStyle/>
          <a:p>
            <a:pPr indent="0" marL="0">
              <a:spcAft>
                <a:spcPts val="800"/>
              </a:spcAft>
              <a:buNone/>
            </a:pPr>
            <a:r>
              <a:rPr lang="en-US" sz="1400" b="1" dirty="0">
                <a:solidFill>
                  <a:schemeClr val="accent4"/>
                </a:solidFill>
              </a:rPr>
              <a:t>Security, risk &amp; governance</a:t>
            </a:r>
            <a:endParaRPr lang="en-US" sz="1300" dirty="0"/>
          </a:p>
          <a:p>
            <a:pPr indent="0" marL="0">
              <a:spcAft>
                <a:spcPts val="800"/>
              </a:spcAft>
              <a:buNone/>
            </a:pPr>
            <a:r>
              <a:rPr lang="en-US" sz="1300" dirty="0">
                <a:solidFill>
                  <a:schemeClr val="tx1"/>
                </a:solidFill>
              </a:rPr>
              <a:t>Input / output guardrails</a:t>
            </a:r>
            <a:endParaRPr lang="en-US" sz="1300" dirty="0"/>
          </a:p>
          <a:p>
            <a:pPr indent="0" marL="0">
              <a:spcAft>
                <a:spcPts val="800"/>
              </a:spcAft>
              <a:buNone/>
            </a:pPr>
            <a:r>
              <a:rPr lang="en-US" sz="1300" dirty="0">
                <a:solidFill>
                  <a:schemeClr val="tx1"/>
                </a:solidFill>
              </a:rPr>
              <a:t>PII masking &amp; DLP</a:t>
            </a:r>
            <a:endParaRPr lang="en-US" sz="1300" dirty="0"/>
          </a:p>
          <a:p>
            <a:pPr indent="0" marL="0">
              <a:spcAft>
                <a:spcPts val="800"/>
              </a:spcAft>
              <a:buNone/>
            </a:pPr>
            <a:r>
              <a:rPr lang="en-US" sz="1300" dirty="0">
                <a:solidFill>
                  <a:schemeClr val="tx1"/>
                </a:solidFill>
              </a:rPr>
              <a:t>Role-based access</a:t>
            </a:r>
            <a:endParaRPr lang="en-US" sz="1300" dirty="0"/>
          </a:p>
          <a:p>
            <a:pPr indent="0" marL="0">
              <a:spcAft>
                <a:spcPts val="800"/>
              </a:spcAft>
              <a:buNone/>
            </a:pPr>
            <a:r>
              <a:rPr lang="en-US" sz="1300" dirty="0">
                <a:solidFill>
                  <a:schemeClr val="tx1"/>
                </a:solidFill>
              </a:rPr>
              <a:t>Evaluation &amp; red-teaming</a:t>
            </a:r>
            <a:endParaRPr lang="en-US" sz="1300" dirty="0"/>
          </a:p>
          <a:p>
            <a:pPr indent="0" marL="0">
              <a:spcAft>
                <a:spcPts val="800"/>
              </a:spcAft>
              <a:buNone/>
            </a:pPr>
            <a:r>
              <a:rPr lang="en-US" sz="1300" dirty="0">
                <a:solidFill>
                  <a:schemeClr val="tx1"/>
                </a:solidFill>
              </a:rPr>
              <a:t>LLMOps monitoring</a:t>
            </a:r>
            <a:endParaRPr lang="en-US" sz="1300" dirty="0"/>
          </a:p>
          <a:p>
            <a:pPr indent="0" marL="0">
              <a:spcAft>
                <a:spcPts val="800"/>
              </a:spcAft>
              <a:buNone/>
            </a:pPr>
            <a:r>
              <a:rPr lang="en-US" sz="1300" dirty="0">
                <a:solidFill>
                  <a:schemeClr val="tx1"/>
                </a:solidFill>
              </a:rPr>
              <a:t>Audit logs &amp; model inventory</a:t>
            </a:r>
            <a:endParaRPr lang="en-US" sz="1300" dirty="0"/>
          </a:p>
          <a:p>
            <a:pPr indent="0" marL="0">
              <a:spcAft>
                <a:spcPts val="800"/>
              </a:spcAft>
              <a:buNone/>
            </a:pPr>
            <a:r>
              <a:rPr lang="en-US" sz="1300" dirty="0">
                <a:solidFill>
                  <a:schemeClr val="tx1"/>
                </a:solidFill>
              </a:rPr>
              <a:t>Model risk validation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1463040"/>
            <a:ext cx="2743200" cy="10972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04</a:t>
            </a:r>
            <a:endParaRPr lang="en-US" sz="6000" dirty="0"/>
          </a:p>
        </p:txBody>
      </p:sp>
      <p:sp>
        <p:nvSpPr>
          <p:cNvPr id="3"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rPr>
              <a:t>Banking Use Cases</a:t>
            </a:r>
            <a:endParaRPr lang="en-US" sz="4000" dirty="0"/>
          </a:p>
        </p:txBody>
      </p:sp>
      <p:sp>
        <p:nvSpPr>
          <p:cNvPr id="4" name="Text 0"/>
          <p:cNvSpPr/>
          <p:nvPr>
            <p:ph idx="101" type="body" hasCustomPrompt="1"/>
          </p:nvPr>
        </p:nvSpPr>
        <p:spPr>
          <a:xfrm>
            <a:off x="731520" y="3794760"/>
            <a:ext cx="10515600" cy="731520"/>
          </a:xfrm>
          <a:prstGeom prst="rect">
            <a:avLst/>
          </a:prstGeom>
          <a:noFill/>
          <a:ln/>
        </p:spPr>
        <p:txBody>
          <a:bodyPr wrap="square" rtlCol="0" anchor="t"/>
          <a:lstStyle/>
          <a:p>
            <a:pPr algn="l" indent="0" marL="0">
              <a:buNone/>
            </a:pPr>
            <a:r>
              <a:rPr lang="en-US" sz="1800" dirty="0">
                <a:solidFill>
                  <a:schemeClr val="accent2"/>
                </a:solidFill>
              </a:rPr>
              <a:t>Three use cases · 5W1H · architecture flow · implementation workflow</a:t>
            </a:r>
            <a:endParaRPr lang="en-US" sz="1800" dirty="0"/>
          </a:p>
        </p:txBody>
      </p:sp>
      <p:sp>
        <p:nvSpPr>
          <p:cNvPr id="5" name="Shape 3"/>
          <p:cNvSpPr/>
          <p:nvPr/>
        </p:nvSpPr>
        <p:spPr>
          <a:xfrm>
            <a:off x="9326880" y="4206240"/>
            <a:ext cx="3108960" cy="3108960"/>
          </a:xfrm>
          <a:prstGeom prst="ellipse">
            <a:avLst/>
          </a:prstGeom>
          <a:solidFill>
            <a:schemeClr val="accent1">
              <a:alpha val="0"/>
            </a:schemeClr>
          </a:solidFill>
          <a:ln w="25400">
            <a:solidFill>
              <a:schemeClr val="accent1">
                <a:alpha val="40000"/>
              </a:schemeClr>
            </a:solidFill>
            <a:prstDash val="solid"/>
          </a:ln>
        </p:spPr>
      </p:sp>
      <p:sp>
        <p:nvSpPr>
          <p:cNvPr id="6" name="Shape 4"/>
          <p:cNvSpPr/>
          <p:nvPr/>
        </p:nvSpPr>
        <p:spPr>
          <a:xfrm>
            <a:off x="9829800" y="4709160"/>
            <a:ext cx="2103120" cy="2103120"/>
          </a:xfrm>
          <a:prstGeom prst="ellipse">
            <a:avLst/>
          </a:prstGeom>
          <a:solidFill>
            <a:schemeClr val="accent2">
              <a:alpha val="0"/>
            </a:schemeClr>
          </a:solidFill>
          <a:ln w="25400">
            <a:solidFill>
              <a:schemeClr val="accent2">
                <a:alpha val="60000"/>
              </a:schemeClr>
            </a:solidFill>
            <a:prstDash val="solid"/>
          </a:ln>
        </p:spPr>
      </p:sp>
      <p:sp>
        <p:nvSpPr>
          <p:cNvPr id="7" name="Shape 5"/>
          <p:cNvSpPr/>
          <p:nvPr/>
        </p:nvSpPr>
        <p:spPr>
          <a:xfrm>
            <a:off x="10287000" y="5166360"/>
            <a:ext cx="1188720" cy="1188720"/>
          </a:xfrm>
          <a:prstGeom prst="ellipse">
            <a:avLst/>
          </a:prstGeom>
          <a:solidFill>
            <a:schemeClr val="accent2"/>
          </a:solidFill>
          <a:ln w="25400">
            <a:solidFill>
              <a:schemeClr val="accent2"/>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GenAI Use-Case Landscape in Banking</a:t>
            </a:r>
            <a:endParaRPr lang="en-US" sz="3200" dirty="0"/>
          </a:p>
        </p:txBody>
      </p:sp>
      <p:sp>
        <p:nvSpPr>
          <p:cNvPr id="3" name="Shape 1"/>
          <p:cNvSpPr/>
          <p:nvPr/>
        </p:nvSpPr>
        <p:spPr>
          <a:xfrm>
            <a:off x="548640" y="1371600"/>
            <a:ext cx="2194560" cy="4800600"/>
          </a:xfrm>
          <a:prstGeom prst="roundRect">
            <a:avLst>
              <a:gd name="adj" fmla="val 4167"/>
            </a:avLst>
          </a:prstGeom>
          <a:solidFill>
            <a:schemeClr val="bg2"/>
          </a:solidFill>
          <a:ln w="9525">
            <a:solidFill>
              <a:schemeClr val="bg2"/>
            </a:solidFill>
            <a:prstDash val="solid"/>
          </a:ln>
        </p:spPr>
      </p:sp>
      <p:sp>
        <p:nvSpPr>
          <p:cNvPr id="4" name="Shape 2"/>
          <p:cNvSpPr/>
          <p:nvPr/>
        </p:nvSpPr>
        <p:spPr>
          <a:xfrm>
            <a:off x="731520" y="155448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1540" y="1714500"/>
            <a:ext cx="320040" cy="320040"/>
          </a:xfrm>
          <a:prstGeom prst="rect">
            <a:avLst/>
          </a:prstGeom>
        </p:spPr>
      </p:pic>
      <p:sp>
        <p:nvSpPr>
          <p:cNvPr id="6" name="Text 3"/>
          <p:cNvSpPr txBox="1"/>
          <p:nvPr/>
        </p:nvSpPr>
        <p:spPr>
          <a:xfrm>
            <a:off x="731520" y="2331720"/>
            <a:ext cx="18288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USE CASE 1</a:t>
            </a:r>
            <a:endParaRPr lang="en-US" sz="1100" dirty="0"/>
          </a:p>
        </p:txBody>
      </p:sp>
      <p:sp>
        <p:nvSpPr>
          <p:cNvPr id="7" name="Text 4"/>
          <p:cNvSpPr txBox="1"/>
          <p:nvPr/>
        </p:nvSpPr>
        <p:spPr>
          <a:xfrm>
            <a:off x="731520" y="2606040"/>
            <a:ext cx="1828800" cy="868680"/>
          </a:xfrm>
          <a:prstGeom prst="rect">
            <a:avLst/>
          </a:prstGeom>
          <a:noFill/>
          <a:ln/>
        </p:spPr>
        <p:txBody>
          <a:bodyPr wrap="square" lIns="0" tIns="0" rIns="0" bIns="0" rtlCol="0" anchor="t"/>
          <a:lstStyle/>
          <a:p>
            <a:pPr indent="0" marL="0">
              <a:buNone/>
            </a:pPr>
            <a:r>
              <a:rPr lang="en-US" sz="1600" b="1" dirty="0">
                <a:solidFill>
                  <a:schemeClr val="tx2"/>
                </a:solidFill>
              </a:rPr>
              <a:t>Conversational Banking Assistant</a:t>
            </a:r>
            <a:endParaRPr lang="en-US" sz="1600" dirty="0"/>
          </a:p>
        </p:txBody>
      </p:sp>
      <p:sp>
        <p:nvSpPr>
          <p:cNvPr id="8" name="Text 5"/>
          <p:cNvSpPr txBox="1"/>
          <p:nvPr/>
        </p:nvSpPr>
        <p:spPr>
          <a:xfrm>
            <a:off x="731520" y="3520440"/>
            <a:ext cx="1828800" cy="1828800"/>
          </a:xfrm>
          <a:prstGeom prst="rect">
            <a:avLst/>
          </a:prstGeom>
          <a:noFill/>
          <a:ln/>
        </p:spPr>
        <p:txBody>
          <a:bodyPr wrap="square" lIns="0" tIns="0" rIns="0" bIns="0" rtlCol="0" anchor="t"/>
          <a:lstStyle/>
          <a:p>
            <a:pPr indent="0" marL="0">
              <a:buNone/>
            </a:pPr>
            <a:r>
              <a:rPr lang="en-US" sz="1300" dirty="0">
                <a:solidFill>
                  <a:schemeClr val="tx1"/>
                </a:solidFill>
              </a:rPr>
              <a:t>RAG-grounded, multilingual service assistant with safe API actions and human handoff.</a:t>
            </a:r>
            <a:endParaRPr lang="en-US" sz="1300" dirty="0"/>
          </a:p>
        </p:txBody>
      </p:sp>
      <p:sp>
        <p:nvSpPr>
          <p:cNvPr id="9" name="Text 6"/>
          <p:cNvSpPr txBox="1"/>
          <p:nvPr/>
        </p:nvSpPr>
        <p:spPr>
          <a:xfrm>
            <a:off x="731520" y="5623560"/>
            <a:ext cx="1828800" cy="365760"/>
          </a:xfrm>
          <a:prstGeom prst="roundRect">
            <a:avLst>
              <a:gd name="adj" fmla="val 20000"/>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Front office</a:t>
            </a:r>
            <a:endParaRPr lang="en-US" sz="1100" dirty="0"/>
          </a:p>
        </p:txBody>
      </p:sp>
      <p:sp>
        <p:nvSpPr>
          <p:cNvPr id="10" name="Shape 7"/>
          <p:cNvSpPr/>
          <p:nvPr/>
        </p:nvSpPr>
        <p:spPr>
          <a:xfrm>
            <a:off x="2926080" y="1371600"/>
            <a:ext cx="2194560" cy="4800600"/>
          </a:xfrm>
          <a:prstGeom prst="roundRect">
            <a:avLst>
              <a:gd name="adj" fmla="val 4167"/>
            </a:avLst>
          </a:prstGeom>
          <a:solidFill>
            <a:schemeClr val="bg2"/>
          </a:solidFill>
          <a:ln w="9525">
            <a:solidFill>
              <a:schemeClr val="bg2"/>
            </a:solidFill>
            <a:prstDash val="solid"/>
          </a:ln>
        </p:spPr>
      </p:sp>
      <p:sp>
        <p:nvSpPr>
          <p:cNvPr id="11" name="Shape 8"/>
          <p:cNvSpPr/>
          <p:nvPr/>
        </p:nvSpPr>
        <p:spPr>
          <a:xfrm>
            <a:off x="3108960" y="1554480"/>
            <a:ext cx="640080" cy="640080"/>
          </a:xfrm>
          <a:prstGeom prst="ellipse">
            <a:avLst/>
          </a:prstGeom>
          <a:solidFill>
            <a:schemeClr val="accent3"/>
          </a:solidFill>
          <a:ln w="12700">
            <a:solidFill>
              <a:schemeClr val="accent3"/>
            </a:solidFill>
            <a:prstDash val="solid"/>
          </a:ln>
        </p:spPr>
      </p:sp>
      <p:pic>
        <p:nvPicPr>
          <p:cNvPr id="12" name="Image 1" descr="preencoded.png">    </p:cNvPr>
          <p:cNvPicPr>
            <a:picLocks noChangeAspect="1"/>
          </p:cNvPicPr>
          <p:nvPr/>
        </p:nvPicPr>
        <p:blipFill>
          <a:blip r:embed="rId2"/>
          <a:stretch>
            <a:fillRect/>
          </a:stretch>
        </p:blipFill>
        <p:spPr>
          <a:xfrm>
            <a:off x="3268980" y="1714500"/>
            <a:ext cx="320040" cy="320040"/>
          </a:xfrm>
          <a:prstGeom prst="rect">
            <a:avLst/>
          </a:prstGeom>
        </p:spPr>
      </p:pic>
      <p:sp>
        <p:nvSpPr>
          <p:cNvPr id="13" name="Text 9"/>
          <p:cNvSpPr txBox="1"/>
          <p:nvPr/>
        </p:nvSpPr>
        <p:spPr>
          <a:xfrm>
            <a:off x="3108960" y="2331720"/>
            <a:ext cx="18288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USE CASE 2</a:t>
            </a:r>
            <a:endParaRPr lang="en-US" sz="1100" dirty="0"/>
          </a:p>
        </p:txBody>
      </p:sp>
      <p:sp>
        <p:nvSpPr>
          <p:cNvPr id="14" name="Text 10"/>
          <p:cNvSpPr txBox="1"/>
          <p:nvPr/>
        </p:nvSpPr>
        <p:spPr>
          <a:xfrm>
            <a:off x="3108960" y="2606040"/>
            <a:ext cx="1828800" cy="868680"/>
          </a:xfrm>
          <a:prstGeom prst="rect">
            <a:avLst/>
          </a:prstGeom>
          <a:noFill/>
          <a:ln/>
        </p:spPr>
        <p:txBody>
          <a:bodyPr wrap="square" lIns="0" tIns="0" rIns="0" bIns="0" rtlCol="0" anchor="t"/>
          <a:lstStyle/>
          <a:p>
            <a:pPr indent="0" marL="0">
              <a:buNone/>
            </a:pPr>
            <a:r>
              <a:rPr lang="en-US" sz="1600" b="1" dirty="0">
                <a:solidFill>
                  <a:schemeClr val="tx2"/>
                </a:solidFill>
              </a:rPr>
              <a:t>Loan Underwriting Copilot</a:t>
            </a:r>
            <a:endParaRPr lang="en-US" sz="1600" dirty="0"/>
          </a:p>
        </p:txBody>
      </p:sp>
      <p:sp>
        <p:nvSpPr>
          <p:cNvPr id="15" name="Text 11"/>
          <p:cNvSpPr txBox="1"/>
          <p:nvPr/>
        </p:nvSpPr>
        <p:spPr>
          <a:xfrm>
            <a:off x="3108960" y="3520440"/>
            <a:ext cx="1828800" cy="1828800"/>
          </a:xfrm>
          <a:prstGeom prst="rect">
            <a:avLst/>
          </a:prstGeom>
          <a:noFill/>
          <a:ln/>
        </p:spPr>
        <p:txBody>
          <a:bodyPr wrap="square" lIns="0" tIns="0" rIns="0" bIns="0" rtlCol="0" anchor="t"/>
          <a:lstStyle/>
          <a:p>
            <a:pPr indent="0" marL="0">
              <a:buNone/>
            </a:pPr>
            <a:r>
              <a:rPr lang="en-US" sz="1300" dirty="0">
                <a:solidFill>
                  <a:schemeClr val="tx1"/>
                </a:solidFill>
              </a:rPr>
              <a:t>Reads loan documents, cross-checks data and drafts the credit memo for the underwriter.</a:t>
            </a:r>
            <a:endParaRPr lang="en-US" sz="1300" dirty="0"/>
          </a:p>
        </p:txBody>
      </p:sp>
      <p:sp>
        <p:nvSpPr>
          <p:cNvPr id="16" name="Text 12"/>
          <p:cNvSpPr txBox="1"/>
          <p:nvPr/>
        </p:nvSpPr>
        <p:spPr>
          <a:xfrm>
            <a:off x="3108960" y="5623560"/>
            <a:ext cx="1828800" cy="365760"/>
          </a:xfrm>
          <a:prstGeom prst="roundRect">
            <a:avLst>
              <a:gd name="adj" fmla="val 20000"/>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Middle office</a:t>
            </a:r>
            <a:endParaRPr lang="en-US" sz="1100" dirty="0"/>
          </a:p>
        </p:txBody>
      </p:sp>
      <p:sp>
        <p:nvSpPr>
          <p:cNvPr id="17" name="Shape 13"/>
          <p:cNvSpPr/>
          <p:nvPr/>
        </p:nvSpPr>
        <p:spPr>
          <a:xfrm>
            <a:off x="5303520" y="1371600"/>
            <a:ext cx="2194560" cy="4800600"/>
          </a:xfrm>
          <a:prstGeom prst="roundRect">
            <a:avLst>
              <a:gd name="adj" fmla="val 4167"/>
            </a:avLst>
          </a:prstGeom>
          <a:solidFill>
            <a:schemeClr val="bg2"/>
          </a:solidFill>
          <a:ln w="9525">
            <a:solidFill>
              <a:schemeClr val="bg2"/>
            </a:solidFill>
            <a:prstDash val="solid"/>
          </a:ln>
        </p:spPr>
      </p:sp>
      <p:sp>
        <p:nvSpPr>
          <p:cNvPr id="18" name="Shape 14"/>
          <p:cNvSpPr/>
          <p:nvPr/>
        </p:nvSpPr>
        <p:spPr>
          <a:xfrm>
            <a:off x="5486400" y="1554480"/>
            <a:ext cx="640080" cy="640080"/>
          </a:xfrm>
          <a:prstGeom prst="ellipse">
            <a:avLst/>
          </a:prstGeom>
          <a:solidFill>
            <a:schemeClr val="accent4"/>
          </a:solidFill>
          <a:ln w="12700">
            <a:solidFill>
              <a:schemeClr val="accent4"/>
            </a:solidFill>
            <a:prstDash val="solid"/>
          </a:ln>
        </p:spPr>
      </p:sp>
      <p:pic>
        <p:nvPicPr>
          <p:cNvPr id="19" name="Image 2" descr="preencoded.png">    </p:cNvPr>
          <p:cNvPicPr>
            <a:picLocks noChangeAspect="1"/>
          </p:cNvPicPr>
          <p:nvPr/>
        </p:nvPicPr>
        <p:blipFill>
          <a:blip r:embed="rId3"/>
          <a:stretch>
            <a:fillRect/>
          </a:stretch>
        </p:blipFill>
        <p:spPr>
          <a:xfrm>
            <a:off x="5646420" y="1714500"/>
            <a:ext cx="320040" cy="320040"/>
          </a:xfrm>
          <a:prstGeom prst="rect">
            <a:avLst/>
          </a:prstGeom>
        </p:spPr>
      </p:pic>
      <p:sp>
        <p:nvSpPr>
          <p:cNvPr id="20" name="Text 15"/>
          <p:cNvSpPr txBox="1"/>
          <p:nvPr/>
        </p:nvSpPr>
        <p:spPr>
          <a:xfrm>
            <a:off x="5486400" y="2331720"/>
            <a:ext cx="1828800" cy="274320"/>
          </a:xfrm>
          <a:prstGeom prst="rect">
            <a:avLst/>
          </a:prstGeom>
          <a:noFill/>
          <a:ln/>
        </p:spPr>
        <p:txBody>
          <a:bodyPr wrap="square" lIns="0" tIns="0" rIns="0" bIns="0" rtlCol="0" anchor="t"/>
          <a:lstStyle/>
          <a:p>
            <a:pPr indent="0" marL="0">
              <a:buNone/>
            </a:pPr>
            <a:r>
              <a:rPr lang="en-US" sz="1100" b="1" spc="200" kern="0" dirty="0">
                <a:solidFill>
                  <a:schemeClr val="accent4"/>
                </a:solidFill>
              </a:rPr>
              <a:t>USE CASE 3</a:t>
            </a:r>
            <a:endParaRPr lang="en-US" sz="1100" dirty="0"/>
          </a:p>
        </p:txBody>
      </p:sp>
      <p:sp>
        <p:nvSpPr>
          <p:cNvPr id="21" name="Text 16"/>
          <p:cNvSpPr txBox="1"/>
          <p:nvPr/>
        </p:nvSpPr>
        <p:spPr>
          <a:xfrm>
            <a:off x="5486400" y="2606040"/>
            <a:ext cx="1828800" cy="868680"/>
          </a:xfrm>
          <a:prstGeom prst="rect">
            <a:avLst/>
          </a:prstGeom>
          <a:noFill/>
          <a:ln/>
        </p:spPr>
        <p:txBody>
          <a:bodyPr wrap="square" lIns="0" tIns="0" rIns="0" bIns="0" rtlCol="0" anchor="t"/>
          <a:lstStyle/>
          <a:p>
            <a:pPr indent="0" marL="0">
              <a:buNone/>
            </a:pPr>
            <a:r>
              <a:rPr lang="en-US" sz="1600" b="1" dirty="0">
                <a:solidFill>
                  <a:schemeClr val="tx2"/>
                </a:solidFill>
              </a:rPr>
              <a:t>AML Investigation Copilot</a:t>
            </a:r>
            <a:endParaRPr lang="en-US" sz="1600" dirty="0"/>
          </a:p>
        </p:txBody>
      </p:sp>
      <p:sp>
        <p:nvSpPr>
          <p:cNvPr id="22" name="Text 17"/>
          <p:cNvSpPr txBox="1"/>
          <p:nvPr/>
        </p:nvSpPr>
        <p:spPr>
          <a:xfrm>
            <a:off x="5486400" y="3520440"/>
            <a:ext cx="1828800" cy="1828800"/>
          </a:xfrm>
          <a:prstGeom prst="rect">
            <a:avLst/>
          </a:prstGeom>
          <a:noFill/>
          <a:ln/>
        </p:spPr>
        <p:txBody>
          <a:bodyPr wrap="square" lIns="0" tIns="0" rIns="0" bIns="0" rtlCol="0" anchor="t"/>
          <a:lstStyle/>
          <a:p>
            <a:pPr indent="0" marL="0">
              <a:buNone/>
            </a:pPr>
            <a:r>
              <a:rPr lang="en-US" sz="1300" dirty="0">
                <a:solidFill>
                  <a:schemeClr val="tx1"/>
                </a:solidFill>
              </a:rPr>
              <a:t>Summarises alerts, maps red flags to typologies and drafts STR narratives with evidence.</a:t>
            </a:r>
            <a:endParaRPr lang="en-US" sz="1300" dirty="0"/>
          </a:p>
        </p:txBody>
      </p:sp>
      <p:sp>
        <p:nvSpPr>
          <p:cNvPr id="23" name="Text 18"/>
          <p:cNvSpPr txBox="1"/>
          <p:nvPr/>
        </p:nvSpPr>
        <p:spPr>
          <a:xfrm>
            <a:off x="5486400" y="5623560"/>
            <a:ext cx="1828800" cy="365760"/>
          </a:xfrm>
          <a:prstGeom prst="roundRect">
            <a:avLst>
              <a:gd name="adj" fmla="val 20000"/>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100" b="1" dirty="0">
                <a:solidFill>
                  <a:schemeClr val="bg1"/>
                </a:solidFill>
              </a:rPr>
              <a:t>Risk &amp; compliance</a:t>
            </a:r>
            <a:endParaRPr lang="en-US" sz="1100" dirty="0"/>
          </a:p>
        </p:txBody>
      </p:sp>
      <p:sp>
        <p:nvSpPr>
          <p:cNvPr id="24" name="Shape 19"/>
          <p:cNvSpPr/>
          <p:nvPr/>
        </p:nvSpPr>
        <p:spPr>
          <a:xfrm>
            <a:off x="7818120" y="1371600"/>
            <a:ext cx="3794760" cy="4800600"/>
          </a:xfrm>
          <a:prstGeom prst="roundRect">
            <a:avLst>
              <a:gd name="adj" fmla="val 2410"/>
            </a:avLst>
          </a:prstGeom>
          <a:solidFill>
            <a:schemeClr val="tx2"/>
          </a:solidFill>
          <a:ln w="9525">
            <a:solidFill>
              <a:schemeClr val="tx2"/>
            </a:solidFill>
            <a:prstDash val="solid"/>
          </a:ln>
        </p:spPr>
      </p:sp>
      <p:sp>
        <p:nvSpPr>
          <p:cNvPr id="25" name="Text 20"/>
          <p:cNvSpPr txBox="1"/>
          <p:nvPr/>
        </p:nvSpPr>
        <p:spPr>
          <a:xfrm>
            <a:off x="8046720" y="1508760"/>
            <a:ext cx="3383280" cy="411480"/>
          </a:xfrm>
          <a:prstGeom prst="rect">
            <a:avLst/>
          </a:prstGeom>
          <a:noFill/>
          <a:ln/>
        </p:spPr>
        <p:txBody>
          <a:bodyPr wrap="square" lIns="0" tIns="0" rIns="0" bIns="0" rtlCol="0" anchor="t"/>
          <a:lstStyle/>
          <a:p>
            <a:pPr indent="0" marL="0">
              <a:buNone/>
            </a:pPr>
            <a:r>
              <a:rPr lang="en-US" sz="1600" b="1" dirty="0">
                <a:solidFill>
                  <a:schemeClr val="accent2"/>
                </a:solidFill>
              </a:rPr>
              <a:t>More GenAI opportunities</a:t>
            </a:r>
            <a:endParaRPr lang="en-US" sz="1600" dirty="0"/>
          </a:p>
        </p:txBody>
      </p:sp>
      <p:sp>
        <p:nvSpPr>
          <p:cNvPr id="26" name="Text 21"/>
          <p:cNvSpPr txBox="1"/>
          <p:nvPr/>
        </p:nvSpPr>
        <p:spPr>
          <a:xfrm>
            <a:off x="8046720" y="2011680"/>
            <a:ext cx="3383280" cy="4023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Relationship manager copilot</a:t>
            </a:r>
            <a:endParaRPr lang="en-US" sz="1300" dirty="0"/>
          </a:p>
          <a:p>
            <a:pPr marL="342900" indent="-342900">
              <a:spcAft>
                <a:spcPts val="600"/>
              </a:spcAft>
              <a:buSzPct val="100000"/>
              <a:buChar char="•"/>
            </a:pPr>
            <a:r>
              <a:rPr lang="en-US" sz="1300" dirty="0">
                <a:solidFill>
                  <a:schemeClr val="bg1"/>
                </a:solidFill>
              </a:rPr>
              <a:t>Personalised marketing content</a:t>
            </a:r>
            <a:endParaRPr lang="en-US" sz="1300" dirty="0"/>
          </a:p>
          <a:p>
            <a:pPr marL="342900" indent="-342900">
              <a:spcAft>
                <a:spcPts val="600"/>
              </a:spcAft>
              <a:buSzPct val="100000"/>
              <a:buChar char="•"/>
            </a:pPr>
            <a:r>
              <a:rPr lang="en-US" sz="1300" dirty="0">
                <a:solidFill>
                  <a:schemeClr val="bg1"/>
                </a:solidFill>
              </a:rPr>
              <a:t>Legacy code modernisation (COBOL → Java)</a:t>
            </a:r>
            <a:endParaRPr lang="en-US" sz="1300" dirty="0"/>
          </a:p>
          <a:p>
            <a:pPr marL="342900" indent="-342900">
              <a:spcAft>
                <a:spcPts val="600"/>
              </a:spcAft>
              <a:buSzPct val="100000"/>
              <a:buChar char="•"/>
            </a:pPr>
            <a:r>
              <a:rPr lang="en-US" sz="1300" dirty="0">
                <a:solidFill>
                  <a:schemeClr val="bg1"/>
                </a:solidFill>
              </a:rPr>
              <a:t>Regulatory circular summarisation</a:t>
            </a:r>
            <a:endParaRPr lang="en-US" sz="1300" dirty="0"/>
          </a:p>
          <a:p>
            <a:pPr marL="342900" indent="-342900">
              <a:spcAft>
                <a:spcPts val="600"/>
              </a:spcAft>
              <a:buSzPct val="100000"/>
              <a:buChar char="•"/>
            </a:pPr>
            <a:r>
              <a:rPr lang="en-US" sz="1300" dirty="0">
                <a:solidFill>
                  <a:schemeClr val="bg1"/>
                </a:solidFill>
              </a:rPr>
              <a:t>Complaint classification &amp; response drafts</a:t>
            </a:r>
            <a:endParaRPr lang="en-US" sz="1300" dirty="0"/>
          </a:p>
          <a:p>
            <a:pPr marL="342900" indent="-342900">
              <a:spcAft>
                <a:spcPts val="600"/>
              </a:spcAft>
              <a:buSzPct val="100000"/>
              <a:buChar char="•"/>
            </a:pPr>
            <a:r>
              <a:rPr lang="en-US" sz="1300" dirty="0">
                <a:solidFill>
                  <a:schemeClr val="bg1"/>
                </a:solidFill>
              </a:rPr>
              <a:t>Trade finance document checks</a:t>
            </a:r>
            <a:endParaRPr lang="en-US" sz="1300" dirty="0"/>
          </a:p>
          <a:p>
            <a:pPr marL="342900" indent="-342900">
              <a:spcAft>
                <a:spcPts val="600"/>
              </a:spcAft>
              <a:buSzPct val="100000"/>
              <a:buChar char="•"/>
            </a:pPr>
            <a:r>
              <a:rPr lang="en-US" sz="1300" dirty="0">
                <a:solidFill>
                  <a:schemeClr val="bg1"/>
                </a:solidFill>
              </a:rPr>
              <a:t>Internal policy &amp; HR Q&amp;A</a:t>
            </a:r>
            <a:endParaRPr lang="en-US" sz="1300" dirty="0"/>
          </a:p>
          <a:p>
            <a:pPr marL="342900" indent="-342900">
              <a:spcAft>
                <a:spcPts val="600"/>
              </a:spcAft>
              <a:buSzPct val="100000"/>
              <a:buChar char="•"/>
            </a:pPr>
            <a:r>
              <a:rPr lang="en-US" sz="1300" dirty="0">
                <a:solidFill>
                  <a:schemeClr val="bg1"/>
                </a:solidFill>
              </a:rPr>
              <a:t>Call summarisation for contact centre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1: Conversational Banking Assistant</a:t>
            </a:r>
            <a:endParaRPr lang="en-US" sz="3200" dirty="0"/>
          </a:p>
        </p:txBody>
      </p:sp>
      <p:sp>
        <p:nvSpPr>
          <p:cNvPr id="4" name="Shape 1"/>
          <p:cNvSpPr/>
          <p:nvPr/>
        </p:nvSpPr>
        <p:spPr>
          <a:xfrm>
            <a:off x="548640" y="1371600"/>
            <a:ext cx="5577840" cy="1417320"/>
          </a:xfrm>
          <a:prstGeom prst="roundRect">
            <a:avLst>
              <a:gd name="adj" fmla="val 6452"/>
            </a:avLst>
          </a:prstGeom>
          <a:solidFill>
            <a:schemeClr val="bg2"/>
          </a:solidFill>
          <a:ln w="9525">
            <a:solidFill>
              <a:schemeClr val="bg2"/>
            </a:solidFill>
            <a:prstDash val="solid"/>
          </a:ln>
        </p:spPr>
      </p:sp>
      <p:sp>
        <p:nvSpPr>
          <p:cNvPr id="5" name="Text 2"/>
          <p:cNvSpPr txBox="1"/>
          <p:nvPr/>
        </p:nvSpPr>
        <p:spPr>
          <a:xfrm>
            <a:off x="777240" y="1508760"/>
            <a:ext cx="5120640" cy="320040"/>
          </a:xfrm>
          <a:prstGeom prst="rect">
            <a:avLst/>
          </a:prstGeom>
          <a:noFill/>
          <a:ln/>
        </p:spPr>
        <p:txBody>
          <a:bodyPr wrap="square" lIns="0" tIns="0" rIns="0" bIns="0" rtlCol="0" anchor="t"/>
          <a:lstStyle/>
          <a:p>
            <a:pPr indent="0" marL="0">
              <a:buNone/>
            </a:pPr>
            <a:r>
              <a:rPr lang="en-US" sz="1500" b="1" dirty="0">
                <a:solidFill>
                  <a:schemeClr val="accent4"/>
                </a:solidFill>
              </a:rPr>
              <a:t>The problem</a:t>
            </a:r>
            <a:endParaRPr lang="en-US" sz="1500" dirty="0"/>
          </a:p>
        </p:txBody>
      </p:sp>
      <p:sp>
        <p:nvSpPr>
          <p:cNvPr id="6" name="Text 3"/>
          <p:cNvSpPr txBox="1"/>
          <p:nvPr/>
        </p:nvSpPr>
        <p:spPr>
          <a:xfrm>
            <a:off x="777240" y="1847088"/>
            <a:ext cx="5120640" cy="868680"/>
          </a:xfrm>
          <a:prstGeom prst="rect">
            <a:avLst/>
          </a:prstGeom>
          <a:noFill/>
          <a:ln/>
        </p:spPr>
        <p:txBody>
          <a:bodyPr wrap="square" lIns="0" tIns="0" rIns="0" bIns="0" rtlCol="0" anchor="t"/>
          <a:lstStyle/>
          <a:p>
            <a:pPr indent="0" marL="0">
              <a:buNone/>
            </a:pPr>
            <a:r>
              <a:rPr lang="en-US" sz="1300" dirty="0">
                <a:solidFill>
                  <a:schemeClr val="tx1"/>
                </a:solidFill>
              </a:rPr>
              <a:t>High contact-centre volumes for balance, card, charges and loan queries; long wait times; inconsistent answers across agents and channels.</a:t>
            </a:r>
            <a:endParaRPr lang="en-US" sz="1300" dirty="0"/>
          </a:p>
        </p:txBody>
      </p:sp>
      <p:sp>
        <p:nvSpPr>
          <p:cNvPr id="7" name="Shape 4"/>
          <p:cNvSpPr/>
          <p:nvPr/>
        </p:nvSpPr>
        <p:spPr>
          <a:xfrm>
            <a:off x="548640" y="2971800"/>
            <a:ext cx="5577840" cy="1600200"/>
          </a:xfrm>
          <a:prstGeom prst="roundRect">
            <a:avLst>
              <a:gd name="adj" fmla="val 5714"/>
            </a:avLst>
          </a:prstGeom>
          <a:solidFill>
            <a:schemeClr val="bg2"/>
          </a:solidFill>
          <a:ln w="9525">
            <a:solidFill>
              <a:schemeClr val="bg2"/>
            </a:solidFill>
            <a:prstDash val="solid"/>
          </a:ln>
        </p:spPr>
      </p:sp>
      <p:sp>
        <p:nvSpPr>
          <p:cNvPr id="8" name="Text 5"/>
          <p:cNvSpPr txBox="1"/>
          <p:nvPr/>
        </p:nvSpPr>
        <p:spPr>
          <a:xfrm>
            <a:off x="777240" y="3108960"/>
            <a:ext cx="5120640" cy="320040"/>
          </a:xfrm>
          <a:prstGeom prst="rect">
            <a:avLst/>
          </a:prstGeom>
          <a:noFill/>
          <a:ln/>
        </p:spPr>
        <p:txBody>
          <a:bodyPr wrap="square" lIns="0" tIns="0" rIns="0" bIns="0" rtlCol="0" anchor="t"/>
          <a:lstStyle/>
          <a:p>
            <a:pPr indent="0" marL="0">
              <a:buNone/>
            </a:pPr>
            <a:r>
              <a:rPr lang="en-US" sz="1500" b="1" dirty="0">
                <a:solidFill>
                  <a:schemeClr val="accent1"/>
                </a:solidFill>
              </a:rPr>
              <a:t>GenAI solution</a:t>
            </a:r>
            <a:endParaRPr lang="en-US" sz="1500" dirty="0"/>
          </a:p>
        </p:txBody>
      </p:sp>
      <p:sp>
        <p:nvSpPr>
          <p:cNvPr id="9" name="Text 6"/>
          <p:cNvSpPr txBox="1"/>
          <p:nvPr/>
        </p:nvSpPr>
        <p:spPr>
          <a:xfrm>
            <a:off x="777240" y="3447288"/>
            <a:ext cx="5120640" cy="1051560"/>
          </a:xfrm>
          <a:prstGeom prst="rect">
            <a:avLst/>
          </a:prstGeom>
          <a:noFill/>
          <a:ln/>
        </p:spPr>
        <p:txBody>
          <a:bodyPr wrap="square" lIns="0" tIns="0" rIns="0" bIns="0" rtlCol="0" anchor="t"/>
          <a:lstStyle/>
          <a:p>
            <a:pPr indent="0" marL="0">
              <a:buNone/>
            </a:pPr>
            <a:r>
              <a:rPr lang="en-US" sz="1300" dirty="0">
                <a:solidFill>
                  <a:schemeClr val="tx1"/>
                </a:solidFill>
              </a:rPr>
              <a:t>A 24×7 multilingual assistant on app, web and WhatsApp that answers only from approved bank knowledge, performs safe actions through APIs, and hands off to a human with full context.</a:t>
            </a:r>
            <a:endParaRPr lang="en-US" sz="1300" dirty="0"/>
          </a:p>
        </p:txBody>
      </p:sp>
      <p:sp>
        <p:nvSpPr>
          <p:cNvPr id="10" name="Shape 7"/>
          <p:cNvSpPr/>
          <p:nvPr/>
        </p:nvSpPr>
        <p:spPr>
          <a:xfrm>
            <a:off x="548640" y="4754880"/>
            <a:ext cx="5577840" cy="1463040"/>
          </a:xfrm>
          <a:prstGeom prst="roundRect">
            <a:avLst>
              <a:gd name="adj" fmla="val 6250"/>
            </a:avLst>
          </a:prstGeom>
          <a:solidFill>
            <a:schemeClr val="bg2"/>
          </a:solidFill>
          <a:ln w="9525">
            <a:solidFill>
              <a:schemeClr val="bg2"/>
            </a:solidFill>
            <a:prstDash val="solid"/>
          </a:ln>
        </p:spPr>
      </p:sp>
      <p:sp>
        <p:nvSpPr>
          <p:cNvPr id="11" name="Text 8"/>
          <p:cNvSpPr txBox="1"/>
          <p:nvPr/>
        </p:nvSpPr>
        <p:spPr>
          <a:xfrm>
            <a:off x="777240" y="4892040"/>
            <a:ext cx="5120640" cy="320040"/>
          </a:xfrm>
          <a:prstGeom prst="rect">
            <a:avLst/>
          </a:prstGeom>
          <a:noFill/>
          <a:ln/>
        </p:spPr>
        <p:txBody>
          <a:bodyPr wrap="square" lIns="0" tIns="0" rIns="0" bIns="0" rtlCol="0" anchor="t"/>
          <a:lstStyle/>
          <a:p>
            <a:pPr indent="0" marL="0">
              <a:buNone/>
            </a:pPr>
            <a:r>
              <a:rPr lang="en-US" sz="1500" b="1" dirty="0">
                <a:solidFill>
                  <a:schemeClr val="accent3"/>
                </a:solidFill>
              </a:rPr>
              <a:t>Success KPIs</a:t>
            </a:r>
            <a:endParaRPr lang="en-US" sz="1500" dirty="0"/>
          </a:p>
        </p:txBody>
      </p:sp>
      <p:sp>
        <p:nvSpPr>
          <p:cNvPr id="12" name="Text 9"/>
          <p:cNvSpPr txBox="1"/>
          <p:nvPr/>
        </p:nvSpPr>
        <p:spPr>
          <a:xfrm>
            <a:off x="777240" y="5230368"/>
            <a:ext cx="5120640" cy="914400"/>
          </a:xfrm>
          <a:prstGeom prst="rect">
            <a:avLst/>
          </a:prstGeom>
          <a:noFill/>
          <a:ln/>
        </p:spPr>
        <p:txBody>
          <a:bodyPr wrap="square" lIns="0" tIns="0" rIns="0" bIns="0" rtlCol="0" anchor="t"/>
          <a:lstStyle/>
          <a:p>
            <a:pPr indent="0" marL="0">
              <a:buNone/>
            </a:pPr>
            <a:r>
              <a:rPr lang="en-US" sz="1300" dirty="0">
                <a:solidFill>
                  <a:schemeClr val="tx1"/>
                </a:solidFill>
              </a:rPr>
              <a:t>Containment rate · first-contact resolution · average handle time · CSAT · groundedness % · correct escalation rate</a:t>
            </a:r>
            <a:endParaRPr lang="en-US" sz="1300" dirty="0"/>
          </a:p>
        </p:txBody>
      </p:sp>
      <p:sp>
        <p:nvSpPr>
          <p:cNvPr id="13" name="Text 10"/>
          <p:cNvSpPr txBox="1"/>
          <p:nvPr/>
        </p:nvSpPr>
        <p:spPr>
          <a:xfrm>
            <a:off x="6492240" y="1371600"/>
            <a:ext cx="5120640" cy="320040"/>
          </a:xfrm>
          <a:prstGeom prst="rect">
            <a:avLst/>
          </a:prstGeom>
          <a:noFill/>
          <a:ln/>
        </p:spPr>
        <p:txBody>
          <a:bodyPr wrap="square" lIns="0" tIns="0" rIns="0" bIns="0" rtlCol="0" anchor="t"/>
          <a:lstStyle/>
          <a:p>
            <a:pPr indent="0" marL="0">
              <a:buNone/>
            </a:pPr>
            <a:r>
              <a:rPr lang="en-US" sz="1500" b="1" dirty="0">
                <a:solidFill>
                  <a:schemeClr val="tx2"/>
                </a:solidFill>
              </a:rPr>
              <a:t>5W1H at a glance</a:t>
            </a:r>
            <a:endParaRPr lang="en-US" sz="1500" dirty="0"/>
          </a:p>
        </p:txBody>
      </p:sp>
      <p:sp>
        <p:nvSpPr>
          <p:cNvPr id="14" name="Text 11"/>
          <p:cNvSpPr txBox="1"/>
          <p:nvPr/>
        </p:nvSpPr>
        <p:spPr>
          <a:xfrm>
            <a:off x="6492240" y="18562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What</a:t>
            </a:r>
            <a:endParaRPr lang="en-US" sz="1200" dirty="0"/>
          </a:p>
        </p:txBody>
      </p:sp>
      <p:sp>
        <p:nvSpPr>
          <p:cNvPr id="15" name="Text 12"/>
          <p:cNvSpPr txBox="1"/>
          <p:nvPr/>
        </p:nvSpPr>
        <p:spPr>
          <a:xfrm>
            <a:off x="7543800" y="1783080"/>
            <a:ext cx="4069080" cy="621792"/>
          </a:xfrm>
          <a:prstGeom prst="rect">
            <a:avLst/>
          </a:prstGeom>
          <a:noFill/>
          <a:ln/>
        </p:spPr>
        <p:txBody>
          <a:bodyPr wrap="square" lIns="0" tIns="0" rIns="0" bIns="0" rtlCol="0" anchor="ctr"/>
          <a:lstStyle/>
          <a:p>
            <a:pPr indent="0" marL="0">
              <a:buNone/>
            </a:pPr>
            <a:r>
              <a:rPr lang="en-US" sz="1200" dirty="0">
                <a:solidFill>
                  <a:schemeClr val="tx1"/>
                </a:solidFill>
              </a:rPr>
              <a:t>24×7 assistant grounded in bank policies and the customer’s own data</a:t>
            </a:r>
            <a:endParaRPr lang="en-US" sz="1200" dirty="0"/>
          </a:p>
        </p:txBody>
      </p:sp>
      <p:sp>
        <p:nvSpPr>
          <p:cNvPr id="16" name="Text 13"/>
          <p:cNvSpPr txBox="1"/>
          <p:nvPr/>
        </p:nvSpPr>
        <p:spPr>
          <a:xfrm>
            <a:off x="6492240" y="258775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Why</a:t>
            </a:r>
            <a:endParaRPr lang="en-US" sz="1200" dirty="0"/>
          </a:p>
        </p:txBody>
      </p:sp>
      <p:sp>
        <p:nvSpPr>
          <p:cNvPr id="17" name="Text 14"/>
          <p:cNvSpPr txBox="1"/>
          <p:nvPr/>
        </p:nvSpPr>
        <p:spPr>
          <a:xfrm>
            <a:off x="7543800" y="2514600"/>
            <a:ext cx="4069080" cy="621792"/>
          </a:xfrm>
          <a:prstGeom prst="rect">
            <a:avLst/>
          </a:prstGeom>
          <a:noFill/>
          <a:ln/>
        </p:spPr>
        <p:txBody>
          <a:bodyPr wrap="square" lIns="0" tIns="0" rIns="0" bIns="0" rtlCol="0" anchor="ctr"/>
          <a:lstStyle/>
          <a:p>
            <a:pPr indent="0" marL="0">
              <a:buNone/>
            </a:pPr>
            <a:r>
              <a:rPr lang="en-US" sz="1200" dirty="0">
                <a:solidFill>
                  <a:schemeClr val="tx1"/>
                </a:solidFill>
              </a:rPr>
              <a:t>Cut wait times and cost-to-serve; consistent, compliant answers</a:t>
            </a:r>
            <a:endParaRPr lang="en-US" sz="1200" dirty="0"/>
          </a:p>
        </p:txBody>
      </p:sp>
      <p:sp>
        <p:nvSpPr>
          <p:cNvPr id="18" name="Text 15"/>
          <p:cNvSpPr txBox="1"/>
          <p:nvPr/>
        </p:nvSpPr>
        <p:spPr>
          <a:xfrm>
            <a:off x="6492240" y="331927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Who</a:t>
            </a:r>
            <a:endParaRPr lang="en-US" sz="1200" dirty="0"/>
          </a:p>
        </p:txBody>
      </p:sp>
      <p:sp>
        <p:nvSpPr>
          <p:cNvPr id="19" name="Text 16"/>
          <p:cNvSpPr txBox="1"/>
          <p:nvPr/>
        </p:nvSpPr>
        <p:spPr>
          <a:xfrm>
            <a:off x="7543800" y="3246120"/>
            <a:ext cx="4069080" cy="621792"/>
          </a:xfrm>
          <a:prstGeom prst="rect">
            <a:avLst/>
          </a:prstGeom>
          <a:noFill/>
          <a:ln/>
        </p:spPr>
        <p:txBody>
          <a:bodyPr wrap="square" lIns="0" tIns="0" rIns="0" bIns="0" rtlCol="0" anchor="ctr"/>
          <a:lstStyle/>
          <a:p>
            <a:pPr indent="0" marL="0">
              <a:buNone/>
            </a:pPr>
            <a:r>
              <a:rPr lang="en-US" sz="1200" dirty="0">
                <a:solidFill>
                  <a:schemeClr val="tx1"/>
                </a:solidFill>
              </a:rPr>
              <a:t>Retail customers; agents (agent-assist); CX and compliance owners</a:t>
            </a:r>
            <a:endParaRPr lang="en-US" sz="1200" dirty="0"/>
          </a:p>
        </p:txBody>
      </p:sp>
      <p:sp>
        <p:nvSpPr>
          <p:cNvPr id="20" name="Text 17"/>
          <p:cNvSpPr txBox="1"/>
          <p:nvPr/>
        </p:nvSpPr>
        <p:spPr>
          <a:xfrm>
            <a:off x="6492240" y="405079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Where</a:t>
            </a:r>
            <a:endParaRPr lang="en-US" sz="1200" dirty="0"/>
          </a:p>
        </p:txBody>
      </p:sp>
      <p:sp>
        <p:nvSpPr>
          <p:cNvPr id="21" name="Text 18"/>
          <p:cNvSpPr txBox="1"/>
          <p:nvPr/>
        </p:nvSpPr>
        <p:spPr>
          <a:xfrm>
            <a:off x="7543800" y="3977640"/>
            <a:ext cx="4069080" cy="621792"/>
          </a:xfrm>
          <a:prstGeom prst="rect">
            <a:avLst/>
          </a:prstGeom>
          <a:noFill/>
          <a:ln/>
        </p:spPr>
        <p:txBody>
          <a:bodyPr wrap="square" lIns="0" tIns="0" rIns="0" bIns="0" rtlCol="0" anchor="ctr"/>
          <a:lstStyle/>
          <a:p>
            <a:pPr indent="0" marL="0">
              <a:buNone/>
            </a:pPr>
            <a:r>
              <a:rPr lang="en-US" sz="1200" dirty="0">
                <a:solidFill>
                  <a:schemeClr val="tx1"/>
                </a:solidFill>
              </a:rPr>
              <a:t>Mobile app, net banking, WhatsApp, IVR voice channel</a:t>
            </a:r>
            <a:endParaRPr lang="en-US" sz="1200" dirty="0"/>
          </a:p>
        </p:txBody>
      </p:sp>
      <p:sp>
        <p:nvSpPr>
          <p:cNvPr id="22" name="Text 19"/>
          <p:cNvSpPr txBox="1"/>
          <p:nvPr/>
        </p:nvSpPr>
        <p:spPr>
          <a:xfrm>
            <a:off x="6492240" y="478231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When</a:t>
            </a:r>
            <a:endParaRPr lang="en-US" sz="1200" dirty="0"/>
          </a:p>
        </p:txBody>
      </p:sp>
      <p:sp>
        <p:nvSpPr>
          <p:cNvPr id="23" name="Text 20"/>
          <p:cNvSpPr txBox="1"/>
          <p:nvPr/>
        </p:nvSpPr>
        <p:spPr>
          <a:xfrm>
            <a:off x="7543800" y="4709160"/>
            <a:ext cx="4069080" cy="621792"/>
          </a:xfrm>
          <a:prstGeom prst="rect">
            <a:avLst/>
          </a:prstGeom>
          <a:noFill/>
          <a:ln/>
        </p:spPr>
        <p:txBody>
          <a:bodyPr wrap="square" lIns="0" tIns="0" rIns="0" bIns="0" rtlCol="0" anchor="ctr"/>
          <a:lstStyle/>
          <a:p>
            <a:pPr indent="0" marL="0">
              <a:buNone/>
            </a:pPr>
            <a:r>
              <a:rPr lang="en-US" sz="1200" dirty="0">
                <a:solidFill>
                  <a:schemeClr val="tx1"/>
                </a:solidFill>
              </a:rPr>
              <a:t>FAQs first → authenticated servicing → simple transactions</a:t>
            </a:r>
            <a:endParaRPr lang="en-US" sz="1200" dirty="0"/>
          </a:p>
        </p:txBody>
      </p:sp>
      <p:sp>
        <p:nvSpPr>
          <p:cNvPr id="24" name="Text 21"/>
          <p:cNvSpPr txBox="1"/>
          <p:nvPr/>
        </p:nvSpPr>
        <p:spPr>
          <a:xfrm>
            <a:off x="6492240" y="55138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How</a:t>
            </a:r>
            <a:endParaRPr lang="en-US" sz="1200" dirty="0"/>
          </a:p>
        </p:txBody>
      </p:sp>
      <p:sp>
        <p:nvSpPr>
          <p:cNvPr id="25" name="Text 22"/>
          <p:cNvSpPr txBox="1"/>
          <p:nvPr/>
        </p:nvSpPr>
        <p:spPr>
          <a:xfrm>
            <a:off x="7543800" y="5440680"/>
            <a:ext cx="4069080" cy="621792"/>
          </a:xfrm>
          <a:prstGeom prst="rect">
            <a:avLst/>
          </a:prstGeom>
          <a:noFill/>
          <a:ln/>
        </p:spPr>
        <p:txBody>
          <a:bodyPr wrap="square" lIns="0" tIns="0" rIns="0" bIns="0" rtlCol="0" anchor="ctr"/>
          <a:lstStyle/>
          <a:p>
            <a:pPr indent="0" marL="0">
              <a:buNone/>
            </a:pPr>
            <a:r>
              <a:rPr lang="en-US" sz="1200" dirty="0">
                <a:solidFill>
                  <a:schemeClr val="tx1"/>
                </a:solidFill>
              </a:rPr>
              <a:t>RAG over curated KB + API tools + guardrails + human handoff</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1: Architecture Flow</a:t>
            </a:r>
            <a:endParaRPr lang="en-US" sz="3200" dirty="0"/>
          </a:p>
        </p:txBody>
      </p:sp>
      <p:sp>
        <p:nvSpPr>
          <p:cNvPr id="4" name="Text 1"/>
          <p:cNvSpPr txBox="1"/>
          <p:nvPr/>
        </p:nvSpPr>
        <p:spPr>
          <a:xfrm>
            <a:off x="548640" y="2624328"/>
            <a:ext cx="3657600" cy="274320"/>
          </a:xfrm>
          <a:prstGeom prst="rect">
            <a:avLst/>
          </a:prstGeom>
          <a:noFill/>
          <a:ln/>
        </p:spPr>
        <p:txBody>
          <a:bodyPr wrap="square" lIns="0" tIns="0" rIns="0" bIns="0" rtlCol="0" anchor="t"/>
          <a:lstStyle/>
          <a:p>
            <a:pPr indent="0" marL="0">
              <a:buNone/>
            </a:pPr>
            <a:r>
              <a:rPr lang="en-US" sz="1100" b="1" dirty="0">
                <a:solidFill>
                  <a:schemeClr val="accent5"/>
                </a:solidFill>
              </a:rPr>
              <a:t>Online request flow</a:t>
            </a:r>
            <a:endParaRPr lang="en-US" sz="1100" dirty="0"/>
          </a:p>
        </p:txBody>
      </p:sp>
      <p:sp>
        <p:nvSpPr>
          <p:cNvPr id="5" name="Text 2"/>
          <p:cNvSpPr txBox="1"/>
          <p:nvPr/>
        </p:nvSpPr>
        <p:spPr>
          <a:xfrm>
            <a:off x="548640" y="2971800"/>
            <a:ext cx="1384663"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Channels</a:t>
            </a:r>
            <a:endParaRPr lang="en-US" sz="1100" dirty="0"/>
          </a:p>
          <a:p>
            <a:pPr algn="ctr" indent="0" marL="0">
              <a:buNone/>
            </a:pPr>
            <a:r>
              <a:rPr lang="en-US" sz="1100" dirty="0">
                <a:solidFill>
                  <a:schemeClr val="bg1"/>
                </a:solidFill>
              </a:rPr>
              <a:t>app · web · WhatsApp · IVR</a:t>
            </a:r>
            <a:endParaRPr lang="en-US" sz="1100" dirty="0"/>
          </a:p>
        </p:txBody>
      </p:sp>
      <p:sp>
        <p:nvSpPr>
          <p:cNvPr id="6" name="Shape 3"/>
          <p:cNvSpPr/>
          <p:nvPr/>
        </p:nvSpPr>
        <p:spPr>
          <a:xfrm>
            <a:off x="1933303" y="3497580"/>
            <a:ext cx="228600" cy="0"/>
          </a:xfrm>
          <a:prstGeom prst="line">
            <a:avLst/>
          </a:prstGeom>
          <a:noFill/>
          <a:ln w="19050">
            <a:solidFill>
              <a:schemeClr val="accent5"/>
            </a:solidFill>
            <a:prstDash val="solid"/>
            <a:tailEnd type="triangle"/>
          </a:ln>
        </p:spPr>
      </p:sp>
      <p:sp>
        <p:nvSpPr>
          <p:cNvPr id="7" name="Text 4"/>
          <p:cNvSpPr txBox="1"/>
          <p:nvPr/>
        </p:nvSpPr>
        <p:spPr>
          <a:xfrm>
            <a:off x="2161903" y="2971800"/>
            <a:ext cx="1384663"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API gateway &amp; auth</a:t>
            </a:r>
            <a:endParaRPr lang="en-US" sz="1100" dirty="0"/>
          </a:p>
          <a:p>
            <a:pPr algn="ctr" indent="0" marL="0">
              <a:buNone/>
            </a:pPr>
            <a:r>
              <a:rPr lang="en-US" sz="1100" dirty="0">
                <a:solidFill>
                  <a:schemeClr val="bg1"/>
                </a:solidFill>
              </a:rPr>
              <a:t>OAuth · MFA · session</a:t>
            </a:r>
            <a:endParaRPr lang="en-US" sz="1100" dirty="0"/>
          </a:p>
        </p:txBody>
      </p:sp>
      <p:sp>
        <p:nvSpPr>
          <p:cNvPr id="8" name="Shape 5"/>
          <p:cNvSpPr/>
          <p:nvPr/>
        </p:nvSpPr>
        <p:spPr>
          <a:xfrm>
            <a:off x="3546566" y="3497580"/>
            <a:ext cx="228600" cy="0"/>
          </a:xfrm>
          <a:prstGeom prst="line">
            <a:avLst/>
          </a:prstGeom>
          <a:noFill/>
          <a:ln w="19050">
            <a:solidFill>
              <a:schemeClr val="accent5"/>
            </a:solidFill>
            <a:prstDash val="solid"/>
            <a:tailEnd type="triangle"/>
          </a:ln>
        </p:spPr>
      </p:sp>
      <p:sp>
        <p:nvSpPr>
          <p:cNvPr id="9" name="Text 6"/>
          <p:cNvSpPr txBox="1"/>
          <p:nvPr/>
        </p:nvSpPr>
        <p:spPr>
          <a:xfrm>
            <a:off x="3775166" y="2971800"/>
            <a:ext cx="1384663" cy="1051560"/>
          </a:xfrm>
          <a:prstGeom prst="roundRect">
            <a:avLst>
              <a:gd name="adj" fmla="val 6957"/>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100" b="1" dirty="0">
                <a:solidFill>
                  <a:schemeClr val="bg1"/>
                </a:solidFill>
              </a:rPr>
              <a:t>Input guardrails</a:t>
            </a:r>
            <a:endParaRPr lang="en-US" sz="1100" dirty="0"/>
          </a:p>
          <a:p>
            <a:pPr algn="ctr" indent="0" marL="0">
              <a:buNone/>
            </a:pPr>
            <a:r>
              <a:rPr lang="en-US" sz="1100" dirty="0">
                <a:solidFill>
                  <a:schemeClr val="bg1"/>
                </a:solidFill>
              </a:rPr>
              <a:t>PII masking · injection filter</a:t>
            </a:r>
            <a:endParaRPr lang="en-US" sz="1100" dirty="0"/>
          </a:p>
        </p:txBody>
      </p:sp>
      <p:sp>
        <p:nvSpPr>
          <p:cNvPr id="10" name="Shape 7"/>
          <p:cNvSpPr/>
          <p:nvPr/>
        </p:nvSpPr>
        <p:spPr>
          <a:xfrm>
            <a:off x="5159829" y="3497580"/>
            <a:ext cx="228600" cy="0"/>
          </a:xfrm>
          <a:prstGeom prst="line">
            <a:avLst/>
          </a:prstGeom>
          <a:noFill/>
          <a:ln w="19050">
            <a:solidFill>
              <a:schemeClr val="accent5"/>
            </a:solidFill>
            <a:prstDash val="solid"/>
            <a:tailEnd type="triangle"/>
          </a:ln>
        </p:spPr>
      </p:sp>
      <p:sp>
        <p:nvSpPr>
          <p:cNvPr id="11" name="Text 8"/>
          <p:cNvSpPr txBox="1"/>
          <p:nvPr/>
        </p:nvSpPr>
        <p:spPr>
          <a:xfrm>
            <a:off x="5388429" y="2971800"/>
            <a:ext cx="1384663"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Orchestrator / agent</a:t>
            </a:r>
            <a:endParaRPr lang="en-US" sz="1100" dirty="0"/>
          </a:p>
          <a:p>
            <a:pPr algn="ctr" indent="0" marL="0">
              <a:buNone/>
            </a:pPr>
            <a:r>
              <a:rPr lang="en-US" sz="1100" dirty="0">
                <a:solidFill>
                  <a:schemeClr val="bg1"/>
                </a:solidFill>
              </a:rPr>
              <a:t>intent · prompt · memory</a:t>
            </a:r>
            <a:endParaRPr lang="en-US" sz="1100" dirty="0"/>
          </a:p>
        </p:txBody>
      </p:sp>
      <p:sp>
        <p:nvSpPr>
          <p:cNvPr id="12" name="Shape 9"/>
          <p:cNvSpPr/>
          <p:nvPr/>
        </p:nvSpPr>
        <p:spPr>
          <a:xfrm>
            <a:off x="6773091" y="3497580"/>
            <a:ext cx="228600" cy="0"/>
          </a:xfrm>
          <a:prstGeom prst="line">
            <a:avLst/>
          </a:prstGeom>
          <a:noFill/>
          <a:ln w="19050">
            <a:solidFill>
              <a:schemeClr val="accent5"/>
            </a:solidFill>
            <a:prstDash val="solid"/>
            <a:tailEnd type="triangle"/>
          </a:ln>
        </p:spPr>
      </p:sp>
      <p:sp>
        <p:nvSpPr>
          <p:cNvPr id="13" name="Text 10"/>
          <p:cNvSpPr txBox="1"/>
          <p:nvPr/>
        </p:nvSpPr>
        <p:spPr>
          <a:xfrm>
            <a:off x="7001691" y="2971800"/>
            <a:ext cx="1384663"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LLM</a:t>
            </a:r>
            <a:endParaRPr lang="en-US" sz="1100" dirty="0"/>
          </a:p>
          <a:p>
            <a:pPr algn="ctr" indent="0" marL="0">
              <a:buNone/>
            </a:pPr>
            <a:r>
              <a:rPr lang="en-US" sz="1100" dirty="0">
                <a:solidFill>
                  <a:schemeClr val="bg1"/>
                </a:solidFill>
              </a:rPr>
              <a:t>private endpoint (VPC)</a:t>
            </a:r>
            <a:endParaRPr lang="en-US" sz="1100" dirty="0"/>
          </a:p>
        </p:txBody>
      </p:sp>
      <p:sp>
        <p:nvSpPr>
          <p:cNvPr id="14" name="Shape 11"/>
          <p:cNvSpPr/>
          <p:nvPr/>
        </p:nvSpPr>
        <p:spPr>
          <a:xfrm>
            <a:off x="8386354" y="3497580"/>
            <a:ext cx="228600" cy="0"/>
          </a:xfrm>
          <a:prstGeom prst="line">
            <a:avLst/>
          </a:prstGeom>
          <a:noFill/>
          <a:ln w="19050">
            <a:solidFill>
              <a:schemeClr val="accent5"/>
            </a:solidFill>
            <a:prstDash val="solid"/>
            <a:tailEnd type="triangle"/>
          </a:ln>
        </p:spPr>
      </p:sp>
      <p:sp>
        <p:nvSpPr>
          <p:cNvPr id="15" name="Text 12"/>
          <p:cNvSpPr txBox="1"/>
          <p:nvPr/>
        </p:nvSpPr>
        <p:spPr>
          <a:xfrm>
            <a:off x="8614954" y="2971800"/>
            <a:ext cx="1384663" cy="1051560"/>
          </a:xfrm>
          <a:prstGeom prst="roundRect">
            <a:avLst>
              <a:gd name="adj" fmla="val 6957"/>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100" b="1" dirty="0">
                <a:solidFill>
                  <a:schemeClr val="bg1"/>
                </a:solidFill>
              </a:rPr>
              <a:t>Output guardrails</a:t>
            </a:r>
            <a:endParaRPr lang="en-US" sz="1100" dirty="0"/>
          </a:p>
          <a:p>
            <a:pPr algn="ctr" indent="0" marL="0">
              <a:buNone/>
            </a:pPr>
            <a:r>
              <a:rPr lang="en-US" sz="1100" dirty="0">
                <a:solidFill>
                  <a:schemeClr val="bg1"/>
                </a:solidFill>
              </a:rPr>
              <a:t>groundedness · compliance</a:t>
            </a:r>
            <a:endParaRPr lang="en-US" sz="1100" dirty="0"/>
          </a:p>
        </p:txBody>
      </p:sp>
      <p:sp>
        <p:nvSpPr>
          <p:cNvPr id="16" name="Shape 13"/>
          <p:cNvSpPr/>
          <p:nvPr/>
        </p:nvSpPr>
        <p:spPr>
          <a:xfrm>
            <a:off x="9999617" y="3497580"/>
            <a:ext cx="228600" cy="0"/>
          </a:xfrm>
          <a:prstGeom prst="line">
            <a:avLst/>
          </a:prstGeom>
          <a:noFill/>
          <a:ln w="19050">
            <a:solidFill>
              <a:schemeClr val="accent5"/>
            </a:solidFill>
            <a:prstDash val="solid"/>
            <a:tailEnd type="triangle"/>
          </a:ln>
        </p:spPr>
      </p:sp>
      <p:sp>
        <p:nvSpPr>
          <p:cNvPr id="17" name="Text 14"/>
          <p:cNvSpPr txBox="1"/>
          <p:nvPr/>
        </p:nvSpPr>
        <p:spPr>
          <a:xfrm>
            <a:off x="10228217" y="2971800"/>
            <a:ext cx="1384663" cy="1051560"/>
          </a:xfrm>
          <a:prstGeom prst="roundRect">
            <a:avLst>
              <a:gd name="adj" fmla="val 6957"/>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100" b="1" dirty="0">
                <a:solidFill>
                  <a:schemeClr val="tx1"/>
                </a:solidFill>
              </a:rPr>
              <a:t>Response</a:t>
            </a:r>
            <a:endParaRPr lang="en-US" sz="1100" dirty="0"/>
          </a:p>
          <a:p>
            <a:pPr algn="ctr" indent="0" marL="0">
              <a:buNone/>
            </a:pPr>
            <a:r>
              <a:rPr lang="en-US" sz="1100" dirty="0">
                <a:solidFill>
                  <a:schemeClr val="tx1"/>
                </a:solidFill>
              </a:rPr>
              <a:t>with citations</a:t>
            </a:r>
            <a:endParaRPr lang="en-US" sz="1100" dirty="0"/>
          </a:p>
        </p:txBody>
      </p:sp>
      <p:sp>
        <p:nvSpPr>
          <p:cNvPr id="18" name="Text 15"/>
          <p:cNvSpPr txBox="1"/>
          <p:nvPr/>
        </p:nvSpPr>
        <p:spPr>
          <a:xfrm>
            <a:off x="4251960" y="1371600"/>
            <a:ext cx="3657600" cy="777240"/>
          </a:xfrm>
          <a:prstGeom prst="roundRect">
            <a:avLst>
              <a:gd name="adj" fmla="val 9412"/>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100" dirty="0">
                <a:solidFill>
                  <a:schemeClr val="tx1"/>
                </a:solidFill>
              </a:rPr>
              <a:t>Knowledge base: policies, FAQs, T&amp;Cs → chunk → embed → vector DB (hybrid search, top-k)</a:t>
            </a:r>
            <a:endParaRPr lang="en-US" sz="1100" dirty="0"/>
          </a:p>
        </p:txBody>
      </p:sp>
      <p:sp>
        <p:nvSpPr>
          <p:cNvPr id="19" name="Shape 16"/>
          <p:cNvSpPr/>
          <p:nvPr/>
        </p:nvSpPr>
        <p:spPr>
          <a:xfrm>
            <a:off x="6080760" y="2148840"/>
            <a:ext cx="0" cy="822960"/>
          </a:xfrm>
          <a:prstGeom prst="line">
            <a:avLst/>
          </a:prstGeom>
          <a:noFill/>
          <a:ln w="19050">
            <a:solidFill>
              <a:schemeClr val="accent3"/>
            </a:solidFill>
            <a:prstDash val="solid"/>
            <a:tailEnd type="triangle"/>
          </a:ln>
        </p:spPr>
      </p:sp>
      <p:sp>
        <p:nvSpPr>
          <p:cNvPr id="20" name="Text 17"/>
          <p:cNvSpPr txBox="1"/>
          <p:nvPr/>
        </p:nvSpPr>
        <p:spPr>
          <a:xfrm>
            <a:off x="4892040" y="4526280"/>
            <a:ext cx="2377440" cy="731520"/>
          </a:xfrm>
          <a:prstGeom prst="roundRect">
            <a:avLst>
              <a:gd name="adj" fmla="val 10000"/>
            </a:avLst>
          </a:prstGeom>
          <a:solidFill>
            <a:schemeClr val="accent4">
              <a:alpha val="14000"/>
            </a:schemeClr>
          </a:solidFill>
          <a:ln w="9525">
            <a:solidFill>
              <a:schemeClr val="accent4"/>
            </a:solidFill>
          </a:ln>
        </p:spPr>
        <p:txBody>
          <a:bodyPr wrap="square" lIns="50800" tIns="50800" rIns="50800" bIns="50800" rtlCol="0" anchor="ctr"/>
          <a:lstStyle/>
          <a:p>
            <a:pPr algn="ctr" indent="0" marL="0">
              <a:buNone/>
            </a:pPr>
            <a:r>
              <a:rPr lang="en-US" sz="1100" dirty="0">
                <a:solidFill>
                  <a:schemeClr val="tx1"/>
                </a:solidFill>
              </a:rPr>
              <a:t>Core banking, CRM, card APIs (tool calls)</a:t>
            </a:r>
            <a:endParaRPr lang="en-US" sz="1100" dirty="0"/>
          </a:p>
        </p:txBody>
      </p:sp>
      <p:sp>
        <p:nvSpPr>
          <p:cNvPr id="21" name="Shape 18"/>
          <p:cNvSpPr/>
          <p:nvPr/>
        </p:nvSpPr>
        <p:spPr>
          <a:xfrm flipV="1">
            <a:off x="6080760" y="4023360"/>
            <a:ext cx="0" cy="502920"/>
          </a:xfrm>
          <a:prstGeom prst="line">
            <a:avLst/>
          </a:prstGeom>
          <a:noFill/>
          <a:ln w="19050">
            <a:solidFill>
              <a:schemeClr val="accent4"/>
            </a:solidFill>
            <a:prstDash val="solid"/>
            <a:tailEnd type="triangle"/>
          </a:ln>
        </p:spPr>
      </p:sp>
      <p:sp>
        <p:nvSpPr>
          <p:cNvPr id="22" name="Text 19"/>
          <p:cNvSpPr txBox="1"/>
          <p:nvPr/>
        </p:nvSpPr>
        <p:spPr>
          <a:xfrm>
            <a:off x="9418320" y="4526280"/>
            <a:ext cx="2194560" cy="731520"/>
          </a:xfrm>
          <a:prstGeom prst="roundRect">
            <a:avLst>
              <a:gd name="adj" fmla="val 10000"/>
            </a:avLst>
          </a:prstGeom>
          <a:solidFill>
            <a:schemeClr val="accent4">
              <a:alpha val="14000"/>
            </a:schemeClr>
          </a:solidFill>
          <a:ln w="9525">
            <a:solidFill>
              <a:schemeClr val="accent4"/>
            </a:solidFill>
          </a:ln>
        </p:spPr>
        <p:txBody>
          <a:bodyPr wrap="square" lIns="50800" tIns="50800" rIns="50800" bIns="50800" rtlCol="0" anchor="ctr"/>
          <a:lstStyle/>
          <a:p>
            <a:pPr algn="ctr" indent="0" marL="0">
              <a:buNone/>
            </a:pPr>
            <a:r>
              <a:rPr lang="en-US" sz="1100" dirty="0">
                <a:solidFill>
                  <a:schemeClr val="tx1"/>
                </a:solidFill>
              </a:rPr>
              <a:t>Live agent handoff with conversation context</a:t>
            </a:r>
            <a:endParaRPr lang="en-US" sz="1100" dirty="0"/>
          </a:p>
        </p:txBody>
      </p:sp>
      <p:sp>
        <p:nvSpPr>
          <p:cNvPr id="23" name="Shape 20"/>
          <p:cNvSpPr/>
          <p:nvPr/>
        </p:nvSpPr>
        <p:spPr>
          <a:xfrm>
            <a:off x="10920549" y="4023360"/>
            <a:ext cx="0" cy="502920"/>
          </a:xfrm>
          <a:prstGeom prst="line">
            <a:avLst/>
          </a:prstGeom>
          <a:noFill/>
          <a:ln w="19050">
            <a:solidFill>
              <a:schemeClr val="accent4"/>
            </a:solidFill>
            <a:prstDash val="solid"/>
            <a:tailEnd type="triangle"/>
          </a:ln>
        </p:spPr>
      </p:sp>
      <p:sp>
        <p:nvSpPr>
          <p:cNvPr id="24" name="Shape 21"/>
          <p:cNvSpPr/>
          <p:nvPr/>
        </p:nvSpPr>
        <p:spPr>
          <a:xfrm>
            <a:off x="548640" y="5486400"/>
            <a:ext cx="11064240" cy="731520"/>
          </a:xfrm>
          <a:prstGeom prst="roundRect">
            <a:avLst>
              <a:gd name="adj" fmla="val 12500"/>
            </a:avLst>
          </a:prstGeom>
          <a:solidFill>
            <a:schemeClr val="tx2"/>
          </a:solidFill>
          <a:ln w="9525">
            <a:solidFill>
              <a:schemeClr val="tx2"/>
            </a:solidFill>
            <a:prstDash val="solid"/>
          </a:ln>
        </p:spPr>
      </p:sp>
      <p:sp>
        <p:nvSpPr>
          <p:cNvPr id="25" name="Text 22"/>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200" b="1" dirty="0">
                <a:solidFill>
                  <a:schemeClr val="accent2"/>
                </a:solidFill>
              </a:rPr>
              <a:t>Governance layer:  </a:t>
            </a:r>
            <a:pPr indent="0" marL="0">
              <a:buNone/>
            </a:pPr>
            <a:r>
              <a:rPr lang="en-US" sz="1200" dirty="0">
                <a:solidFill>
                  <a:schemeClr val="bg1"/>
                </a:solidFill>
              </a:rPr>
              <a:t>full audit log of prompts, context and responses · PII-safe storage · evaluation dashboards · customer feedback loop · AI disclosure</a:t>
            </a:r>
            <a:endParaRPr lang="en-US" sz="1200" dirty="0"/>
          </a:p>
        </p:txBody>
      </p:sp>
      <p:sp>
        <p:nvSpPr>
          <p:cNvPr id="26" name="Text 23"/>
          <p:cNvSpPr txBox="1"/>
          <p:nvPr/>
        </p:nvSpPr>
        <p:spPr>
          <a:xfrm>
            <a:off x="8321040" y="1371600"/>
            <a:ext cx="3291840" cy="777240"/>
          </a:xfrm>
          <a:prstGeom prst="rect">
            <a:avLst/>
          </a:prstGeom>
          <a:noFill/>
          <a:ln/>
        </p:spPr>
        <p:txBody>
          <a:bodyPr wrap="square" lIns="0" tIns="0" rIns="0" bIns="0" rtlCol="0" anchor="ctr"/>
          <a:lstStyle/>
          <a:p>
            <a:pPr indent="0" marL="0">
              <a:buNone/>
            </a:pPr>
            <a:r>
              <a:rPr lang="en-US" sz="1200" i="1" dirty="0">
                <a:solidFill>
                  <a:schemeClr val="accent5"/>
                </a:solidFill>
              </a:rPr>
              <a:t>Offline: documents are indexed ahead of time.  Online: each query retrieves the most relevant chunks before the LLM answers.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1: Implementation Workflow</a:t>
            </a:r>
            <a:endParaRPr lang="en-US" sz="3200" dirty="0"/>
          </a:p>
        </p:txBody>
      </p:sp>
      <p:sp>
        <p:nvSpPr>
          <p:cNvPr id="4" name="Shape 1"/>
          <p:cNvSpPr/>
          <p:nvPr/>
        </p:nvSpPr>
        <p:spPr>
          <a:xfrm>
            <a:off x="1280160" y="1783080"/>
            <a:ext cx="9601200" cy="0"/>
          </a:xfrm>
          <a:prstGeom prst="line">
            <a:avLst/>
          </a:prstGeom>
          <a:noFill/>
          <a:ln w="25400">
            <a:solidFill>
              <a:schemeClr val="accent5"/>
            </a:solidFill>
            <a:prstDash val="solid"/>
          </a:ln>
        </p:spPr>
      </p:sp>
      <p:sp>
        <p:nvSpPr>
          <p:cNvPr id="5" name="Text 2"/>
          <p:cNvSpPr txBox="1"/>
          <p:nvPr/>
        </p:nvSpPr>
        <p:spPr>
          <a:xfrm>
            <a:off x="1005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48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Discover</a:t>
            </a:r>
            <a:endParaRPr lang="en-US" sz="1400" dirty="0"/>
          </a:p>
        </p:txBody>
      </p:sp>
      <p:sp>
        <p:nvSpPr>
          <p:cNvPr id="7" name="Text 4"/>
          <p:cNvSpPr txBox="1"/>
          <p:nvPr/>
        </p:nvSpPr>
        <p:spPr>
          <a:xfrm>
            <a:off x="548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Mine call logs for top intents; define KPIs; assign a risk tier and business owner.</a:t>
            </a:r>
            <a:endParaRPr lang="en-US" sz="1300" dirty="0"/>
          </a:p>
        </p:txBody>
      </p:sp>
      <p:sp>
        <p:nvSpPr>
          <p:cNvPr id="8" name="Text 5"/>
          <p:cNvSpPr txBox="1"/>
          <p:nvPr/>
        </p:nvSpPr>
        <p:spPr>
          <a:xfrm>
            <a:off x="26060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2148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Curate knowledge</a:t>
            </a:r>
            <a:endParaRPr lang="en-US" sz="1400" dirty="0"/>
          </a:p>
        </p:txBody>
      </p:sp>
      <p:sp>
        <p:nvSpPr>
          <p:cNvPr id="10" name="Text 7"/>
          <p:cNvSpPr txBox="1"/>
          <p:nvPr/>
        </p:nvSpPr>
        <p:spPr>
          <a:xfrm>
            <a:off x="2148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Collect approved policies, FAQs and T&amp;Cs; clean, version, tag owners and expiry dates.</a:t>
            </a:r>
            <a:endParaRPr lang="en-US" sz="1300" dirty="0"/>
          </a:p>
        </p:txBody>
      </p:sp>
      <p:sp>
        <p:nvSpPr>
          <p:cNvPr id="11" name="Text 8"/>
          <p:cNvSpPr txBox="1"/>
          <p:nvPr/>
        </p:nvSpPr>
        <p:spPr>
          <a:xfrm>
            <a:off x="42062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37490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Build RAG + tools</a:t>
            </a:r>
            <a:endParaRPr lang="en-US" sz="1400" dirty="0"/>
          </a:p>
        </p:txBody>
      </p:sp>
      <p:sp>
        <p:nvSpPr>
          <p:cNvPr id="13" name="Text 10"/>
          <p:cNvSpPr txBox="1"/>
          <p:nvPr/>
        </p:nvSpPr>
        <p:spPr>
          <a:xfrm>
            <a:off x="37490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Chunk, embed and index; write prompt templates; connect read-only APIs first.</a:t>
            </a:r>
            <a:endParaRPr lang="en-US" sz="1300" dirty="0"/>
          </a:p>
        </p:txBody>
      </p:sp>
      <p:sp>
        <p:nvSpPr>
          <p:cNvPr id="14" name="Text 11"/>
          <p:cNvSpPr txBox="1"/>
          <p:nvPr/>
        </p:nvSpPr>
        <p:spPr>
          <a:xfrm>
            <a:off x="58064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53492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Guardrails</a:t>
            </a:r>
            <a:endParaRPr lang="en-US" sz="1400" dirty="0"/>
          </a:p>
        </p:txBody>
      </p:sp>
      <p:sp>
        <p:nvSpPr>
          <p:cNvPr id="16" name="Text 13"/>
          <p:cNvSpPr txBox="1"/>
          <p:nvPr/>
        </p:nvSpPr>
        <p:spPr>
          <a:xfrm>
            <a:off x="53492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PII masking, injection filters, topic limits, disclaimers and handoff rules.</a:t>
            </a:r>
            <a:endParaRPr lang="en-US" sz="1300" dirty="0"/>
          </a:p>
        </p:txBody>
      </p:sp>
      <p:sp>
        <p:nvSpPr>
          <p:cNvPr id="17" name="Text 14"/>
          <p:cNvSpPr txBox="1"/>
          <p:nvPr/>
        </p:nvSpPr>
        <p:spPr>
          <a:xfrm>
            <a:off x="74066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69494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Evaluate</a:t>
            </a:r>
            <a:endParaRPr lang="en-US" sz="1400" dirty="0"/>
          </a:p>
        </p:txBody>
      </p:sp>
      <p:sp>
        <p:nvSpPr>
          <p:cNvPr id="19" name="Text 16"/>
          <p:cNvSpPr txBox="1"/>
          <p:nvPr/>
        </p:nvSpPr>
        <p:spPr>
          <a:xfrm>
            <a:off x="69494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Golden Q&amp;A set, groundedness and accuracy scoring, red-teaming, compliance sign-off.</a:t>
            </a:r>
            <a:endParaRPr lang="en-US" sz="1300" dirty="0"/>
          </a:p>
        </p:txBody>
      </p:sp>
      <p:sp>
        <p:nvSpPr>
          <p:cNvPr id="20" name="Text 17"/>
          <p:cNvSpPr txBox="1"/>
          <p:nvPr/>
        </p:nvSpPr>
        <p:spPr>
          <a:xfrm>
            <a:off x="9006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8549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Pilot</a:t>
            </a:r>
            <a:endParaRPr lang="en-US" sz="1400" dirty="0"/>
          </a:p>
        </p:txBody>
      </p:sp>
      <p:sp>
        <p:nvSpPr>
          <p:cNvPr id="22" name="Text 19"/>
          <p:cNvSpPr txBox="1"/>
          <p:nvPr/>
        </p:nvSpPr>
        <p:spPr>
          <a:xfrm>
            <a:off x="8549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Agent-assist for staff first, then a small customer cohort with close monitoring.</a:t>
            </a:r>
            <a:endParaRPr lang="en-US" sz="1300" dirty="0"/>
          </a:p>
        </p:txBody>
      </p:sp>
      <p:sp>
        <p:nvSpPr>
          <p:cNvPr id="23" name="Text 20"/>
          <p:cNvSpPr txBox="1"/>
          <p:nvPr/>
        </p:nvSpPr>
        <p:spPr>
          <a:xfrm>
            <a:off x="10607040" y="150876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24" name="Text 21"/>
          <p:cNvSpPr txBox="1"/>
          <p:nvPr/>
        </p:nvSpPr>
        <p:spPr>
          <a:xfrm>
            <a:off x="10149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Scale &amp; operate</a:t>
            </a:r>
            <a:endParaRPr lang="en-US" sz="1400" dirty="0"/>
          </a:p>
        </p:txBody>
      </p:sp>
      <p:sp>
        <p:nvSpPr>
          <p:cNvPr id="25" name="Text 22"/>
          <p:cNvSpPr txBox="1"/>
          <p:nvPr/>
        </p:nvSpPr>
        <p:spPr>
          <a:xfrm>
            <a:off x="10149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Dashboards, feedback loop, KB refresh; add transactional intents gradually.</a:t>
            </a:r>
            <a:endParaRPr lang="en-US" sz="1300" dirty="0"/>
          </a:p>
        </p:txBody>
      </p:sp>
      <p:sp>
        <p:nvSpPr>
          <p:cNvPr id="26" name="Shape 23"/>
          <p:cNvSpPr/>
          <p:nvPr/>
        </p:nvSpPr>
        <p:spPr>
          <a:xfrm>
            <a:off x="548640" y="4983480"/>
            <a:ext cx="6949440" cy="1097280"/>
          </a:xfrm>
          <a:prstGeom prst="roundRect">
            <a:avLst>
              <a:gd name="adj" fmla="val 8333"/>
            </a:avLst>
          </a:prstGeom>
          <a:solidFill>
            <a:schemeClr val="bg2"/>
          </a:solidFill>
          <a:ln w="9525">
            <a:solidFill>
              <a:schemeClr val="bg2"/>
            </a:solidFill>
            <a:prstDash val="solid"/>
          </a:ln>
        </p:spPr>
      </p:sp>
      <p:sp>
        <p:nvSpPr>
          <p:cNvPr id="27" name="Text 24"/>
          <p:cNvSpPr txBox="1"/>
          <p:nvPr/>
        </p:nvSpPr>
        <p:spPr>
          <a:xfrm>
            <a:off x="777240" y="5074920"/>
            <a:ext cx="6492240" cy="914400"/>
          </a:xfrm>
          <a:prstGeom prst="rect">
            <a:avLst/>
          </a:prstGeom>
          <a:noFill/>
          <a:ln/>
        </p:spPr>
        <p:txBody>
          <a:bodyPr wrap="square" lIns="0" tIns="0" rIns="0" bIns="0" rtlCol="0" anchor="ctr"/>
          <a:lstStyle/>
          <a:p>
            <a:pPr indent="0" marL="0">
              <a:buNone/>
            </a:pPr>
            <a:r>
              <a:rPr lang="en-US" sz="1300" b="1" dirty="0">
                <a:solidFill>
                  <a:schemeClr val="accent1"/>
                </a:solidFill>
              </a:rPr>
              <a:t>Core team</a:t>
            </a:r>
            <a:endParaRPr lang="en-US" sz="1400" dirty="0"/>
          </a:p>
          <a:p>
            <a:pPr indent="0" marL="0">
              <a:buNone/>
            </a:pPr>
            <a:r>
              <a:rPr lang="en-US" sz="1300" dirty="0">
                <a:solidFill>
                  <a:schemeClr val="tx1"/>
                </a:solidFill>
              </a:rPr>
              <a:t>Product owner · CX SMEs · LLM / ML engineers · Data engineers · InfoSec · Compliance &amp; Legal</a:t>
            </a:r>
            <a:endParaRPr lang="en-US" sz="1400" dirty="0"/>
          </a:p>
        </p:txBody>
      </p:sp>
      <p:sp>
        <p:nvSpPr>
          <p:cNvPr id="28" name="Shape 25"/>
          <p:cNvSpPr/>
          <p:nvPr/>
        </p:nvSpPr>
        <p:spPr>
          <a:xfrm>
            <a:off x="7726680" y="4983480"/>
            <a:ext cx="3886200" cy="1097280"/>
          </a:xfrm>
          <a:prstGeom prst="roundRect">
            <a:avLst>
              <a:gd name="adj" fmla="val 8333"/>
            </a:avLst>
          </a:prstGeom>
          <a:solidFill>
            <a:schemeClr val="accent2">
              <a:alpha val="20000"/>
            </a:schemeClr>
          </a:solidFill>
          <a:ln w="9525">
            <a:solidFill>
              <a:schemeClr val="accent2"/>
            </a:solidFill>
            <a:prstDash val="solid"/>
          </a:ln>
        </p:spPr>
      </p:sp>
      <p:sp>
        <p:nvSpPr>
          <p:cNvPr id="29" name="Text 26"/>
          <p:cNvSpPr txBox="1"/>
          <p:nvPr/>
        </p:nvSpPr>
        <p:spPr>
          <a:xfrm>
            <a:off x="7909560" y="5074920"/>
            <a:ext cx="3566160" cy="914400"/>
          </a:xfrm>
          <a:prstGeom prst="rect">
            <a:avLst/>
          </a:prstGeom>
          <a:noFill/>
          <a:ln/>
        </p:spPr>
        <p:txBody>
          <a:bodyPr wrap="square" lIns="0" tIns="0" rIns="0" bIns="0" rtlCol="0" anchor="ctr"/>
          <a:lstStyle/>
          <a:p>
            <a:pPr indent="0" marL="0">
              <a:buNone/>
            </a:pPr>
            <a:r>
              <a:rPr lang="en-US" sz="1300" b="1" dirty="0">
                <a:solidFill>
                  <a:schemeClr val="tx2"/>
                </a:solidFill>
              </a:rPr>
              <a:t>Indicative timeline</a:t>
            </a:r>
            <a:endParaRPr lang="en-US" sz="1400" dirty="0"/>
          </a:p>
          <a:p>
            <a:pPr indent="0" marL="0">
              <a:buNone/>
            </a:pPr>
            <a:r>
              <a:rPr lang="en-US" sz="1300" dirty="0">
                <a:solidFill>
                  <a:schemeClr val="tx1"/>
                </a:solidFill>
              </a:rPr>
              <a:t>~12–16 weeks to pilot; phased rollout over 2–3 quarters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2: Loan Underwriting Copilot</a:t>
            </a:r>
            <a:endParaRPr lang="en-US" sz="3200" dirty="0"/>
          </a:p>
        </p:txBody>
      </p:sp>
      <p:sp>
        <p:nvSpPr>
          <p:cNvPr id="4" name="Shape 1"/>
          <p:cNvSpPr/>
          <p:nvPr/>
        </p:nvSpPr>
        <p:spPr>
          <a:xfrm>
            <a:off x="548640" y="1371600"/>
            <a:ext cx="5577840" cy="1417320"/>
          </a:xfrm>
          <a:prstGeom prst="roundRect">
            <a:avLst>
              <a:gd name="adj" fmla="val 6452"/>
            </a:avLst>
          </a:prstGeom>
          <a:solidFill>
            <a:schemeClr val="bg2"/>
          </a:solidFill>
          <a:ln w="9525">
            <a:solidFill>
              <a:schemeClr val="bg2"/>
            </a:solidFill>
            <a:prstDash val="solid"/>
          </a:ln>
        </p:spPr>
      </p:sp>
      <p:sp>
        <p:nvSpPr>
          <p:cNvPr id="5" name="Text 2"/>
          <p:cNvSpPr txBox="1"/>
          <p:nvPr/>
        </p:nvSpPr>
        <p:spPr>
          <a:xfrm>
            <a:off x="777240" y="1508760"/>
            <a:ext cx="5120640" cy="320040"/>
          </a:xfrm>
          <a:prstGeom prst="rect">
            <a:avLst/>
          </a:prstGeom>
          <a:noFill/>
          <a:ln/>
        </p:spPr>
        <p:txBody>
          <a:bodyPr wrap="square" lIns="0" tIns="0" rIns="0" bIns="0" rtlCol="0" anchor="t"/>
          <a:lstStyle/>
          <a:p>
            <a:pPr indent="0" marL="0">
              <a:buNone/>
            </a:pPr>
            <a:r>
              <a:rPr lang="en-US" sz="1500" b="1" dirty="0">
                <a:solidFill>
                  <a:schemeClr val="accent4"/>
                </a:solidFill>
              </a:rPr>
              <a:t>The problem</a:t>
            </a:r>
            <a:endParaRPr lang="en-US" sz="1500" dirty="0"/>
          </a:p>
        </p:txBody>
      </p:sp>
      <p:sp>
        <p:nvSpPr>
          <p:cNvPr id="6" name="Text 3"/>
          <p:cNvSpPr txBox="1"/>
          <p:nvPr/>
        </p:nvSpPr>
        <p:spPr>
          <a:xfrm>
            <a:off x="777240" y="1847088"/>
            <a:ext cx="5120640" cy="868680"/>
          </a:xfrm>
          <a:prstGeom prst="rect">
            <a:avLst/>
          </a:prstGeom>
          <a:noFill/>
          <a:ln/>
        </p:spPr>
        <p:txBody>
          <a:bodyPr wrap="square" lIns="0" tIns="0" rIns="0" bIns="0" rtlCol="0" anchor="t"/>
          <a:lstStyle/>
          <a:p>
            <a:pPr indent="0" marL="0">
              <a:buNone/>
            </a:pPr>
            <a:r>
              <a:rPr lang="en-US" sz="1300" dirty="0">
                <a:solidFill>
                  <a:schemeClr val="tx1"/>
                </a:solidFill>
              </a:rPr>
              <a:t>Underwriters spend hours reading bank statements, ITRs, GST returns and salary slips; manual re-keying causes errors; turnaround time for retail and MSME loans is slow.</a:t>
            </a:r>
            <a:endParaRPr lang="en-US" sz="1300" dirty="0"/>
          </a:p>
        </p:txBody>
      </p:sp>
      <p:sp>
        <p:nvSpPr>
          <p:cNvPr id="7" name="Shape 4"/>
          <p:cNvSpPr/>
          <p:nvPr/>
        </p:nvSpPr>
        <p:spPr>
          <a:xfrm>
            <a:off x="548640" y="2971800"/>
            <a:ext cx="5577840" cy="1600200"/>
          </a:xfrm>
          <a:prstGeom prst="roundRect">
            <a:avLst>
              <a:gd name="adj" fmla="val 5714"/>
            </a:avLst>
          </a:prstGeom>
          <a:solidFill>
            <a:schemeClr val="bg2"/>
          </a:solidFill>
          <a:ln w="9525">
            <a:solidFill>
              <a:schemeClr val="bg2"/>
            </a:solidFill>
            <a:prstDash val="solid"/>
          </a:ln>
        </p:spPr>
      </p:sp>
      <p:sp>
        <p:nvSpPr>
          <p:cNvPr id="8" name="Text 5"/>
          <p:cNvSpPr txBox="1"/>
          <p:nvPr/>
        </p:nvSpPr>
        <p:spPr>
          <a:xfrm>
            <a:off x="777240" y="3108960"/>
            <a:ext cx="5120640" cy="320040"/>
          </a:xfrm>
          <a:prstGeom prst="rect">
            <a:avLst/>
          </a:prstGeom>
          <a:noFill/>
          <a:ln/>
        </p:spPr>
        <p:txBody>
          <a:bodyPr wrap="square" lIns="0" tIns="0" rIns="0" bIns="0" rtlCol="0" anchor="t"/>
          <a:lstStyle/>
          <a:p>
            <a:pPr indent="0" marL="0">
              <a:buNone/>
            </a:pPr>
            <a:r>
              <a:rPr lang="en-US" sz="1500" b="1" dirty="0">
                <a:solidFill>
                  <a:schemeClr val="accent1"/>
                </a:solidFill>
              </a:rPr>
              <a:t>GenAI solution</a:t>
            </a:r>
            <a:endParaRPr lang="en-US" sz="1500" dirty="0"/>
          </a:p>
        </p:txBody>
      </p:sp>
      <p:sp>
        <p:nvSpPr>
          <p:cNvPr id="9" name="Text 6"/>
          <p:cNvSpPr txBox="1"/>
          <p:nvPr/>
        </p:nvSpPr>
        <p:spPr>
          <a:xfrm>
            <a:off x="777240" y="3447288"/>
            <a:ext cx="5120640" cy="1051560"/>
          </a:xfrm>
          <a:prstGeom prst="rect">
            <a:avLst/>
          </a:prstGeom>
          <a:noFill/>
          <a:ln/>
        </p:spPr>
        <p:txBody>
          <a:bodyPr wrap="square" lIns="0" tIns="0" rIns="0" bIns="0" rtlCol="0" anchor="t"/>
          <a:lstStyle/>
          <a:p>
            <a:pPr indent="0" marL="0">
              <a:buNone/>
            </a:pPr>
            <a:r>
              <a:rPr lang="en-US" sz="1300" dirty="0">
                <a:solidFill>
                  <a:schemeClr val="tx1"/>
                </a:solidFill>
              </a:rPr>
              <a:t>GenAI extracts and cross-verifies data from documents, flags inconsistencies, and drafts a credit memo in the bank’s format. The credit decision stays with the scorecard and the underwriter.</a:t>
            </a:r>
            <a:endParaRPr lang="en-US" sz="1300" dirty="0"/>
          </a:p>
        </p:txBody>
      </p:sp>
      <p:sp>
        <p:nvSpPr>
          <p:cNvPr id="10" name="Shape 7"/>
          <p:cNvSpPr/>
          <p:nvPr/>
        </p:nvSpPr>
        <p:spPr>
          <a:xfrm>
            <a:off x="548640" y="4754880"/>
            <a:ext cx="5577840" cy="1463040"/>
          </a:xfrm>
          <a:prstGeom prst="roundRect">
            <a:avLst>
              <a:gd name="adj" fmla="val 6250"/>
            </a:avLst>
          </a:prstGeom>
          <a:solidFill>
            <a:schemeClr val="bg2"/>
          </a:solidFill>
          <a:ln w="9525">
            <a:solidFill>
              <a:schemeClr val="bg2"/>
            </a:solidFill>
            <a:prstDash val="solid"/>
          </a:ln>
        </p:spPr>
      </p:sp>
      <p:sp>
        <p:nvSpPr>
          <p:cNvPr id="11" name="Text 8"/>
          <p:cNvSpPr txBox="1"/>
          <p:nvPr/>
        </p:nvSpPr>
        <p:spPr>
          <a:xfrm>
            <a:off x="777240" y="4892040"/>
            <a:ext cx="5120640" cy="320040"/>
          </a:xfrm>
          <a:prstGeom prst="rect">
            <a:avLst/>
          </a:prstGeom>
          <a:noFill/>
          <a:ln/>
        </p:spPr>
        <p:txBody>
          <a:bodyPr wrap="square" lIns="0" tIns="0" rIns="0" bIns="0" rtlCol="0" anchor="t"/>
          <a:lstStyle/>
          <a:p>
            <a:pPr indent="0" marL="0">
              <a:buNone/>
            </a:pPr>
            <a:r>
              <a:rPr lang="en-US" sz="1500" b="1" dirty="0">
                <a:solidFill>
                  <a:schemeClr val="accent3"/>
                </a:solidFill>
              </a:rPr>
              <a:t>Success KPIs</a:t>
            </a:r>
            <a:endParaRPr lang="en-US" sz="1500" dirty="0"/>
          </a:p>
        </p:txBody>
      </p:sp>
      <p:sp>
        <p:nvSpPr>
          <p:cNvPr id="12" name="Text 9"/>
          <p:cNvSpPr txBox="1"/>
          <p:nvPr/>
        </p:nvSpPr>
        <p:spPr>
          <a:xfrm>
            <a:off x="777240" y="5230368"/>
            <a:ext cx="5120640" cy="914400"/>
          </a:xfrm>
          <a:prstGeom prst="rect">
            <a:avLst/>
          </a:prstGeom>
          <a:noFill/>
          <a:ln/>
        </p:spPr>
        <p:txBody>
          <a:bodyPr wrap="square" lIns="0" tIns="0" rIns="0" bIns="0" rtlCol="0" anchor="t"/>
          <a:lstStyle/>
          <a:p>
            <a:pPr indent="0" marL="0">
              <a:buNone/>
            </a:pPr>
            <a:r>
              <a:rPr lang="en-US" sz="1300" dirty="0">
                <a:solidFill>
                  <a:schemeClr val="tx1"/>
                </a:solidFill>
              </a:rPr>
              <a:t>Turnaround time · field-level extraction accuracy · underwriter hours saved · discrepancy detection rate · override rate</a:t>
            </a:r>
            <a:endParaRPr lang="en-US" sz="1300" dirty="0"/>
          </a:p>
        </p:txBody>
      </p:sp>
      <p:sp>
        <p:nvSpPr>
          <p:cNvPr id="13" name="Text 10"/>
          <p:cNvSpPr txBox="1"/>
          <p:nvPr/>
        </p:nvSpPr>
        <p:spPr>
          <a:xfrm>
            <a:off x="6492240" y="1371600"/>
            <a:ext cx="5120640" cy="320040"/>
          </a:xfrm>
          <a:prstGeom prst="rect">
            <a:avLst/>
          </a:prstGeom>
          <a:noFill/>
          <a:ln/>
        </p:spPr>
        <p:txBody>
          <a:bodyPr wrap="square" lIns="0" tIns="0" rIns="0" bIns="0" rtlCol="0" anchor="t"/>
          <a:lstStyle/>
          <a:p>
            <a:pPr indent="0" marL="0">
              <a:buNone/>
            </a:pPr>
            <a:r>
              <a:rPr lang="en-US" sz="1500" b="1" dirty="0">
                <a:solidFill>
                  <a:schemeClr val="tx2"/>
                </a:solidFill>
              </a:rPr>
              <a:t>5W1H at a glance</a:t>
            </a:r>
            <a:endParaRPr lang="en-US" sz="1500" dirty="0"/>
          </a:p>
        </p:txBody>
      </p:sp>
      <p:sp>
        <p:nvSpPr>
          <p:cNvPr id="14" name="Text 11"/>
          <p:cNvSpPr txBox="1"/>
          <p:nvPr/>
        </p:nvSpPr>
        <p:spPr>
          <a:xfrm>
            <a:off x="6492240" y="18562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What</a:t>
            </a:r>
            <a:endParaRPr lang="en-US" sz="1200" dirty="0"/>
          </a:p>
        </p:txBody>
      </p:sp>
      <p:sp>
        <p:nvSpPr>
          <p:cNvPr id="15" name="Text 12"/>
          <p:cNvSpPr txBox="1"/>
          <p:nvPr/>
        </p:nvSpPr>
        <p:spPr>
          <a:xfrm>
            <a:off x="7543800" y="1783080"/>
            <a:ext cx="4069080" cy="621792"/>
          </a:xfrm>
          <a:prstGeom prst="rect">
            <a:avLst/>
          </a:prstGeom>
          <a:noFill/>
          <a:ln/>
        </p:spPr>
        <p:txBody>
          <a:bodyPr wrap="square" lIns="0" tIns="0" rIns="0" bIns="0" rtlCol="0" anchor="ctr"/>
          <a:lstStyle/>
          <a:p>
            <a:pPr indent="0" marL="0">
              <a:buNone/>
            </a:pPr>
            <a:r>
              <a:rPr lang="en-US" sz="1200" dirty="0">
                <a:solidFill>
                  <a:schemeClr val="tx1"/>
                </a:solidFill>
              </a:rPr>
              <a:t>Document understanding + credit memo drafting for loan files</a:t>
            </a:r>
            <a:endParaRPr lang="en-US" sz="1200" dirty="0"/>
          </a:p>
        </p:txBody>
      </p:sp>
      <p:sp>
        <p:nvSpPr>
          <p:cNvPr id="16" name="Text 13"/>
          <p:cNvSpPr txBox="1"/>
          <p:nvPr/>
        </p:nvSpPr>
        <p:spPr>
          <a:xfrm>
            <a:off x="6492240" y="258775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Why</a:t>
            </a:r>
            <a:endParaRPr lang="en-US" sz="1200" dirty="0"/>
          </a:p>
        </p:txBody>
      </p:sp>
      <p:sp>
        <p:nvSpPr>
          <p:cNvPr id="17" name="Text 14"/>
          <p:cNvSpPr txBox="1"/>
          <p:nvPr/>
        </p:nvSpPr>
        <p:spPr>
          <a:xfrm>
            <a:off x="7543800" y="2514600"/>
            <a:ext cx="4069080" cy="621792"/>
          </a:xfrm>
          <a:prstGeom prst="rect">
            <a:avLst/>
          </a:prstGeom>
          <a:noFill/>
          <a:ln/>
        </p:spPr>
        <p:txBody>
          <a:bodyPr wrap="square" lIns="0" tIns="0" rIns="0" bIns="0" rtlCol="0" anchor="ctr"/>
          <a:lstStyle/>
          <a:p>
            <a:pPr indent="0" marL="0">
              <a:buNone/>
            </a:pPr>
            <a:r>
              <a:rPr lang="en-US" sz="1200" dirty="0">
                <a:solidFill>
                  <a:schemeClr val="tx1"/>
                </a:solidFill>
              </a:rPr>
              <a:t>Faster TAT, fewer manual errors, consistent and complete memos</a:t>
            </a:r>
            <a:endParaRPr lang="en-US" sz="1200" dirty="0"/>
          </a:p>
        </p:txBody>
      </p:sp>
      <p:sp>
        <p:nvSpPr>
          <p:cNvPr id="18" name="Text 15"/>
          <p:cNvSpPr txBox="1"/>
          <p:nvPr/>
        </p:nvSpPr>
        <p:spPr>
          <a:xfrm>
            <a:off x="6492240" y="331927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Who</a:t>
            </a:r>
            <a:endParaRPr lang="en-US" sz="1200" dirty="0"/>
          </a:p>
        </p:txBody>
      </p:sp>
      <p:sp>
        <p:nvSpPr>
          <p:cNvPr id="19" name="Text 16"/>
          <p:cNvSpPr txBox="1"/>
          <p:nvPr/>
        </p:nvSpPr>
        <p:spPr>
          <a:xfrm>
            <a:off x="7543800" y="3246120"/>
            <a:ext cx="4069080" cy="621792"/>
          </a:xfrm>
          <a:prstGeom prst="rect">
            <a:avLst/>
          </a:prstGeom>
          <a:noFill/>
          <a:ln/>
        </p:spPr>
        <p:txBody>
          <a:bodyPr wrap="square" lIns="0" tIns="0" rIns="0" bIns="0" rtlCol="0" anchor="ctr"/>
          <a:lstStyle/>
          <a:p>
            <a:pPr indent="0" marL="0">
              <a:buNone/>
            </a:pPr>
            <a:r>
              <a:rPr lang="en-US" sz="1200" dirty="0">
                <a:solidFill>
                  <a:schemeClr val="tx1"/>
                </a:solidFill>
              </a:rPr>
              <a:t>Underwriters, credit risk, sales / RMs; borrowers benefit indirectly</a:t>
            </a:r>
            <a:endParaRPr lang="en-US" sz="1200" dirty="0"/>
          </a:p>
        </p:txBody>
      </p:sp>
      <p:sp>
        <p:nvSpPr>
          <p:cNvPr id="20" name="Text 17"/>
          <p:cNvSpPr txBox="1"/>
          <p:nvPr/>
        </p:nvSpPr>
        <p:spPr>
          <a:xfrm>
            <a:off x="6492240" y="405079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Where</a:t>
            </a:r>
            <a:endParaRPr lang="en-US" sz="1200" dirty="0"/>
          </a:p>
        </p:txBody>
      </p:sp>
      <p:sp>
        <p:nvSpPr>
          <p:cNvPr id="21" name="Text 18"/>
          <p:cNvSpPr txBox="1"/>
          <p:nvPr/>
        </p:nvSpPr>
        <p:spPr>
          <a:xfrm>
            <a:off x="7543800" y="3977640"/>
            <a:ext cx="4069080" cy="621792"/>
          </a:xfrm>
          <a:prstGeom prst="rect">
            <a:avLst/>
          </a:prstGeom>
          <a:noFill/>
          <a:ln/>
        </p:spPr>
        <p:txBody>
          <a:bodyPr wrap="square" lIns="0" tIns="0" rIns="0" bIns="0" rtlCol="0" anchor="ctr"/>
          <a:lstStyle/>
          <a:p>
            <a:pPr indent="0" marL="0">
              <a:buNone/>
            </a:pPr>
            <a:r>
              <a:rPr lang="en-US" sz="1200" dirty="0">
                <a:solidFill>
                  <a:schemeClr val="tx1"/>
                </a:solidFill>
              </a:rPr>
              <a:t>Loan origination system (LOS) for retail and MSME lending</a:t>
            </a:r>
            <a:endParaRPr lang="en-US" sz="1200" dirty="0"/>
          </a:p>
        </p:txBody>
      </p:sp>
      <p:sp>
        <p:nvSpPr>
          <p:cNvPr id="22" name="Text 19"/>
          <p:cNvSpPr txBox="1"/>
          <p:nvPr/>
        </p:nvSpPr>
        <p:spPr>
          <a:xfrm>
            <a:off x="6492240" y="478231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When</a:t>
            </a:r>
            <a:endParaRPr lang="en-US" sz="1200" dirty="0"/>
          </a:p>
        </p:txBody>
      </p:sp>
      <p:sp>
        <p:nvSpPr>
          <p:cNvPr id="23" name="Text 20"/>
          <p:cNvSpPr txBox="1"/>
          <p:nvPr/>
        </p:nvSpPr>
        <p:spPr>
          <a:xfrm>
            <a:off x="7543800" y="4709160"/>
            <a:ext cx="4069080" cy="621792"/>
          </a:xfrm>
          <a:prstGeom prst="rect">
            <a:avLst/>
          </a:prstGeom>
          <a:noFill/>
          <a:ln/>
        </p:spPr>
        <p:txBody>
          <a:bodyPr wrap="square" lIns="0" tIns="0" rIns="0" bIns="0" rtlCol="0" anchor="ctr"/>
          <a:lstStyle/>
          <a:p>
            <a:pPr indent="0" marL="0">
              <a:buNone/>
            </a:pPr>
            <a:r>
              <a:rPr lang="en-US" sz="1200" dirty="0">
                <a:solidFill>
                  <a:schemeClr val="tx1"/>
                </a:solidFill>
              </a:rPr>
              <a:t>After document collection, before sanction / credit committee</a:t>
            </a:r>
            <a:endParaRPr lang="en-US" sz="1200" dirty="0"/>
          </a:p>
        </p:txBody>
      </p:sp>
      <p:sp>
        <p:nvSpPr>
          <p:cNvPr id="24" name="Text 21"/>
          <p:cNvSpPr txBox="1"/>
          <p:nvPr/>
        </p:nvSpPr>
        <p:spPr>
          <a:xfrm>
            <a:off x="6492240" y="55138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How</a:t>
            </a:r>
            <a:endParaRPr lang="en-US" sz="1200" dirty="0"/>
          </a:p>
        </p:txBody>
      </p:sp>
      <p:sp>
        <p:nvSpPr>
          <p:cNvPr id="25" name="Text 22"/>
          <p:cNvSpPr txBox="1"/>
          <p:nvPr/>
        </p:nvSpPr>
        <p:spPr>
          <a:xfrm>
            <a:off x="7543800" y="5440680"/>
            <a:ext cx="4069080" cy="621792"/>
          </a:xfrm>
          <a:prstGeom prst="rect">
            <a:avLst/>
          </a:prstGeom>
          <a:noFill/>
          <a:ln/>
        </p:spPr>
        <p:txBody>
          <a:bodyPr wrap="square" lIns="0" tIns="0" rIns="0" bIns="0" rtlCol="0" anchor="ctr"/>
          <a:lstStyle/>
          <a:p>
            <a:pPr indent="0" marL="0">
              <a:buNone/>
            </a:pPr>
            <a:r>
              <a:rPr lang="en-US" sz="1200" dirty="0">
                <a:solidFill>
                  <a:schemeClr val="tx1"/>
                </a:solidFill>
              </a:rPr>
              <a:t>OCR + multimodal LLM → JSON + rules &amp; bureau checks + ML score + memo + human approval</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2: Architecture Flow</a:t>
            </a:r>
            <a:endParaRPr lang="en-US" sz="3200" dirty="0"/>
          </a:p>
        </p:txBody>
      </p:sp>
      <p:sp>
        <p:nvSpPr>
          <p:cNvPr id="4" name="Text 1"/>
          <p:cNvSpPr txBox="1"/>
          <p:nvPr/>
        </p:nvSpPr>
        <p:spPr>
          <a:xfrm>
            <a:off x="548640" y="2624328"/>
            <a:ext cx="3657600" cy="274320"/>
          </a:xfrm>
          <a:prstGeom prst="rect">
            <a:avLst/>
          </a:prstGeom>
          <a:noFill/>
          <a:ln/>
        </p:spPr>
        <p:txBody>
          <a:bodyPr wrap="square" lIns="0" tIns="0" rIns="0" bIns="0" rtlCol="0" anchor="t"/>
          <a:lstStyle/>
          <a:p>
            <a:pPr indent="0" marL="0">
              <a:buNone/>
            </a:pPr>
            <a:r>
              <a:rPr lang="en-US" sz="1100" b="1" dirty="0">
                <a:solidFill>
                  <a:schemeClr val="accent5"/>
                </a:solidFill>
              </a:rPr>
              <a:t>Loan file processing flow</a:t>
            </a:r>
            <a:endParaRPr lang="en-US" sz="1100" dirty="0"/>
          </a:p>
        </p:txBody>
      </p:sp>
      <p:sp>
        <p:nvSpPr>
          <p:cNvPr id="5" name="Text 2"/>
          <p:cNvSpPr txBox="1"/>
          <p:nvPr/>
        </p:nvSpPr>
        <p:spPr>
          <a:xfrm>
            <a:off x="548640" y="2971800"/>
            <a:ext cx="1183005"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Applicant documents</a:t>
            </a:r>
            <a:endParaRPr lang="en-US" sz="1100" dirty="0"/>
          </a:p>
          <a:p>
            <a:pPr algn="ctr" indent="0" marL="0">
              <a:buNone/>
            </a:pPr>
            <a:r>
              <a:rPr lang="en-US" sz="1100" dirty="0">
                <a:solidFill>
                  <a:schemeClr val="bg1"/>
                </a:solidFill>
              </a:rPr>
              <a:t>KYC · ITR · statements · GST</a:t>
            </a:r>
            <a:endParaRPr lang="en-US" sz="1100" dirty="0"/>
          </a:p>
        </p:txBody>
      </p:sp>
      <p:sp>
        <p:nvSpPr>
          <p:cNvPr id="6" name="Shape 3"/>
          <p:cNvSpPr/>
          <p:nvPr/>
        </p:nvSpPr>
        <p:spPr>
          <a:xfrm>
            <a:off x="1731645" y="3497580"/>
            <a:ext cx="228600" cy="0"/>
          </a:xfrm>
          <a:prstGeom prst="line">
            <a:avLst/>
          </a:prstGeom>
          <a:noFill/>
          <a:ln w="19050">
            <a:solidFill>
              <a:schemeClr val="accent5"/>
            </a:solidFill>
            <a:prstDash val="solid"/>
            <a:tailEnd type="triangle"/>
          </a:ln>
        </p:spPr>
      </p:sp>
      <p:sp>
        <p:nvSpPr>
          <p:cNvPr id="7" name="Text 4"/>
          <p:cNvSpPr txBox="1"/>
          <p:nvPr/>
        </p:nvSpPr>
        <p:spPr>
          <a:xfrm>
            <a:off x="1960245" y="2971800"/>
            <a:ext cx="1183005"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OCR / Doc AI</a:t>
            </a:r>
            <a:endParaRPr lang="en-US" sz="1100" dirty="0"/>
          </a:p>
          <a:p>
            <a:pPr algn="ctr" indent="0" marL="0">
              <a:buNone/>
            </a:pPr>
            <a:r>
              <a:rPr lang="en-US" sz="1100" dirty="0">
                <a:solidFill>
                  <a:schemeClr val="bg1"/>
                </a:solidFill>
              </a:rPr>
              <a:t>layout · tables</a:t>
            </a:r>
            <a:endParaRPr lang="en-US" sz="1100" dirty="0"/>
          </a:p>
        </p:txBody>
      </p:sp>
      <p:sp>
        <p:nvSpPr>
          <p:cNvPr id="8" name="Shape 5"/>
          <p:cNvSpPr/>
          <p:nvPr/>
        </p:nvSpPr>
        <p:spPr>
          <a:xfrm>
            <a:off x="3143250" y="3497580"/>
            <a:ext cx="228600" cy="0"/>
          </a:xfrm>
          <a:prstGeom prst="line">
            <a:avLst/>
          </a:prstGeom>
          <a:noFill/>
          <a:ln w="19050">
            <a:solidFill>
              <a:schemeClr val="accent5"/>
            </a:solidFill>
            <a:prstDash val="solid"/>
            <a:tailEnd type="triangle"/>
          </a:ln>
        </p:spPr>
      </p:sp>
      <p:sp>
        <p:nvSpPr>
          <p:cNvPr id="9" name="Text 6"/>
          <p:cNvSpPr txBox="1"/>
          <p:nvPr/>
        </p:nvSpPr>
        <p:spPr>
          <a:xfrm>
            <a:off x="3371850" y="2971800"/>
            <a:ext cx="1183005"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LLM extraction</a:t>
            </a:r>
            <a:endParaRPr lang="en-US" sz="1100" dirty="0"/>
          </a:p>
          <a:p>
            <a:pPr algn="ctr" indent="0" marL="0">
              <a:buNone/>
            </a:pPr>
            <a:r>
              <a:rPr lang="en-US" sz="1100" dirty="0">
                <a:solidFill>
                  <a:schemeClr val="bg1"/>
                </a:solidFill>
              </a:rPr>
              <a:t>JSON schema + confidence</a:t>
            </a:r>
            <a:endParaRPr lang="en-US" sz="1100" dirty="0"/>
          </a:p>
        </p:txBody>
      </p:sp>
      <p:sp>
        <p:nvSpPr>
          <p:cNvPr id="10" name="Shape 7"/>
          <p:cNvSpPr/>
          <p:nvPr/>
        </p:nvSpPr>
        <p:spPr>
          <a:xfrm>
            <a:off x="4554855" y="3497580"/>
            <a:ext cx="228600" cy="0"/>
          </a:xfrm>
          <a:prstGeom prst="line">
            <a:avLst/>
          </a:prstGeom>
          <a:noFill/>
          <a:ln w="19050">
            <a:solidFill>
              <a:schemeClr val="accent5"/>
            </a:solidFill>
            <a:prstDash val="solid"/>
            <a:tailEnd type="triangle"/>
          </a:ln>
        </p:spPr>
      </p:sp>
      <p:sp>
        <p:nvSpPr>
          <p:cNvPr id="11" name="Text 8"/>
          <p:cNvSpPr txBox="1"/>
          <p:nvPr/>
        </p:nvSpPr>
        <p:spPr>
          <a:xfrm>
            <a:off x="4783455" y="2971800"/>
            <a:ext cx="1183005" cy="1051560"/>
          </a:xfrm>
          <a:prstGeom prst="roundRect">
            <a:avLst>
              <a:gd name="adj" fmla="val 6957"/>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100" b="1" dirty="0">
                <a:solidFill>
                  <a:schemeClr val="bg1"/>
                </a:solidFill>
              </a:rPr>
              <a:t>Validation</a:t>
            </a:r>
            <a:endParaRPr lang="en-US" sz="1100" dirty="0"/>
          </a:p>
          <a:p>
            <a:pPr algn="ctr" indent="0" marL="0">
              <a:buNone/>
            </a:pPr>
            <a:r>
              <a:rPr lang="en-US" sz="1100" dirty="0">
                <a:solidFill>
                  <a:schemeClr val="bg1"/>
                </a:solidFill>
              </a:rPr>
              <a:t>rules &amp; cross-checks</a:t>
            </a:r>
            <a:endParaRPr lang="en-US" sz="1100" dirty="0"/>
          </a:p>
        </p:txBody>
      </p:sp>
      <p:sp>
        <p:nvSpPr>
          <p:cNvPr id="12" name="Shape 9"/>
          <p:cNvSpPr/>
          <p:nvPr/>
        </p:nvSpPr>
        <p:spPr>
          <a:xfrm>
            <a:off x="5966460" y="3497580"/>
            <a:ext cx="228600" cy="0"/>
          </a:xfrm>
          <a:prstGeom prst="line">
            <a:avLst/>
          </a:prstGeom>
          <a:noFill/>
          <a:ln w="19050">
            <a:solidFill>
              <a:schemeClr val="accent5"/>
            </a:solidFill>
            <a:prstDash val="solid"/>
            <a:tailEnd type="triangle"/>
          </a:ln>
        </p:spPr>
      </p:sp>
      <p:sp>
        <p:nvSpPr>
          <p:cNvPr id="13" name="Text 10"/>
          <p:cNvSpPr txBox="1"/>
          <p:nvPr/>
        </p:nvSpPr>
        <p:spPr>
          <a:xfrm>
            <a:off x="6195060" y="2971800"/>
            <a:ext cx="1183005" cy="1051560"/>
          </a:xfrm>
          <a:prstGeom prst="roundRect">
            <a:avLst>
              <a:gd name="adj" fmla="val 6957"/>
            </a:avLst>
          </a:prstGeom>
          <a:solidFill>
            <a:schemeClr val="tx2"/>
          </a:solidFill>
          <a:ln w="9525">
            <a:solidFill>
              <a:schemeClr val="tx2"/>
            </a:solidFill>
          </a:ln>
        </p:spPr>
        <p:txBody>
          <a:bodyPr wrap="square" lIns="50800" tIns="50800" rIns="50800" bIns="50800" rtlCol="0" anchor="ctr"/>
          <a:lstStyle/>
          <a:p>
            <a:pPr algn="ctr" indent="0" marL="0">
              <a:buNone/>
            </a:pPr>
            <a:r>
              <a:rPr lang="en-US" sz="1100" b="1" dirty="0">
                <a:solidFill>
                  <a:schemeClr val="bg1"/>
                </a:solidFill>
              </a:rPr>
              <a:t>Credit scorecard</a:t>
            </a:r>
            <a:endParaRPr lang="en-US" sz="1100" dirty="0"/>
          </a:p>
          <a:p>
            <a:pPr algn="ctr" indent="0" marL="0">
              <a:buNone/>
            </a:pPr>
            <a:r>
              <a:rPr lang="en-US" sz="1100" dirty="0">
                <a:solidFill>
                  <a:schemeClr val="bg1"/>
                </a:solidFill>
              </a:rPr>
              <a:t>explainable ML</a:t>
            </a:r>
            <a:endParaRPr lang="en-US" sz="1100" dirty="0"/>
          </a:p>
        </p:txBody>
      </p:sp>
      <p:sp>
        <p:nvSpPr>
          <p:cNvPr id="14" name="Shape 11"/>
          <p:cNvSpPr/>
          <p:nvPr/>
        </p:nvSpPr>
        <p:spPr>
          <a:xfrm>
            <a:off x="7378065" y="3497580"/>
            <a:ext cx="228600" cy="0"/>
          </a:xfrm>
          <a:prstGeom prst="line">
            <a:avLst/>
          </a:prstGeom>
          <a:noFill/>
          <a:ln w="19050">
            <a:solidFill>
              <a:schemeClr val="accent5"/>
            </a:solidFill>
            <a:prstDash val="solid"/>
            <a:tailEnd type="triangle"/>
          </a:ln>
        </p:spPr>
      </p:sp>
      <p:sp>
        <p:nvSpPr>
          <p:cNvPr id="15" name="Text 12"/>
          <p:cNvSpPr txBox="1"/>
          <p:nvPr/>
        </p:nvSpPr>
        <p:spPr>
          <a:xfrm>
            <a:off x="7606665" y="2971800"/>
            <a:ext cx="1183005"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LLM memo drafter</a:t>
            </a:r>
            <a:endParaRPr lang="en-US" sz="1100" dirty="0"/>
          </a:p>
          <a:p>
            <a:pPr algn="ctr" indent="0" marL="0">
              <a:buNone/>
            </a:pPr>
            <a:r>
              <a:rPr lang="en-US" sz="1100" dirty="0">
                <a:solidFill>
                  <a:schemeClr val="bg1"/>
                </a:solidFill>
              </a:rPr>
              <a:t>RAG on credit policy</a:t>
            </a:r>
            <a:endParaRPr lang="en-US" sz="1100" dirty="0"/>
          </a:p>
        </p:txBody>
      </p:sp>
      <p:sp>
        <p:nvSpPr>
          <p:cNvPr id="16" name="Shape 13"/>
          <p:cNvSpPr/>
          <p:nvPr/>
        </p:nvSpPr>
        <p:spPr>
          <a:xfrm>
            <a:off x="8789670" y="3497580"/>
            <a:ext cx="228600" cy="0"/>
          </a:xfrm>
          <a:prstGeom prst="line">
            <a:avLst/>
          </a:prstGeom>
          <a:noFill/>
          <a:ln w="19050">
            <a:solidFill>
              <a:schemeClr val="accent5"/>
            </a:solidFill>
            <a:prstDash val="solid"/>
            <a:tailEnd type="triangle"/>
          </a:ln>
        </p:spPr>
      </p:sp>
      <p:sp>
        <p:nvSpPr>
          <p:cNvPr id="17" name="Text 14"/>
          <p:cNvSpPr txBox="1"/>
          <p:nvPr/>
        </p:nvSpPr>
        <p:spPr>
          <a:xfrm>
            <a:off x="9018270" y="2971800"/>
            <a:ext cx="1183005" cy="1051560"/>
          </a:xfrm>
          <a:prstGeom prst="roundRect">
            <a:avLst>
              <a:gd name="adj" fmla="val 6957"/>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100" b="1" dirty="0">
                <a:solidFill>
                  <a:schemeClr val="tx1"/>
                </a:solidFill>
              </a:rPr>
              <a:t>Underwriter review</a:t>
            </a:r>
            <a:endParaRPr lang="en-US" sz="1100" dirty="0"/>
          </a:p>
          <a:p>
            <a:pPr algn="ctr" indent="0" marL="0">
              <a:buNone/>
            </a:pPr>
            <a:r>
              <a:rPr lang="en-US" sz="1100" dirty="0">
                <a:solidFill>
                  <a:schemeClr val="tx1"/>
                </a:solidFill>
              </a:rPr>
              <a:t>edit · approve · override</a:t>
            </a:r>
            <a:endParaRPr lang="en-US" sz="1100" dirty="0"/>
          </a:p>
        </p:txBody>
      </p:sp>
      <p:sp>
        <p:nvSpPr>
          <p:cNvPr id="18" name="Shape 15"/>
          <p:cNvSpPr/>
          <p:nvPr/>
        </p:nvSpPr>
        <p:spPr>
          <a:xfrm>
            <a:off x="10201275" y="3497580"/>
            <a:ext cx="228600" cy="0"/>
          </a:xfrm>
          <a:prstGeom prst="line">
            <a:avLst/>
          </a:prstGeom>
          <a:noFill/>
          <a:ln w="19050">
            <a:solidFill>
              <a:schemeClr val="accent5"/>
            </a:solidFill>
            <a:prstDash val="solid"/>
            <a:tailEnd type="triangle"/>
          </a:ln>
        </p:spPr>
      </p:sp>
      <p:sp>
        <p:nvSpPr>
          <p:cNvPr id="19" name="Text 16"/>
          <p:cNvSpPr txBox="1"/>
          <p:nvPr/>
        </p:nvSpPr>
        <p:spPr>
          <a:xfrm>
            <a:off x="10429875" y="2971800"/>
            <a:ext cx="1183005"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LOS decision</a:t>
            </a:r>
            <a:endParaRPr lang="en-US" sz="1100" dirty="0"/>
          </a:p>
          <a:p>
            <a:pPr algn="ctr" indent="0" marL="0">
              <a:buNone/>
            </a:pPr>
            <a:r>
              <a:rPr lang="en-US" sz="1100" dirty="0">
                <a:solidFill>
                  <a:schemeClr val="bg1"/>
                </a:solidFill>
              </a:rPr>
              <a:t>&amp; sanction letter</a:t>
            </a:r>
            <a:endParaRPr lang="en-US" sz="1100" dirty="0"/>
          </a:p>
        </p:txBody>
      </p:sp>
      <p:sp>
        <p:nvSpPr>
          <p:cNvPr id="20" name="Text 17"/>
          <p:cNvSpPr txBox="1"/>
          <p:nvPr/>
        </p:nvSpPr>
        <p:spPr>
          <a:xfrm>
            <a:off x="4231957" y="1371600"/>
            <a:ext cx="2286000" cy="777240"/>
          </a:xfrm>
          <a:prstGeom prst="roundRect">
            <a:avLst>
              <a:gd name="adj" fmla="val 9412"/>
            </a:avLst>
          </a:prstGeom>
          <a:solidFill>
            <a:schemeClr val="accent5">
              <a:alpha val="14000"/>
            </a:schemeClr>
          </a:solidFill>
          <a:ln w="9525">
            <a:solidFill>
              <a:schemeClr val="accent5"/>
            </a:solidFill>
          </a:ln>
        </p:spPr>
        <p:txBody>
          <a:bodyPr wrap="square" lIns="50800" tIns="50800" rIns="50800" bIns="50800" rtlCol="0" anchor="ctr"/>
          <a:lstStyle/>
          <a:p>
            <a:pPr algn="ctr" indent="0" marL="0">
              <a:buNone/>
            </a:pPr>
            <a:r>
              <a:rPr lang="en-US" sz="1100" dirty="0">
                <a:solidFill>
                  <a:schemeClr val="tx1"/>
                </a:solidFill>
              </a:rPr>
              <a:t>Credit bureau (CIBIL) &amp; Account Aggregator data</a:t>
            </a:r>
            <a:endParaRPr lang="en-US" sz="1100" dirty="0"/>
          </a:p>
        </p:txBody>
      </p:sp>
      <p:sp>
        <p:nvSpPr>
          <p:cNvPr id="21" name="Shape 18"/>
          <p:cNvSpPr/>
          <p:nvPr/>
        </p:nvSpPr>
        <p:spPr>
          <a:xfrm>
            <a:off x="5374957" y="2148840"/>
            <a:ext cx="0" cy="822960"/>
          </a:xfrm>
          <a:prstGeom prst="line">
            <a:avLst/>
          </a:prstGeom>
          <a:noFill/>
          <a:ln w="19050">
            <a:solidFill>
              <a:schemeClr val="accent5"/>
            </a:solidFill>
            <a:prstDash val="solid"/>
            <a:tailEnd type="triangle"/>
          </a:ln>
        </p:spPr>
      </p:sp>
      <p:sp>
        <p:nvSpPr>
          <p:cNvPr id="22" name="Text 19"/>
          <p:cNvSpPr txBox="1"/>
          <p:nvPr/>
        </p:nvSpPr>
        <p:spPr>
          <a:xfrm>
            <a:off x="6872287" y="1371600"/>
            <a:ext cx="2651760" cy="777240"/>
          </a:xfrm>
          <a:prstGeom prst="roundRect">
            <a:avLst>
              <a:gd name="adj" fmla="val 9412"/>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100" dirty="0">
                <a:solidFill>
                  <a:schemeClr val="tx1"/>
                </a:solidFill>
              </a:rPr>
              <a:t>Credit policy, product rules &amp; past approved memos (vector DB)</a:t>
            </a:r>
            <a:endParaRPr lang="en-US" sz="1100" dirty="0"/>
          </a:p>
        </p:txBody>
      </p:sp>
      <p:sp>
        <p:nvSpPr>
          <p:cNvPr id="23" name="Shape 20"/>
          <p:cNvSpPr/>
          <p:nvPr/>
        </p:nvSpPr>
        <p:spPr>
          <a:xfrm>
            <a:off x="8198167" y="2148840"/>
            <a:ext cx="0" cy="822960"/>
          </a:xfrm>
          <a:prstGeom prst="line">
            <a:avLst/>
          </a:prstGeom>
          <a:noFill/>
          <a:ln w="19050">
            <a:solidFill>
              <a:schemeClr val="accent3"/>
            </a:solidFill>
            <a:prstDash val="solid"/>
            <a:tailEnd type="triangle"/>
          </a:ln>
        </p:spPr>
      </p:sp>
      <p:sp>
        <p:nvSpPr>
          <p:cNvPr id="24" name="Text 21"/>
          <p:cNvSpPr txBox="1"/>
          <p:nvPr/>
        </p:nvSpPr>
        <p:spPr>
          <a:xfrm>
            <a:off x="2683192" y="4526280"/>
            <a:ext cx="2560320" cy="731520"/>
          </a:xfrm>
          <a:prstGeom prst="roundRect">
            <a:avLst>
              <a:gd name="adj" fmla="val 10000"/>
            </a:avLst>
          </a:prstGeom>
          <a:solidFill>
            <a:schemeClr val="accent4">
              <a:alpha val="14000"/>
            </a:schemeClr>
          </a:solidFill>
          <a:ln w="9525">
            <a:solidFill>
              <a:schemeClr val="accent4"/>
            </a:solidFill>
          </a:ln>
        </p:spPr>
        <p:txBody>
          <a:bodyPr wrap="square" lIns="50800" tIns="50800" rIns="50800" bIns="50800" rtlCol="0" anchor="ctr"/>
          <a:lstStyle/>
          <a:p>
            <a:pPr algn="ctr" indent="0" marL="0">
              <a:buNone/>
            </a:pPr>
            <a:r>
              <a:rPr lang="en-US" sz="1100" dirty="0">
                <a:solidFill>
                  <a:schemeClr val="tx1"/>
                </a:solidFill>
              </a:rPr>
              <a:t>Low-confidence fields → human data-entry queue</a:t>
            </a:r>
            <a:endParaRPr lang="en-US" sz="1100" dirty="0"/>
          </a:p>
        </p:txBody>
      </p:sp>
      <p:sp>
        <p:nvSpPr>
          <p:cNvPr id="25" name="Shape 22"/>
          <p:cNvSpPr/>
          <p:nvPr/>
        </p:nvSpPr>
        <p:spPr>
          <a:xfrm>
            <a:off x="3963352" y="4023360"/>
            <a:ext cx="0" cy="502920"/>
          </a:xfrm>
          <a:prstGeom prst="line">
            <a:avLst/>
          </a:prstGeom>
          <a:noFill/>
          <a:ln w="19050">
            <a:solidFill>
              <a:schemeClr val="accent4"/>
            </a:solidFill>
            <a:prstDash val="solid"/>
            <a:tailEnd type="triangle"/>
          </a:ln>
        </p:spPr>
      </p:sp>
      <p:sp>
        <p:nvSpPr>
          <p:cNvPr id="26" name="Text 23"/>
          <p:cNvSpPr txBox="1"/>
          <p:nvPr/>
        </p:nvSpPr>
        <p:spPr>
          <a:xfrm>
            <a:off x="8283892" y="4526280"/>
            <a:ext cx="2651760" cy="731520"/>
          </a:xfrm>
          <a:prstGeom prst="roundRect">
            <a:avLst>
              <a:gd name="adj" fmla="val 10000"/>
            </a:avLst>
          </a:prstGeom>
          <a:solidFill>
            <a:schemeClr val="accent5">
              <a:alpha val="14000"/>
            </a:schemeClr>
          </a:solidFill>
          <a:ln w="9525">
            <a:solidFill>
              <a:schemeClr val="accent5"/>
            </a:solidFill>
          </a:ln>
        </p:spPr>
        <p:txBody>
          <a:bodyPr wrap="square" lIns="50800" tIns="50800" rIns="50800" bIns="50800" rtlCol="0" anchor="ctr"/>
          <a:lstStyle/>
          <a:p>
            <a:pPr algn="ctr" indent="0" marL="0">
              <a:buNone/>
            </a:pPr>
            <a:r>
              <a:rPr lang="en-US" sz="1100" dirty="0">
                <a:solidFill>
                  <a:schemeClr val="tx1"/>
                </a:solidFill>
              </a:rPr>
              <a:t>Underwriter edits → feedback for prompts &amp; evals</a:t>
            </a:r>
            <a:endParaRPr lang="en-US" sz="1100" dirty="0"/>
          </a:p>
        </p:txBody>
      </p:sp>
      <p:sp>
        <p:nvSpPr>
          <p:cNvPr id="27" name="Shape 24"/>
          <p:cNvSpPr/>
          <p:nvPr/>
        </p:nvSpPr>
        <p:spPr>
          <a:xfrm flipV="1">
            <a:off x="9609772" y="4023360"/>
            <a:ext cx="0" cy="502920"/>
          </a:xfrm>
          <a:prstGeom prst="line">
            <a:avLst/>
          </a:prstGeom>
          <a:noFill/>
          <a:ln w="19050">
            <a:solidFill>
              <a:schemeClr val="accent5"/>
            </a:solidFill>
            <a:prstDash val="solid"/>
            <a:tailEnd type="triangle"/>
          </a:ln>
        </p:spPr>
      </p:sp>
      <p:sp>
        <p:nvSpPr>
          <p:cNvPr id="28" name="Shape 25"/>
          <p:cNvSpPr/>
          <p:nvPr/>
        </p:nvSpPr>
        <p:spPr>
          <a:xfrm>
            <a:off x="548640" y="5486400"/>
            <a:ext cx="11064240" cy="731520"/>
          </a:xfrm>
          <a:prstGeom prst="roundRect">
            <a:avLst>
              <a:gd name="adj" fmla="val 12500"/>
            </a:avLst>
          </a:prstGeom>
          <a:solidFill>
            <a:schemeClr val="tx2"/>
          </a:solidFill>
          <a:ln w="9525">
            <a:solidFill>
              <a:schemeClr val="tx2"/>
            </a:solidFill>
            <a:prstDash val="solid"/>
          </a:ln>
        </p:spPr>
      </p:sp>
      <p:sp>
        <p:nvSpPr>
          <p:cNvPr id="29" name="Text 26"/>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200" b="1" dirty="0">
                <a:solidFill>
                  <a:schemeClr val="accent2"/>
                </a:solidFill>
              </a:rPr>
              <a:t>Governance layer:  </a:t>
            </a:r>
            <a:pPr indent="0" marL="0">
              <a:buNone/>
            </a:pPr>
            <a:r>
              <a:rPr lang="en-US" sz="1200" dirty="0">
                <a:solidFill>
                  <a:schemeClr val="bg1"/>
                </a:solidFill>
              </a:rPr>
              <a:t>every field linked to its source page · model risk validation · fairness tests · DPDP-compliant retention · immutable decision audit trail</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2: Implementation Workflow</a:t>
            </a:r>
            <a:endParaRPr lang="en-US" sz="3200" dirty="0"/>
          </a:p>
        </p:txBody>
      </p:sp>
      <p:sp>
        <p:nvSpPr>
          <p:cNvPr id="4" name="Shape 1"/>
          <p:cNvSpPr/>
          <p:nvPr/>
        </p:nvSpPr>
        <p:spPr>
          <a:xfrm>
            <a:off x="1280160" y="1783080"/>
            <a:ext cx="9601200" cy="0"/>
          </a:xfrm>
          <a:prstGeom prst="line">
            <a:avLst/>
          </a:prstGeom>
          <a:noFill/>
          <a:ln w="25400">
            <a:solidFill>
              <a:schemeClr val="accent5"/>
            </a:solidFill>
            <a:prstDash val="solid"/>
          </a:ln>
        </p:spPr>
      </p:sp>
      <p:sp>
        <p:nvSpPr>
          <p:cNvPr id="5" name="Text 2"/>
          <p:cNvSpPr txBox="1"/>
          <p:nvPr/>
        </p:nvSpPr>
        <p:spPr>
          <a:xfrm>
            <a:off x="1005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48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Scope</a:t>
            </a:r>
            <a:endParaRPr lang="en-US" sz="1400" dirty="0"/>
          </a:p>
        </p:txBody>
      </p:sp>
      <p:sp>
        <p:nvSpPr>
          <p:cNvPr id="7" name="Text 4"/>
          <p:cNvSpPr txBox="1"/>
          <p:nvPr/>
        </p:nvSpPr>
        <p:spPr>
          <a:xfrm>
            <a:off x="548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Pick one product (e.g., personal or MSME loans); map document types and target fields.</a:t>
            </a:r>
            <a:endParaRPr lang="en-US" sz="1300" dirty="0"/>
          </a:p>
        </p:txBody>
      </p:sp>
      <p:sp>
        <p:nvSpPr>
          <p:cNvPr id="8" name="Text 5"/>
          <p:cNvSpPr txBox="1"/>
          <p:nvPr/>
        </p:nvSpPr>
        <p:spPr>
          <a:xfrm>
            <a:off x="26060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2148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Data &amp; labels</a:t>
            </a:r>
            <a:endParaRPr lang="en-US" sz="1400" dirty="0"/>
          </a:p>
        </p:txBody>
      </p:sp>
      <p:sp>
        <p:nvSpPr>
          <p:cNvPr id="10" name="Text 7"/>
          <p:cNvSpPr txBox="1"/>
          <p:nvPr/>
        </p:nvSpPr>
        <p:spPr>
          <a:xfrm>
            <a:off x="2148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Assemble sample files; label key fields; define JSON schemas and confidence thresholds.</a:t>
            </a:r>
            <a:endParaRPr lang="en-US" sz="1300" dirty="0"/>
          </a:p>
        </p:txBody>
      </p:sp>
      <p:sp>
        <p:nvSpPr>
          <p:cNvPr id="11" name="Text 8"/>
          <p:cNvSpPr txBox="1"/>
          <p:nvPr/>
        </p:nvSpPr>
        <p:spPr>
          <a:xfrm>
            <a:off x="42062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37490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Extraction pipeline</a:t>
            </a:r>
            <a:endParaRPr lang="en-US" sz="1400" dirty="0"/>
          </a:p>
        </p:txBody>
      </p:sp>
      <p:sp>
        <p:nvSpPr>
          <p:cNvPr id="13" name="Text 10"/>
          <p:cNvSpPr txBox="1"/>
          <p:nvPr/>
        </p:nvSpPr>
        <p:spPr>
          <a:xfrm>
            <a:off x="37490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OCR + LLM extraction; rules for totals, dates, PAN / name matches; bureau &amp; AA checks.</a:t>
            </a:r>
            <a:endParaRPr lang="en-US" sz="1300" dirty="0"/>
          </a:p>
        </p:txBody>
      </p:sp>
      <p:sp>
        <p:nvSpPr>
          <p:cNvPr id="14" name="Text 11"/>
          <p:cNvSpPr txBox="1"/>
          <p:nvPr/>
        </p:nvSpPr>
        <p:spPr>
          <a:xfrm>
            <a:off x="58064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53492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Memo drafting</a:t>
            </a:r>
            <a:endParaRPr lang="en-US" sz="1400" dirty="0"/>
          </a:p>
        </p:txBody>
      </p:sp>
      <p:sp>
        <p:nvSpPr>
          <p:cNvPr id="16" name="Text 13"/>
          <p:cNvSpPr txBox="1"/>
          <p:nvPr/>
        </p:nvSpPr>
        <p:spPr>
          <a:xfrm>
            <a:off x="53492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Prompt template in the bank’s memo format; RAG on credit policy; cite source pages.</a:t>
            </a:r>
            <a:endParaRPr lang="en-US" sz="1300" dirty="0"/>
          </a:p>
        </p:txBody>
      </p:sp>
      <p:sp>
        <p:nvSpPr>
          <p:cNvPr id="17" name="Text 14"/>
          <p:cNvSpPr txBox="1"/>
          <p:nvPr/>
        </p:nvSpPr>
        <p:spPr>
          <a:xfrm>
            <a:off x="74066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69494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Validate</a:t>
            </a:r>
            <a:endParaRPr lang="en-US" sz="1400" dirty="0"/>
          </a:p>
        </p:txBody>
      </p:sp>
      <p:sp>
        <p:nvSpPr>
          <p:cNvPr id="19" name="Text 16"/>
          <p:cNvSpPr txBox="1"/>
          <p:nvPr/>
        </p:nvSpPr>
        <p:spPr>
          <a:xfrm>
            <a:off x="69494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Field accuracy vs manual baseline, fairness tests, model-risk review, policy sign-off.</a:t>
            </a:r>
            <a:endParaRPr lang="en-US" sz="1300" dirty="0"/>
          </a:p>
        </p:txBody>
      </p:sp>
      <p:sp>
        <p:nvSpPr>
          <p:cNvPr id="20" name="Text 17"/>
          <p:cNvSpPr txBox="1"/>
          <p:nvPr/>
        </p:nvSpPr>
        <p:spPr>
          <a:xfrm>
            <a:off x="9006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8549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Shadow run</a:t>
            </a:r>
            <a:endParaRPr lang="en-US" sz="1400" dirty="0"/>
          </a:p>
        </p:txBody>
      </p:sp>
      <p:sp>
        <p:nvSpPr>
          <p:cNvPr id="22" name="Text 19"/>
          <p:cNvSpPr txBox="1"/>
          <p:nvPr/>
        </p:nvSpPr>
        <p:spPr>
          <a:xfrm>
            <a:off x="8549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Run in parallel with the manual process; compare TAT, errors and overrides.</a:t>
            </a:r>
            <a:endParaRPr lang="en-US" sz="1300" dirty="0"/>
          </a:p>
        </p:txBody>
      </p:sp>
      <p:sp>
        <p:nvSpPr>
          <p:cNvPr id="23" name="Text 20"/>
          <p:cNvSpPr txBox="1"/>
          <p:nvPr/>
        </p:nvSpPr>
        <p:spPr>
          <a:xfrm>
            <a:off x="10607040" y="150876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24" name="Text 21"/>
          <p:cNvSpPr txBox="1"/>
          <p:nvPr/>
        </p:nvSpPr>
        <p:spPr>
          <a:xfrm>
            <a:off x="10149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Go live</a:t>
            </a:r>
            <a:endParaRPr lang="en-US" sz="1400" dirty="0"/>
          </a:p>
        </p:txBody>
      </p:sp>
      <p:sp>
        <p:nvSpPr>
          <p:cNvPr id="25" name="Text 22"/>
          <p:cNvSpPr txBox="1"/>
          <p:nvPr/>
        </p:nvSpPr>
        <p:spPr>
          <a:xfrm>
            <a:off x="10149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Embed in LOS with mandatory human approval; monitor accuracy by document type.</a:t>
            </a:r>
            <a:endParaRPr lang="en-US" sz="1300" dirty="0"/>
          </a:p>
        </p:txBody>
      </p:sp>
      <p:sp>
        <p:nvSpPr>
          <p:cNvPr id="26" name="Shape 23"/>
          <p:cNvSpPr/>
          <p:nvPr/>
        </p:nvSpPr>
        <p:spPr>
          <a:xfrm>
            <a:off x="548640" y="4983480"/>
            <a:ext cx="6949440" cy="1097280"/>
          </a:xfrm>
          <a:prstGeom prst="roundRect">
            <a:avLst>
              <a:gd name="adj" fmla="val 8333"/>
            </a:avLst>
          </a:prstGeom>
          <a:solidFill>
            <a:schemeClr val="bg2"/>
          </a:solidFill>
          <a:ln w="9525">
            <a:solidFill>
              <a:schemeClr val="bg2"/>
            </a:solidFill>
            <a:prstDash val="solid"/>
          </a:ln>
        </p:spPr>
      </p:sp>
      <p:sp>
        <p:nvSpPr>
          <p:cNvPr id="27" name="Text 24"/>
          <p:cNvSpPr txBox="1"/>
          <p:nvPr/>
        </p:nvSpPr>
        <p:spPr>
          <a:xfrm>
            <a:off x="777240" y="5074920"/>
            <a:ext cx="6492240" cy="914400"/>
          </a:xfrm>
          <a:prstGeom prst="rect">
            <a:avLst/>
          </a:prstGeom>
          <a:noFill/>
          <a:ln/>
        </p:spPr>
        <p:txBody>
          <a:bodyPr wrap="square" lIns="0" tIns="0" rIns="0" bIns="0" rtlCol="0" anchor="ctr"/>
          <a:lstStyle/>
          <a:p>
            <a:pPr indent="0" marL="0">
              <a:buNone/>
            </a:pPr>
            <a:r>
              <a:rPr lang="en-US" sz="1300" b="1" dirty="0">
                <a:solidFill>
                  <a:schemeClr val="accent1"/>
                </a:solidFill>
              </a:rPr>
              <a:t>Core team</a:t>
            </a:r>
            <a:endParaRPr lang="en-US" sz="1400" dirty="0"/>
          </a:p>
          <a:p>
            <a:pPr indent="0" marL="0">
              <a:buNone/>
            </a:pPr>
            <a:r>
              <a:rPr lang="en-US" sz="1300" dirty="0">
                <a:solidFill>
                  <a:schemeClr val="tx1"/>
                </a:solidFill>
              </a:rPr>
              <a:t>Credit risk · Underwriters · Operations · ML engineers · LOS integration team · Model Risk Management · Compliance</a:t>
            </a:r>
            <a:endParaRPr lang="en-US" sz="1400" dirty="0"/>
          </a:p>
        </p:txBody>
      </p:sp>
      <p:sp>
        <p:nvSpPr>
          <p:cNvPr id="28" name="Shape 25"/>
          <p:cNvSpPr/>
          <p:nvPr/>
        </p:nvSpPr>
        <p:spPr>
          <a:xfrm>
            <a:off x="7726680" y="4983480"/>
            <a:ext cx="3886200" cy="1097280"/>
          </a:xfrm>
          <a:prstGeom prst="roundRect">
            <a:avLst>
              <a:gd name="adj" fmla="val 8333"/>
            </a:avLst>
          </a:prstGeom>
          <a:solidFill>
            <a:schemeClr val="accent2">
              <a:alpha val="20000"/>
            </a:schemeClr>
          </a:solidFill>
          <a:ln w="9525">
            <a:solidFill>
              <a:schemeClr val="accent2"/>
            </a:solidFill>
            <a:prstDash val="solid"/>
          </a:ln>
        </p:spPr>
      </p:sp>
      <p:sp>
        <p:nvSpPr>
          <p:cNvPr id="29" name="Text 26"/>
          <p:cNvSpPr txBox="1"/>
          <p:nvPr/>
        </p:nvSpPr>
        <p:spPr>
          <a:xfrm>
            <a:off x="7909560" y="5074920"/>
            <a:ext cx="3566160" cy="914400"/>
          </a:xfrm>
          <a:prstGeom prst="rect">
            <a:avLst/>
          </a:prstGeom>
          <a:noFill/>
          <a:ln/>
        </p:spPr>
        <p:txBody>
          <a:bodyPr wrap="square" lIns="0" tIns="0" rIns="0" bIns="0" rtlCol="0" anchor="ctr"/>
          <a:lstStyle/>
          <a:p>
            <a:pPr indent="0" marL="0">
              <a:buNone/>
            </a:pPr>
            <a:r>
              <a:rPr lang="en-US" sz="1300" b="1" dirty="0">
                <a:solidFill>
                  <a:schemeClr val="tx2"/>
                </a:solidFill>
              </a:rPr>
              <a:t>Indicative timeline</a:t>
            </a:r>
            <a:endParaRPr lang="en-US" sz="1400" dirty="0"/>
          </a:p>
          <a:p>
            <a:pPr indent="0" marL="0">
              <a:buNone/>
            </a:pPr>
            <a:r>
              <a:rPr lang="en-US" sz="1300" dirty="0">
                <a:solidFill>
                  <a:schemeClr val="tx1"/>
                </a:solidFill>
              </a:rPr>
              <a:t>~14–20 weeks to production for one product line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3: AML Investigation Copilot</a:t>
            </a:r>
            <a:endParaRPr lang="en-US" sz="3200" dirty="0"/>
          </a:p>
        </p:txBody>
      </p:sp>
      <p:sp>
        <p:nvSpPr>
          <p:cNvPr id="4" name="Shape 1"/>
          <p:cNvSpPr/>
          <p:nvPr/>
        </p:nvSpPr>
        <p:spPr>
          <a:xfrm>
            <a:off x="548640" y="1371600"/>
            <a:ext cx="5577840" cy="1417320"/>
          </a:xfrm>
          <a:prstGeom prst="roundRect">
            <a:avLst>
              <a:gd name="adj" fmla="val 6452"/>
            </a:avLst>
          </a:prstGeom>
          <a:solidFill>
            <a:schemeClr val="bg2"/>
          </a:solidFill>
          <a:ln w="9525">
            <a:solidFill>
              <a:schemeClr val="bg2"/>
            </a:solidFill>
            <a:prstDash val="solid"/>
          </a:ln>
        </p:spPr>
      </p:sp>
      <p:sp>
        <p:nvSpPr>
          <p:cNvPr id="5" name="Text 2"/>
          <p:cNvSpPr txBox="1"/>
          <p:nvPr/>
        </p:nvSpPr>
        <p:spPr>
          <a:xfrm>
            <a:off x="777240" y="1508760"/>
            <a:ext cx="5120640" cy="320040"/>
          </a:xfrm>
          <a:prstGeom prst="rect">
            <a:avLst/>
          </a:prstGeom>
          <a:noFill/>
          <a:ln/>
        </p:spPr>
        <p:txBody>
          <a:bodyPr wrap="square" lIns="0" tIns="0" rIns="0" bIns="0" rtlCol="0" anchor="t"/>
          <a:lstStyle/>
          <a:p>
            <a:pPr indent="0" marL="0">
              <a:buNone/>
            </a:pPr>
            <a:r>
              <a:rPr lang="en-US" sz="1500" b="1" dirty="0">
                <a:solidFill>
                  <a:schemeClr val="accent4"/>
                </a:solidFill>
              </a:rPr>
              <a:t>The problem</a:t>
            </a:r>
            <a:endParaRPr lang="en-US" sz="1500" dirty="0"/>
          </a:p>
        </p:txBody>
      </p:sp>
      <p:sp>
        <p:nvSpPr>
          <p:cNvPr id="6" name="Text 3"/>
          <p:cNvSpPr txBox="1"/>
          <p:nvPr/>
        </p:nvSpPr>
        <p:spPr>
          <a:xfrm>
            <a:off x="777240" y="1847088"/>
            <a:ext cx="5120640" cy="868680"/>
          </a:xfrm>
          <a:prstGeom prst="rect">
            <a:avLst/>
          </a:prstGeom>
          <a:noFill/>
          <a:ln/>
        </p:spPr>
        <p:txBody>
          <a:bodyPr wrap="square" lIns="0" tIns="0" rIns="0" bIns="0" rtlCol="0" anchor="t"/>
          <a:lstStyle/>
          <a:p>
            <a:pPr indent="0" marL="0">
              <a:buNone/>
            </a:pPr>
            <a:r>
              <a:rPr lang="en-US" sz="1300" dirty="0">
                <a:solidFill>
                  <a:schemeClr val="tx1"/>
                </a:solidFill>
              </a:rPr>
              <a:t>Transaction monitoring raises thousands of alerts, most of them false positives. Investigators spend hours collating data and writing STR narratives; backlogs create regulatory risk.</a:t>
            </a:r>
            <a:endParaRPr lang="en-US" sz="1300" dirty="0"/>
          </a:p>
        </p:txBody>
      </p:sp>
      <p:sp>
        <p:nvSpPr>
          <p:cNvPr id="7" name="Shape 4"/>
          <p:cNvSpPr/>
          <p:nvPr/>
        </p:nvSpPr>
        <p:spPr>
          <a:xfrm>
            <a:off x="548640" y="2971800"/>
            <a:ext cx="5577840" cy="1600200"/>
          </a:xfrm>
          <a:prstGeom prst="roundRect">
            <a:avLst>
              <a:gd name="adj" fmla="val 5714"/>
            </a:avLst>
          </a:prstGeom>
          <a:solidFill>
            <a:schemeClr val="bg2"/>
          </a:solidFill>
          <a:ln w="9525">
            <a:solidFill>
              <a:schemeClr val="bg2"/>
            </a:solidFill>
            <a:prstDash val="solid"/>
          </a:ln>
        </p:spPr>
      </p:sp>
      <p:sp>
        <p:nvSpPr>
          <p:cNvPr id="8" name="Text 5"/>
          <p:cNvSpPr txBox="1"/>
          <p:nvPr/>
        </p:nvSpPr>
        <p:spPr>
          <a:xfrm>
            <a:off x="777240" y="3108960"/>
            <a:ext cx="5120640" cy="320040"/>
          </a:xfrm>
          <a:prstGeom prst="rect">
            <a:avLst/>
          </a:prstGeom>
          <a:noFill/>
          <a:ln/>
        </p:spPr>
        <p:txBody>
          <a:bodyPr wrap="square" lIns="0" tIns="0" rIns="0" bIns="0" rtlCol="0" anchor="t"/>
          <a:lstStyle/>
          <a:p>
            <a:pPr indent="0" marL="0">
              <a:buNone/>
            </a:pPr>
            <a:r>
              <a:rPr lang="en-US" sz="1500" b="1" dirty="0">
                <a:solidFill>
                  <a:schemeClr val="accent1"/>
                </a:solidFill>
              </a:rPr>
              <a:t>GenAI solution</a:t>
            </a:r>
            <a:endParaRPr lang="en-US" sz="1500" dirty="0"/>
          </a:p>
        </p:txBody>
      </p:sp>
      <p:sp>
        <p:nvSpPr>
          <p:cNvPr id="9" name="Text 6"/>
          <p:cNvSpPr txBox="1"/>
          <p:nvPr/>
        </p:nvSpPr>
        <p:spPr>
          <a:xfrm>
            <a:off x="777240" y="3447288"/>
            <a:ext cx="5120640" cy="1051560"/>
          </a:xfrm>
          <a:prstGeom prst="rect">
            <a:avLst/>
          </a:prstGeom>
          <a:noFill/>
          <a:ln/>
        </p:spPr>
        <p:txBody>
          <a:bodyPr wrap="square" lIns="0" tIns="0" rIns="0" bIns="0" rtlCol="0" anchor="t"/>
          <a:lstStyle/>
          <a:p>
            <a:pPr indent="0" marL="0">
              <a:buNone/>
            </a:pPr>
            <a:r>
              <a:rPr lang="en-US" sz="1300" dirty="0">
                <a:solidFill>
                  <a:schemeClr val="tx1"/>
                </a:solidFill>
              </a:rPr>
              <a:t>A copilot aggregates case data, builds a timeline, maps red flags to AML typologies and drafts an STR narrative with evidence links. The investigator decides and files.</a:t>
            </a:r>
            <a:endParaRPr lang="en-US" sz="1300" dirty="0"/>
          </a:p>
        </p:txBody>
      </p:sp>
      <p:sp>
        <p:nvSpPr>
          <p:cNvPr id="10" name="Shape 7"/>
          <p:cNvSpPr/>
          <p:nvPr/>
        </p:nvSpPr>
        <p:spPr>
          <a:xfrm>
            <a:off x="548640" y="4754880"/>
            <a:ext cx="5577840" cy="1463040"/>
          </a:xfrm>
          <a:prstGeom prst="roundRect">
            <a:avLst>
              <a:gd name="adj" fmla="val 6250"/>
            </a:avLst>
          </a:prstGeom>
          <a:solidFill>
            <a:schemeClr val="bg2"/>
          </a:solidFill>
          <a:ln w="9525">
            <a:solidFill>
              <a:schemeClr val="bg2"/>
            </a:solidFill>
            <a:prstDash val="solid"/>
          </a:ln>
        </p:spPr>
      </p:sp>
      <p:sp>
        <p:nvSpPr>
          <p:cNvPr id="11" name="Text 8"/>
          <p:cNvSpPr txBox="1"/>
          <p:nvPr/>
        </p:nvSpPr>
        <p:spPr>
          <a:xfrm>
            <a:off x="777240" y="4892040"/>
            <a:ext cx="5120640" cy="320040"/>
          </a:xfrm>
          <a:prstGeom prst="rect">
            <a:avLst/>
          </a:prstGeom>
          <a:noFill/>
          <a:ln/>
        </p:spPr>
        <p:txBody>
          <a:bodyPr wrap="square" lIns="0" tIns="0" rIns="0" bIns="0" rtlCol="0" anchor="t"/>
          <a:lstStyle/>
          <a:p>
            <a:pPr indent="0" marL="0">
              <a:buNone/>
            </a:pPr>
            <a:r>
              <a:rPr lang="en-US" sz="1500" b="1" dirty="0">
                <a:solidFill>
                  <a:schemeClr val="accent3"/>
                </a:solidFill>
              </a:rPr>
              <a:t>Success KPIs</a:t>
            </a:r>
            <a:endParaRPr lang="en-US" sz="1500" dirty="0"/>
          </a:p>
        </p:txBody>
      </p:sp>
      <p:sp>
        <p:nvSpPr>
          <p:cNvPr id="12" name="Text 9"/>
          <p:cNvSpPr txBox="1"/>
          <p:nvPr/>
        </p:nvSpPr>
        <p:spPr>
          <a:xfrm>
            <a:off x="777240" y="5230368"/>
            <a:ext cx="5120640" cy="914400"/>
          </a:xfrm>
          <a:prstGeom prst="rect">
            <a:avLst/>
          </a:prstGeom>
          <a:noFill/>
          <a:ln/>
        </p:spPr>
        <p:txBody>
          <a:bodyPr wrap="square" lIns="0" tIns="0" rIns="0" bIns="0" rtlCol="0" anchor="t"/>
          <a:lstStyle/>
          <a:p>
            <a:pPr indent="0" marL="0">
              <a:buNone/>
            </a:pPr>
            <a:r>
              <a:rPr lang="en-US" sz="1300" dirty="0">
                <a:solidFill>
                  <a:schemeClr val="tx1"/>
                </a:solidFill>
              </a:rPr>
              <a:t>Time per alert · backlog size · STR quality score from QA · consistency of closures · regulator feedback</a:t>
            </a:r>
            <a:endParaRPr lang="en-US" sz="1300" dirty="0"/>
          </a:p>
        </p:txBody>
      </p:sp>
      <p:sp>
        <p:nvSpPr>
          <p:cNvPr id="13" name="Text 10"/>
          <p:cNvSpPr txBox="1"/>
          <p:nvPr/>
        </p:nvSpPr>
        <p:spPr>
          <a:xfrm>
            <a:off x="6492240" y="1371600"/>
            <a:ext cx="5120640" cy="320040"/>
          </a:xfrm>
          <a:prstGeom prst="rect">
            <a:avLst/>
          </a:prstGeom>
          <a:noFill/>
          <a:ln/>
        </p:spPr>
        <p:txBody>
          <a:bodyPr wrap="square" lIns="0" tIns="0" rIns="0" bIns="0" rtlCol="0" anchor="t"/>
          <a:lstStyle/>
          <a:p>
            <a:pPr indent="0" marL="0">
              <a:buNone/>
            </a:pPr>
            <a:r>
              <a:rPr lang="en-US" sz="1500" b="1" dirty="0">
                <a:solidFill>
                  <a:schemeClr val="tx2"/>
                </a:solidFill>
              </a:rPr>
              <a:t>5W1H at a glance</a:t>
            </a:r>
            <a:endParaRPr lang="en-US" sz="1500" dirty="0"/>
          </a:p>
        </p:txBody>
      </p:sp>
      <p:sp>
        <p:nvSpPr>
          <p:cNvPr id="14" name="Text 11"/>
          <p:cNvSpPr txBox="1"/>
          <p:nvPr/>
        </p:nvSpPr>
        <p:spPr>
          <a:xfrm>
            <a:off x="6492240" y="18562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What</a:t>
            </a:r>
            <a:endParaRPr lang="en-US" sz="1200" dirty="0"/>
          </a:p>
        </p:txBody>
      </p:sp>
      <p:sp>
        <p:nvSpPr>
          <p:cNvPr id="15" name="Text 12"/>
          <p:cNvSpPr txBox="1"/>
          <p:nvPr/>
        </p:nvSpPr>
        <p:spPr>
          <a:xfrm>
            <a:off x="7543800" y="1783080"/>
            <a:ext cx="4069080" cy="621792"/>
          </a:xfrm>
          <a:prstGeom prst="rect">
            <a:avLst/>
          </a:prstGeom>
          <a:noFill/>
          <a:ln/>
        </p:spPr>
        <p:txBody>
          <a:bodyPr wrap="square" lIns="0" tIns="0" rIns="0" bIns="0" rtlCol="0" anchor="ctr"/>
          <a:lstStyle/>
          <a:p>
            <a:pPr indent="0" marL="0">
              <a:buNone/>
            </a:pPr>
            <a:r>
              <a:rPr lang="en-US" sz="1200" dirty="0">
                <a:solidFill>
                  <a:schemeClr val="tx1"/>
                </a:solidFill>
              </a:rPr>
              <a:t>Investigator copilot for alert triage, case summaries and STR drafts</a:t>
            </a:r>
            <a:endParaRPr lang="en-US" sz="1200" dirty="0"/>
          </a:p>
        </p:txBody>
      </p:sp>
      <p:sp>
        <p:nvSpPr>
          <p:cNvPr id="16" name="Text 13"/>
          <p:cNvSpPr txBox="1"/>
          <p:nvPr/>
        </p:nvSpPr>
        <p:spPr>
          <a:xfrm>
            <a:off x="6492240" y="258775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Why</a:t>
            </a:r>
            <a:endParaRPr lang="en-US" sz="1200" dirty="0"/>
          </a:p>
        </p:txBody>
      </p:sp>
      <p:sp>
        <p:nvSpPr>
          <p:cNvPr id="17" name="Text 14"/>
          <p:cNvSpPr txBox="1"/>
          <p:nvPr/>
        </p:nvSpPr>
        <p:spPr>
          <a:xfrm>
            <a:off x="7543800" y="2514600"/>
            <a:ext cx="4069080" cy="621792"/>
          </a:xfrm>
          <a:prstGeom prst="rect">
            <a:avLst/>
          </a:prstGeom>
          <a:noFill/>
          <a:ln/>
        </p:spPr>
        <p:txBody>
          <a:bodyPr wrap="square" lIns="0" tIns="0" rIns="0" bIns="0" rtlCol="0" anchor="ctr"/>
          <a:lstStyle/>
          <a:p>
            <a:pPr indent="0" marL="0">
              <a:buNone/>
            </a:pPr>
            <a:r>
              <a:rPr lang="en-US" sz="1200" dirty="0">
                <a:solidFill>
                  <a:schemeClr val="tx1"/>
                </a:solidFill>
              </a:rPr>
              <a:t>Rising alert volumes; faster, consistent, well-evidenced reports</a:t>
            </a:r>
            <a:endParaRPr lang="en-US" sz="1200" dirty="0"/>
          </a:p>
        </p:txBody>
      </p:sp>
      <p:sp>
        <p:nvSpPr>
          <p:cNvPr id="18" name="Text 15"/>
          <p:cNvSpPr txBox="1"/>
          <p:nvPr/>
        </p:nvSpPr>
        <p:spPr>
          <a:xfrm>
            <a:off x="6492240" y="331927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Who</a:t>
            </a:r>
            <a:endParaRPr lang="en-US" sz="1200" dirty="0"/>
          </a:p>
        </p:txBody>
      </p:sp>
      <p:sp>
        <p:nvSpPr>
          <p:cNvPr id="19" name="Text 16"/>
          <p:cNvSpPr txBox="1"/>
          <p:nvPr/>
        </p:nvSpPr>
        <p:spPr>
          <a:xfrm>
            <a:off x="7543800" y="3246120"/>
            <a:ext cx="4069080" cy="621792"/>
          </a:xfrm>
          <a:prstGeom prst="rect">
            <a:avLst/>
          </a:prstGeom>
          <a:noFill/>
          <a:ln/>
        </p:spPr>
        <p:txBody>
          <a:bodyPr wrap="square" lIns="0" tIns="0" rIns="0" bIns="0" rtlCol="0" anchor="ctr"/>
          <a:lstStyle/>
          <a:p>
            <a:pPr indent="0" marL="0">
              <a:buNone/>
            </a:pPr>
            <a:r>
              <a:rPr lang="en-US" sz="1200" dirty="0">
                <a:solidFill>
                  <a:schemeClr val="tx1"/>
                </a:solidFill>
              </a:rPr>
              <a:t>AML / fraud investigators, MLRO / Principal Officer, compliance QA</a:t>
            </a:r>
            <a:endParaRPr lang="en-US" sz="1200" dirty="0"/>
          </a:p>
        </p:txBody>
      </p:sp>
      <p:sp>
        <p:nvSpPr>
          <p:cNvPr id="20" name="Text 17"/>
          <p:cNvSpPr txBox="1"/>
          <p:nvPr/>
        </p:nvSpPr>
        <p:spPr>
          <a:xfrm>
            <a:off x="6492240" y="405079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Where</a:t>
            </a:r>
            <a:endParaRPr lang="en-US" sz="1200" dirty="0"/>
          </a:p>
        </p:txBody>
      </p:sp>
      <p:sp>
        <p:nvSpPr>
          <p:cNvPr id="21" name="Text 18"/>
          <p:cNvSpPr txBox="1"/>
          <p:nvPr/>
        </p:nvSpPr>
        <p:spPr>
          <a:xfrm>
            <a:off x="7543800" y="3977640"/>
            <a:ext cx="4069080" cy="621792"/>
          </a:xfrm>
          <a:prstGeom prst="rect">
            <a:avLst/>
          </a:prstGeom>
          <a:noFill/>
          <a:ln/>
        </p:spPr>
        <p:txBody>
          <a:bodyPr wrap="square" lIns="0" tIns="0" rIns="0" bIns="0" rtlCol="0" anchor="ctr"/>
          <a:lstStyle/>
          <a:p>
            <a:pPr indent="0" marL="0">
              <a:buNone/>
            </a:pPr>
            <a:r>
              <a:rPr lang="en-US" sz="1200" dirty="0">
                <a:solidFill>
                  <a:schemeClr val="tx1"/>
                </a:solidFill>
              </a:rPr>
              <a:t>Case management system in the financial crime unit</a:t>
            </a:r>
            <a:endParaRPr lang="en-US" sz="1200" dirty="0"/>
          </a:p>
        </p:txBody>
      </p:sp>
      <p:sp>
        <p:nvSpPr>
          <p:cNvPr id="22" name="Text 19"/>
          <p:cNvSpPr txBox="1"/>
          <p:nvPr/>
        </p:nvSpPr>
        <p:spPr>
          <a:xfrm>
            <a:off x="6492240" y="478231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When</a:t>
            </a:r>
            <a:endParaRPr lang="en-US" sz="1200" dirty="0"/>
          </a:p>
        </p:txBody>
      </p:sp>
      <p:sp>
        <p:nvSpPr>
          <p:cNvPr id="23" name="Text 20"/>
          <p:cNvSpPr txBox="1"/>
          <p:nvPr/>
        </p:nvSpPr>
        <p:spPr>
          <a:xfrm>
            <a:off x="7543800" y="4709160"/>
            <a:ext cx="4069080" cy="621792"/>
          </a:xfrm>
          <a:prstGeom prst="rect">
            <a:avLst/>
          </a:prstGeom>
          <a:noFill/>
          <a:ln/>
        </p:spPr>
        <p:txBody>
          <a:bodyPr wrap="square" lIns="0" tIns="0" rIns="0" bIns="0" rtlCol="0" anchor="ctr"/>
          <a:lstStyle/>
          <a:p>
            <a:pPr indent="0" marL="0">
              <a:buNone/>
            </a:pPr>
            <a:r>
              <a:rPr lang="en-US" sz="1200" dirty="0">
                <a:solidFill>
                  <a:schemeClr val="tx1"/>
                </a:solidFill>
              </a:rPr>
              <a:t>After an alert is raised, before closure or STR filing to FIU-IND</a:t>
            </a:r>
            <a:endParaRPr lang="en-US" sz="1200" dirty="0"/>
          </a:p>
        </p:txBody>
      </p:sp>
      <p:sp>
        <p:nvSpPr>
          <p:cNvPr id="24" name="Text 21"/>
          <p:cNvSpPr txBox="1"/>
          <p:nvPr/>
        </p:nvSpPr>
        <p:spPr>
          <a:xfrm>
            <a:off x="6492240" y="5513832"/>
            <a:ext cx="914400" cy="457200"/>
          </a:xfrm>
          <a:prstGeom prst="roundRect">
            <a:avLst>
              <a:gd name="adj" fmla="val 16000"/>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200" b="1" dirty="0">
                <a:solidFill>
                  <a:schemeClr val="tx1"/>
                </a:solidFill>
              </a:rPr>
              <a:t>How</a:t>
            </a:r>
            <a:endParaRPr lang="en-US" sz="1200" dirty="0"/>
          </a:p>
        </p:txBody>
      </p:sp>
      <p:sp>
        <p:nvSpPr>
          <p:cNvPr id="25" name="Text 22"/>
          <p:cNvSpPr txBox="1"/>
          <p:nvPr/>
        </p:nvSpPr>
        <p:spPr>
          <a:xfrm>
            <a:off x="7543800" y="5440680"/>
            <a:ext cx="4069080" cy="621792"/>
          </a:xfrm>
          <a:prstGeom prst="rect">
            <a:avLst/>
          </a:prstGeom>
          <a:noFill/>
          <a:ln/>
        </p:spPr>
        <p:txBody>
          <a:bodyPr wrap="square" lIns="0" tIns="0" rIns="0" bIns="0" rtlCol="0" anchor="ctr"/>
          <a:lstStyle/>
          <a:p>
            <a:pPr indent="0" marL="0">
              <a:buNone/>
            </a:pPr>
            <a:r>
              <a:rPr lang="en-US" sz="1200" dirty="0">
                <a:solidFill>
                  <a:schemeClr val="tx1"/>
                </a:solidFill>
              </a:rPr>
              <a:t>Data aggregation + graph analytics + RAG on typologies + LLM drafting + human decision</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3: Architecture Flow</a:t>
            </a:r>
            <a:endParaRPr lang="en-US" sz="3200" dirty="0"/>
          </a:p>
        </p:txBody>
      </p:sp>
      <p:sp>
        <p:nvSpPr>
          <p:cNvPr id="4" name="Text 1"/>
          <p:cNvSpPr txBox="1"/>
          <p:nvPr/>
        </p:nvSpPr>
        <p:spPr>
          <a:xfrm>
            <a:off x="548640" y="2624328"/>
            <a:ext cx="3657600" cy="274320"/>
          </a:xfrm>
          <a:prstGeom prst="rect">
            <a:avLst/>
          </a:prstGeom>
          <a:noFill/>
          <a:ln/>
        </p:spPr>
        <p:txBody>
          <a:bodyPr wrap="square" lIns="0" tIns="0" rIns="0" bIns="0" rtlCol="0" anchor="t"/>
          <a:lstStyle/>
          <a:p>
            <a:pPr indent="0" marL="0">
              <a:buNone/>
            </a:pPr>
            <a:r>
              <a:rPr lang="en-US" sz="1100" b="1" dirty="0">
                <a:solidFill>
                  <a:schemeClr val="accent5"/>
                </a:solidFill>
              </a:rPr>
              <a:t>Alert investigation flow</a:t>
            </a:r>
            <a:endParaRPr lang="en-US" sz="1100" dirty="0"/>
          </a:p>
        </p:txBody>
      </p:sp>
      <p:sp>
        <p:nvSpPr>
          <p:cNvPr id="5" name="Text 2"/>
          <p:cNvSpPr txBox="1"/>
          <p:nvPr/>
        </p:nvSpPr>
        <p:spPr>
          <a:xfrm>
            <a:off x="548640" y="2971800"/>
            <a:ext cx="1384663"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TMS alerts</a:t>
            </a:r>
            <a:endParaRPr lang="en-US" sz="1100" dirty="0"/>
          </a:p>
          <a:p>
            <a:pPr algn="ctr" indent="0" marL="0">
              <a:buNone/>
            </a:pPr>
            <a:r>
              <a:rPr lang="en-US" sz="1100" dirty="0">
                <a:solidFill>
                  <a:schemeClr val="bg1"/>
                </a:solidFill>
              </a:rPr>
              <a:t>rules + ML scores</a:t>
            </a:r>
            <a:endParaRPr lang="en-US" sz="1100" dirty="0"/>
          </a:p>
        </p:txBody>
      </p:sp>
      <p:sp>
        <p:nvSpPr>
          <p:cNvPr id="6" name="Shape 3"/>
          <p:cNvSpPr/>
          <p:nvPr/>
        </p:nvSpPr>
        <p:spPr>
          <a:xfrm>
            <a:off x="1933303" y="3497580"/>
            <a:ext cx="228600" cy="0"/>
          </a:xfrm>
          <a:prstGeom prst="line">
            <a:avLst/>
          </a:prstGeom>
          <a:noFill/>
          <a:ln w="19050">
            <a:solidFill>
              <a:schemeClr val="accent5"/>
            </a:solidFill>
            <a:prstDash val="solid"/>
            <a:tailEnd type="triangle"/>
          </a:ln>
        </p:spPr>
      </p:sp>
      <p:sp>
        <p:nvSpPr>
          <p:cNvPr id="7" name="Text 4"/>
          <p:cNvSpPr txBox="1"/>
          <p:nvPr/>
        </p:nvSpPr>
        <p:spPr>
          <a:xfrm>
            <a:off x="2161903" y="2971800"/>
            <a:ext cx="1384663" cy="1051560"/>
          </a:xfrm>
          <a:prstGeom prst="roundRect">
            <a:avLst>
              <a:gd name="adj" fmla="val 6957"/>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100" b="1" dirty="0">
                <a:solidFill>
                  <a:schemeClr val="bg1"/>
                </a:solidFill>
              </a:rPr>
              <a:t>Case data aggregation</a:t>
            </a:r>
            <a:endParaRPr lang="en-US" sz="1100" dirty="0"/>
          </a:p>
          <a:p>
            <a:pPr algn="ctr" indent="0" marL="0">
              <a:buNone/>
            </a:pPr>
            <a:r>
              <a:rPr lang="en-US" sz="1100" dirty="0">
                <a:solidFill>
                  <a:schemeClr val="bg1"/>
                </a:solidFill>
              </a:rPr>
              <a:t>txns · KYC · CRM · history</a:t>
            </a:r>
            <a:endParaRPr lang="en-US" sz="1100" dirty="0"/>
          </a:p>
        </p:txBody>
      </p:sp>
      <p:sp>
        <p:nvSpPr>
          <p:cNvPr id="8" name="Shape 5"/>
          <p:cNvSpPr/>
          <p:nvPr/>
        </p:nvSpPr>
        <p:spPr>
          <a:xfrm>
            <a:off x="3546566" y="3497580"/>
            <a:ext cx="228600" cy="0"/>
          </a:xfrm>
          <a:prstGeom prst="line">
            <a:avLst/>
          </a:prstGeom>
          <a:noFill/>
          <a:ln w="19050">
            <a:solidFill>
              <a:schemeClr val="accent5"/>
            </a:solidFill>
            <a:prstDash val="solid"/>
            <a:tailEnd type="triangle"/>
          </a:ln>
        </p:spPr>
      </p:sp>
      <p:sp>
        <p:nvSpPr>
          <p:cNvPr id="9" name="Text 6"/>
          <p:cNvSpPr txBox="1"/>
          <p:nvPr/>
        </p:nvSpPr>
        <p:spPr>
          <a:xfrm>
            <a:off x="3775166" y="2971800"/>
            <a:ext cx="1384663" cy="1051560"/>
          </a:xfrm>
          <a:prstGeom prst="roundRect">
            <a:avLst>
              <a:gd name="adj" fmla="val 6957"/>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100" b="1" dirty="0">
                <a:solidFill>
                  <a:schemeClr val="bg1"/>
                </a:solidFill>
              </a:rPr>
              <a:t>Entity &amp; graph analysis</a:t>
            </a:r>
            <a:endParaRPr lang="en-US" sz="1100" dirty="0"/>
          </a:p>
          <a:p>
            <a:pPr algn="ctr" indent="0" marL="0">
              <a:buNone/>
            </a:pPr>
            <a:r>
              <a:rPr lang="en-US" sz="1100" dirty="0">
                <a:solidFill>
                  <a:schemeClr val="bg1"/>
                </a:solidFill>
              </a:rPr>
              <a:t>linked accounts · mules</a:t>
            </a:r>
            <a:endParaRPr lang="en-US" sz="1100" dirty="0"/>
          </a:p>
        </p:txBody>
      </p:sp>
      <p:sp>
        <p:nvSpPr>
          <p:cNvPr id="10" name="Shape 7"/>
          <p:cNvSpPr/>
          <p:nvPr/>
        </p:nvSpPr>
        <p:spPr>
          <a:xfrm>
            <a:off x="5159829" y="3497580"/>
            <a:ext cx="228600" cy="0"/>
          </a:xfrm>
          <a:prstGeom prst="line">
            <a:avLst/>
          </a:prstGeom>
          <a:noFill/>
          <a:ln w="19050">
            <a:solidFill>
              <a:schemeClr val="accent5"/>
            </a:solidFill>
            <a:prstDash val="solid"/>
            <a:tailEnd type="triangle"/>
          </a:ln>
        </p:spPr>
      </p:sp>
      <p:sp>
        <p:nvSpPr>
          <p:cNvPr id="11" name="Text 8"/>
          <p:cNvSpPr txBox="1"/>
          <p:nvPr/>
        </p:nvSpPr>
        <p:spPr>
          <a:xfrm>
            <a:off x="5388429" y="2971800"/>
            <a:ext cx="1384663"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LLM case summariser</a:t>
            </a:r>
            <a:endParaRPr lang="en-US" sz="1100" dirty="0"/>
          </a:p>
          <a:p>
            <a:pPr algn="ctr" indent="0" marL="0">
              <a:buNone/>
            </a:pPr>
            <a:r>
              <a:rPr lang="en-US" sz="1100" dirty="0">
                <a:solidFill>
                  <a:schemeClr val="bg1"/>
                </a:solidFill>
              </a:rPr>
              <a:t>timeline · red flags</a:t>
            </a:r>
            <a:endParaRPr lang="en-US" sz="1100" dirty="0"/>
          </a:p>
        </p:txBody>
      </p:sp>
      <p:sp>
        <p:nvSpPr>
          <p:cNvPr id="12" name="Shape 9"/>
          <p:cNvSpPr/>
          <p:nvPr/>
        </p:nvSpPr>
        <p:spPr>
          <a:xfrm>
            <a:off x="6773091" y="3497580"/>
            <a:ext cx="228600" cy="0"/>
          </a:xfrm>
          <a:prstGeom prst="line">
            <a:avLst/>
          </a:prstGeom>
          <a:noFill/>
          <a:ln w="19050">
            <a:solidFill>
              <a:schemeClr val="accent5"/>
            </a:solidFill>
            <a:prstDash val="solid"/>
            <a:tailEnd type="triangle"/>
          </a:ln>
        </p:spPr>
      </p:sp>
      <p:sp>
        <p:nvSpPr>
          <p:cNvPr id="13" name="Text 10"/>
          <p:cNvSpPr txBox="1"/>
          <p:nvPr/>
        </p:nvSpPr>
        <p:spPr>
          <a:xfrm>
            <a:off x="7001691" y="2971800"/>
            <a:ext cx="1384663" cy="1051560"/>
          </a:xfrm>
          <a:prstGeom prst="roundRect">
            <a:avLst>
              <a:gd name="adj" fmla="val 6957"/>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100" b="1" dirty="0">
                <a:solidFill>
                  <a:schemeClr val="bg1"/>
                </a:solidFill>
              </a:rPr>
              <a:t>STR narrative drafter</a:t>
            </a:r>
            <a:endParaRPr lang="en-US" sz="1100" dirty="0"/>
          </a:p>
          <a:p>
            <a:pPr algn="ctr" indent="0" marL="0">
              <a:buNone/>
            </a:pPr>
            <a:r>
              <a:rPr lang="en-US" sz="1100" dirty="0">
                <a:solidFill>
                  <a:schemeClr val="bg1"/>
                </a:solidFill>
              </a:rPr>
              <a:t>evidence citations</a:t>
            </a:r>
            <a:endParaRPr lang="en-US" sz="1100" dirty="0"/>
          </a:p>
        </p:txBody>
      </p:sp>
      <p:sp>
        <p:nvSpPr>
          <p:cNvPr id="14" name="Shape 11"/>
          <p:cNvSpPr/>
          <p:nvPr/>
        </p:nvSpPr>
        <p:spPr>
          <a:xfrm>
            <a:off x="8386354" y="3497580"/>
            <a:ext cx="228600" cy="0"/>
          </a:xfrm>
          <a:prstGeom prst="line">
            <a:avLst/>
          </a:prstGeom>
          <a:noFill/>
          <a:ln w="19050">
            <a:solidFill>
              <a:schemeClr val="accent5"/>
            </a:solidFill>
            <a:prstDash val="solid"/>
            <a:tailEnd type="triangle"/>
          </a:ln>
        </p:spPr>
      </p:sp>
      <p:sp>
        <p:nvSpPr>
          <p:cNvPr id="15" name="Text 12"/>
          <p:cNvSpPr txBox="1"/>
          <p:nvPr/>
        </p:nvSpPr>
        <p:spPr>
          <a:xfrm>
            <a:off x="8614954" y="2971800"/>
            <a:ext cx="1384663" cy="1051560"/>
          </a:xfrm>
          <a:prstGeom prst="roundRect">
            <a:avLst>
              <a:gd name="adj" fmla="val 6957"/>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100" b="1" dirty="0">
                <a:solidFill>
                  <a:schemeClr val="tx1"/>
                </a:solidFill>
              </a:rPr>
              <a:t>Investigator review</a:t>
            </a:r>
            <a:endParaRPr lang="en-US" sz="1100" dirty="0"/>
          </a:p>
          <a:p>
            <a:pPr algn="ctr" indent="0" marL="0">
              <a:buNone/>
            </a:pPr>
            <a:r>
              <a:rPr lang="en-US" sz="1100" dirty="0">
                <a:solidFill>
                  <a:schemeClr val="tx1"/>
                </a:solidFill>
              </a:rPr>
              <a:t>decide · edit</a:t>
            </a:r>
            <a:endParaRPr lang="en-US" sz="1100" dirty="0"/>
          </a:p>
        </p:txBody>
      </p:sp>
      <p:sp>
        <p:nvSpPr>
          <p:cNvPr id="16" name="Shape 13"/>
          <p:cNvSpPr/>
          <p:nvPr/>
        </p:nvSpPr>
        <p:spPr>
          <a:xfrm>
            <a:off x="9999617" y="3497580"/>
            <a:ext cx="228600" cy="0"/>
          </a:xfrm>
          <a:prstGeom prst="line">
            <a:avLst/>
          </a:prstGeom>
          <a:noFill/>
          <a:ln w="19050">
            <a:solidFill>
              <a:schemeClr val="accent5"/>
            </a:solidFill>
            <a:prstDash val="solid"/>
            <a:tailEnd type="triangle"/>
          </a:ln>
        </p:spPr>
      </p:sp>
      <p:sp>
        <p:nvSpPr>
          <p:cNvPr id="17" name="Text 14"/>
          <p:cNvSpPr txBox="1"/>
          <p:nvPr/>
        </p:nvSpPr>
        <p:spPr>
          <a:xfrm>
            <a:off x="10228217" y="2971800"/>
            <a:ext cx="1384663" cy="1051560"/>
          </a:xfrm>
          <a:prstGeom prst="roundRect">
            <a:avLst>
              <a:gd name="adj" fmla="val 6957"/>
            </a:avLst>
          </a:prstGeom>
          <a:solidFill>
            <a:schemeClr val="tx2"/>
          </a:solidFill>
          <a:ln w="9525">
            <a:solidFill>
              <a:schemeClr val="tx2"/>
            </a:solidFill>
          </a:ln>
        </p:spPr>
        <p:txBody>
          <a:bodyPr wrap="square" lIns="50800" tIns="50800" rIns="50800" bIns="50800" rtlCol="0" anchor="ctr"/>
          <a:lstStyle/>
          <a:p>
            <a:pPr algn="ctr" indent="0" marL="0">
              <a:buNone/>
            </a:pPr>
            <a:r>
              <a:rPr lang="en-US" sz="1100" b="1" dirty="0">
                <a:solidFill>
                  <a:schemeClr val="bg1"/>
                </a:solidFill>
              </a:rPr>
              <a:t>Case mgmt</a:t>
            </a:r>
            <a:endParaRPr lang="en-US" sz="1100" dirty="0"/>
          </a:p>
          <a:p>
            <a:pPr algn="ctr" indent="0" marL="0">
              <a:buNone/>
            </a:pPr>
            <a:r>
              <a:rPr lang="en-US" sz="1100" dirty="0">
                <a:solidFill>
                  <a:schemeClr val="bg1"/>
                </a:solidFill>
              </a:rPr>
              <a:t>FIU-IND filing</a:t>
            </a:r>
            <a:endParaRPr lang="en-US" sz="1100" dirty="0"/>
          </a:p>
        </p:txBody>
      </p:sp>
      <p:sp>
        <p:nvSpPr>
          <p:cNvPr id="18" name="Text 15"/>
          <p:cNvSpPr txBox="1"/>
          <p:nvPr/>
        </p:nvSpPr>
        <p:spPr>
          <a:xfrm>
            <a:off x="1665514" y="1371600"/>
            <a:ext cx="2377440" cy="777240"/>
          </a:xfrm>
          <a:prstGeom prst="roundRect">
            <a:avLst>
              <a:gd name="adj" fmla="val 9412"/>
            </a:avLst>
          </a:prstGeom>
          <a:solidFill>
            <a:schemeClr val="accent5">
              <a:alpha val="14000"/>
            </a:schemeClr>
          </a:solidFill>
          <a:ln w="9525">
            <a:solidFill>
              <a:schemeClr val="accent5"/>
            </a:solidFill>
          </a:ln>
        </p:spPr>
        <p:txBody>
          <a:bodyPr wrap="square" lIns="50800" tIns="50800" rIns="50800" bIns="50800" rtlCol="0" anchor="ctr"/>
          <a:lstStyle/>
          <a:p>
            <a:pPr algn="ctr" indent="0" marL="0">
              <a:buNone/>
            </a:pPr>
            <a:r>
              <a:rPr lang="en-US" sz="1100" dirty="0">
                <a:solidFill>
                  <a:schemeClr val="tx1"/>
                </a:solidFill>
              </a:rPr>
              <a:t>Sanctions, PEP &amp; adverse media screening</a:t>
            </a:r>
            <a:endParaRPr lang="en-US" sz="1100" dirty="0"/>
          </a:p>
        </p:txBody>
      </p:sp>
      <p:sp>
        <p:nvSpPr>
          <p:cNvPr id="19" name="Shape 16"/>
          <p:cNvSpPr/>
          <p:nvPr/>
        </p:nvSpPr>
        <p:spPr>
          <a:xfrm>
            <a:off x="2854234" y="2148840"/>
            <a:ext cx="0" cy="822960"/>
          </a:xfrm>
          <a:prstGeom prst="line">
            <a:avLst/>
          </a:prstGeom>
          <a:noFill/>
          <a:ln w="19050">
            <a:solidFill>
              <a:schemeClr val="accent5"/>
            </a:solidFill>
            <a:prstDash val="solid"/>
            <a:tailEnd type="triangle"/>
          </a:ln>
        </p:spPr>
      </p:sp>
      <p:sp>
        <p:nvSpPr>
          <p:cNvPr id="20" name="Text 17"/>
          <p:cNvSpPr txBox="1"/>
          <p:nvPr/>
        </p:nvSpPr>
        <p:spPr>
          <a:xfrm>
            <a:off x="6048103" y="1371600"/>
            <a:ext cx="3291840" cy="777240"/>
          </a:xfrm>
          <a:prstGeom prst="roundRect">
            <a:avLst>
              <a:gd name="adj" fmla="val 9412"/>
            </a:avLst>
          </a:prstGeom>
          <a:solidFill>
            <a:schemeClr val="accent3">
              <a:alpha val="14000"/>
            </a:schemeClr>
          </a:solidFill>
          <a:ln w="9525">
            <a:solidFill>
              <a:schemeClr val="accent3"/>
            </a:solidFill>
          </a:ln>
        </p:spPr>
        <p:txBody>
          <a:bodyPr wrap="square" lIns="50800" tIns="50800" rIns="50800" bIns="50800" rtlCol="0" anchor="ctr"/>
          <a:lstStyle/>
          <a:p>
            <a:pPr algn="ctr" indent="0" marL="0">
              <a:buNone/>
            </a:pPr>
            <a:r>
              <a:rPr lang="en-US" sz="1100" dirty="0">
                <a:solidFill>
                  <a:schemeClr val="tx1"/>
                </a:solidFill>
              </a:rPr>
              <a:t>AML typologies, SOPs, FIU guidance &amp; approved past STRs (RAG)</a:t>
            </a:r>
            <a:endParaRPr lang="en-US" sz="1100" dirty="0"/>
          </a:p>
        </p:txBody>
      </p:sp>
      <p:sp>
        <p:nvSpPr>
          <p:cNvPr id="21" name="Shape 18"/>
          <p:cNvSpPr/>
          <p:nvPr/>
        </p:nvSpPr>
        <p:spPr>
          <a:xfrm>
            <a:off x="7694023" y="2148840"/>
            <a:ext cx="0" cy="822960"/>
          </a:xfrm>
          <a:prstGeom prst="line">
            <a:avLst/>
          </a:prstGeom>
          <a:noFill/>
          <a:ln w="19050">
            <a:solidFill>
              <a:schemeClr val="accent3"/>
            </a:solidFill>
            <a:prstDash val="solid"/>
            <a:tailEnd type="triangle"/>
          </a:ln>
        </p:spPr>
      </p:sp>
      <p:sp>
        <p:nvSpPr>
          <p:cNvPr id="22" name="Text 19"/>
          <p:cNvSpPr txBox="1"/>
          <p:nvPr/>
        </p:nvSpPr>
        <p:spPr>
          <a:xfrm>
            <a:off x="7935686" y="4526280"/>
            <a:ext cx="2743200" cy="731520"/>
          </a:xfrm>
          <a:prstGeom prst="roundRect">
            <a:avLst>
              <a:gd name="adj" fmla="val 10000"/>
            </a:avLst>
          </a:prstGeom>
          <a:solidFill>
            <a:schemeClr val="accent5">
              <a:alpha val="14000"/>
            </a:schemeClr>
          </a:solidFill>
          <a:ln w="9525">
            <a:solidFill>
              <a:schemeClr val="accent5"/>
            </a:solidFill>
          </a:ln>
        </p:spPr>
        <p:txBody>
          <a:bodyPr wrap="square" lIns="50800" tIns="50800" rIns="50800" bIns="50800" rtlCol="0" anchor="ctr"/>
          <a:lstStyle/>
          <a:p>
            <a:pPr algn="ctr" indent="0" marL="0">
              <a:buNone/>
            </a:pPr>
            <a:r>
              <a:rPr lang="en-US" sz="1100" dirty="0">
                <a:solidFill>
                  <a:schemeClr val="tx1"/>
                </a:solidFill>
              </a:rPr>
              <a:t>QA sampling → feedback to prompts &amp; evaluation sets</a:t>
            </a:r>
            <a:endParaRPr lang="en-US" sz="1100" dirty="0"/>
          </a:p>
        </p:txBody>
      </p:sp>
      <p:sp>
        <p:nvSpPr>
          <p:cNvPr id="23" name="Shape 20"/>
          <p:cNvSpPr/>
          <p:nvPr/>
        </p:nvSpPr>
        <p:spPr>
          <a:xfrm flipV="1">
            <a:off x="9307286" y="4023360"/>
            <a:ext cx="0" cy="502920"/>
          </a:xfrm>
          <a:prstGeom prst="line">
            <a:avLst/>
          </a:prstGeom>
          <a:noFill/>
          <a:ln w="19050">
            <a:solidFill>
              <a:schemeClr val="accent5"/>
            </a:solidFill>
            <a:prstDash val="solid"/>
            <a:tailEnd type="triangle"/>
          </a:ln>
        </p:spPr>
      </p:sp>
      <p:sp>
        <p:nvSpPr>
          <p:cNvPr id="24" name="Shape 21"/>
          <p:cNvSpPr/>
          <p:nvPr/>
        </p:nvSpPr>
        <p:spPr>
          <a:xfrm>
            <a:off x="548640" y="5486400"/>
            <a:ext cx="11064240" cy="731520"/>
          </a:xfrm>
          <a:prstGeom prst="roundRect">
            <a:avLst>
              <a:gd name="adj" fmla="val 12500"/>
            </a:avLst>
          </a:prstGeom>
          <a:solidFill>
            <a:schemeClr val="tx2"/>
          </a:solidFill>
          <a:ln w="9525">
            <a:solidFill>
              <a:schemeClr val="tx2"/>
            </a:solidFill>
            <a:prstDash val="solid"/>
          </a:ln>
        </p:spPr>
      </p:sp>
      <p:sp>
        <p:nvSpPr>
          <p:cNvPr id="25" name="Text 22"/>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200" b="1" dirty="0">
                <a:solidFill>
                  <a:schemeClr val="accent2"/>
                </a:solidFill>
              </a:rPr>
              <a:t>Governance layer:  </a:t>
            </a:r>
            <a:pPr indent="0" marL="0">
              <a:buNone/>
            </a:pPr>
            <a:r>
              <a:rPr lang="en-US" sz="1200" dirty="0">
                <a:solidFill>
                  <a:schemeClr val="bg1"/>
                </a:solidFill>
              </a:rPr>
              <a:t>strict need-to-know access · no tipping-off · every claim traceable to a record · MLRO approval · retention as per PMLA rules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Use Case 3: Implementation Workflow</a:t>
            </a:r>
            <a:endParaRPr lang="en-US" sz="3200" dirty="0"/>
          </a:p>
        </p:txBody>
      </p:sp>
      <p:sp>
        <p:nvSpPr>
          <p:cNvPr id="4" name="Shape 1"/>
          <p:cNvSpPr/>
          <p:nvPr/>
        </p:nvSpPr>
        <p:spPr>
          <a:xfrm>
            <a:off x="1280160" y="1783080"/>
            <a:ext cx="9601200" cy="0"/>
          </a:xfrm>
          <a:prstGeom prst="line">
            <a:avLst/>
          </a:prstGeom>
          <a:noFill/>
          <a:ln w="25400">
            <a:solidFill>
              <a:schemeClr val="accent5"/>
            </a:solidFill>
            <a:prstDash val="solid"/>
          </a:ln>
        </p:spPr>
      </p:sp>
      <p:sp>
        <p:nvSpPr>
          <p:cNvPr id="5" name="Text 2"/>
          <p:cNvSpPr txBox="1"/>
          <p:nvPr/>
        </p:nvSpPr>
        <p:spPr>
          <a:xfrm>
            <a:off x="1005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48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Scope</a:t>
            </a:r>
            <a:endParaRPr lang="en-US" sz="1400" dirty="0"/>
          </a:p>
        </p:txBody>
      </p:sp>
      <p:sp>
        <p:nvSpPr>
          <p:cNvPr id="7" name="Text 4"/>
          <p:cNvSpPr txBox="1"/>
          <p:nvPr/>
        </p:nvSpPr>
        <p:spPr>
          <a:xfrm>
            <a:off x="548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Choose alert types (e.g., mule accounts, structuring); baseline time per alert and STR quality.</a:t>
            </a:r>
            <a:endParaRPr lang="en-US" sz="1300" dirty="0"/>
          </a:p>
        </p:txBody>
      </p:sp>
      <p:sp>
        <p:nvSpPr>
          <p:cNvPr id="8" name="Text 5"/>
          <p:cNvSpPr txBox="1"/>
          <p:nvPr/>
        </p:nvSpPr>
        <p:spPr>
          <a:xfrm>
            <a:off x="26060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2148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Data integration</a:t>
            </a:r>
            <a:endParaRPr lang="en-US" sz="1400" dirty="0"/>
          </a:p>
        </p:txBody>
      </p:sp>
      <p:sp>
        <p:nvSpPr>
          <p:cNvPr id="10" name="Text 7"/>
          <p:cNvSpPr txBox="1"/>
          <p:nvPr/>
        </p:nvSpPr>
        <p:spPr>
          <a:xfrm>
            <a:off x="2148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Connect TMS, KYC, CRM, case history, sanctions and adverse media sources.</a:t>
            </a:r>
            <a:endParaRPr lang="en-US" sz="1300" dirty="0"/>
          </a:p>
        </p:txBody>
      </p:sp>
      <p:sp>
        <p:nvSpPr>
          <p:cNvPr id="11" name="Text 8"/>
          <p:cNvSpPr txBox="1"/>
          <p:nvPr/>
        </p:nvSpPr>
        <p:spPr>
          <a:xfrm>
            <a:off x="42062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37490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Knowledge base</a:t>
            </a:r>
            <a:endParaRPr lang="en-US" sz="1400" dirty="0"/>
          </a:p>
        </p:txBody>
      </p:sp>
      <p:sp>
        <p:nvSpPr>
          <p:cNvPr id="13" name="Text 10"/>
          <p:cNvSpPr txBox="1"/>
          <p:nvPr/>
        </p:nvSpPr>
        <p:spPr>
          <a:xfrm>
            <a:off x="37490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Index AML typologies, internal SOPs, FIU-IND guidance and approved past STRs.</a:t>
            </a:r>
            <a:endParaRPr lang="en-US" sz="1300" dirty="0"/>
          </a:p>
        </p:txBody>
      </p:sp>
      <p:sp>
        <p:nvSpPr>
          <p:cNvPr id="14" name="Text 11"/>
          <p:cNvSpPr txBox="1"/>
          <p:nvPr/>
        </p:nvSpPr>
        <p:spPr>
          <a:xfrm>
            <a:off x="58064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53492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Build copilot</a:t>
            </a:r>
            <a:endParaRPr lang="en-US" sz="1400" dirty="0"/>
          </a:p>
        </p:txBody>
      </p:sp>
      <p:sp>
        <p:nvSpPr>
          <p:cNvPr id="16" name="Text 13"/>
          <p:cNvSpPr txBox="1"/>
          <p:nvPr/>
        </p:nvSpPr>
        <p:spPr>
          <a:xfrm>
            <a:off x="53492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Case summary, timeline, red-flag mapping and STR draft with evidence links.</a:t>
            </a:r>
            <a:endParaRPr lang="en-US" sz="1300" dirty="0"/>
          </a:p>
        </p:txBody>
      </p:sp>
      <p:sp>
        <p:nvSpPr>
          <p:cNvPr id="17" name="Text 14"/>
          <p:cNvSpPr txBox="1"/>
          <p:nvPr/>
        </p:nvSpPr>
        <p:spPr>
          <a:xfrm>
            <a:off x="74066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69494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Validate</a:t>
            </a:r>
            <a:endParaRPr lang="en-US" sz="1400" dirty="0"/>
          </a:p>
        </p:txBody>
      </p:sp>
      <p:sp>
        <p:nvSpPr>
          <p:cNvPr id="19" name="Text 16"/>
          <p:cNvSpPr txBox="1"/>
          <p:nvPr/>
        </p:nvSpPr>
        <p:spPr>
          <a:xfrm>
            <a:off x="69494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Investigator and QA scoring; verify every cited fact; MLRO sign-off.</a:t>
            </a:r>
            <a:endParaRPr lang="en-US" sz="1300" dirty="0"/>
          </a:p>
        </p:txBody>
      </p:sp>
      <p:sp>
        <p:nvSpPr>
          <p:cNvPr id="20" name="Text 17"/>
          <p:cNvSpPr txBox="1"/>
          <p:nvPr/>
        </p:nvSpPr>
        <p:spPr>
          <a:xfrm>
            <a:off x="9006840" y="15087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85496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Pilot</a:t>
            </a:r>
            <a:endParaRPr lang="en-US" sz="1400" dirty="0"/>
          </a:p>
        </p:txBody>
      </p:sp>
      <p:sp>
        <p:nvSpPr>
          <p:cNvPr id="22" name="Text 19"/>
          <p:cNvSpPr txBox="1"/>
          <p:nvPr/>
        </p:nvSpPr>
        <p:spPr>
          <a:xfrm>
            <a:off x="85496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One investigation team; copilot drafts, humans decide; measure time and quality.</a:t>
            </a:r>
            <a:endParaRPr lang="en-US" sz="1300" dirty="0"/>
          </a:p>
        </p:txBody>
      </p:sp>
      <p:sp>
        <p:nvSpPr>
          <p:cNvPr id="23" name="Text 20"/>
          <p:cNvSpPr txBox="1"/>
          <p:nvPr/>
        </p:nvSpPr>
        <p:spPr>
          <a:xfrm>
            <a:off x="10607040" y="150876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24" name="Text 21"/>
          <p:cNvSpPr txBox="1"/>
          <p:nvPr/>
        </p:nvSpPr>
        <p:spPr>
          <a:xfrm>
            <a:off x="10149840" y="2240280"/>
            <a:ext cx="1463040" cy="502920"/>
          </a:xfrm>
          <a:prstGeom prst="rect">
            <a:avLst/>
          </a:prstGeom>
          <a:noFill/>
          <a:ln/>
        </p:spPr>
        <p:txBody>
          <a:bodyPr wrap="square" lIns="0" tIns="0" rIns="0" bIns="0" rtlCol="0" anchor="t"/>
          <a:lstStyle/>
          <a:p>
            <a:pPr algn="l" indent="0" marL="0">
              <a:buNone/>
            </a:pPr>
            <a:r>
              <a:rPr lang="en-US" sz="1400" b="1" dirty="0">
                <a:solidFill>
                  <a:schemeClr val="tx2"/>
                </a:solidFill>
              </a:rPr>
              <a:t>Scale</a:t>
            </a:r>
            <a:endParaRPr lang="en-US" sz="1400" dirty="0"/>
          </a:p>
        </p:txBody>
      </p:sp>
      <p:sp>
        <p:nvSpPr>
          <p:cNvPr id="25" name="Text 22"/>
          <p:cNvSpPr txBox="1"/>
          <p:nvPr/>
        </p:nvSpPr>
        <p:spPr>
          <a:xfrm>
            <a:off x="10149840" y="2788920"/>
            <a:ext cx="1463040" cy="2011680"/>
          </a:xfrm>
          <a:prstGeom prst="rect">
            <a:avLst/>
          </a:prstGeom>
          <a:noFill/>
          <a:ln/>
        </p:spPr>
        <p:txBody>
          <a:bodyPr wrap="square" lIns="0" tIns="0" rIns="0" bIns="0" rtlCol="0" anchor="t"/>
          <a:lstStyle/>
          <a:p>
            <a:pPr algn="l" indent="0" marL="0">
              <a:buNone/>
            </a:pPr>
            <a:r>
              <a:rPr lang="en-US" sz="1300" dirty="0">
                <a:solidFill>
                  <a:schemeClr val="tx1"/>
                </a:solidFill>
              </a:rPr>
              <a:t>Roll out across teams; feed QA results into prompts and evals; periodic model review.</a:t>
            </a:r>
            <a:endParaRPr lang="en-US" sz="1300" dirty="0"/>
          </a:p>
        </p:txBody>
      </p:sp>
      <p:sp>
        <p:nvSpPr>
          <p:cNvPr id="26" name="Shape 23"/>
          <p:cNvSpPr/>
          <p:nvPr/>
        </p:nvSpPr>
        <p:spPr>
          <a:xfrm>
            <a:off x="548640" y="4983480"/>
            <a:ext cx="6949440" cy="1097280"/>
          </a:xfrm>
          <a:prstGeom prst="roundRect">
            <a:avLst>
              <a:gd name="adj" fmla="val 8333"/>
            </a:avLst>
          </a:prstGeom>
          <a:solidFill>
            <a:schemeClr val="bg2"/>
          </a:solidFill>
          <a:ln w="9525">
            <a:solidFill>
              <a:schemeClr val="bg2"/>
            </a:solidFill>
            <a:prstDash val="solid"/>
          </a:ln>
        </p:spPr>
      </p:sp>
      <p:sp>
        <p:nvSpPr>
          <p:cNvPr id="27" name="Text 24"/>
          <p:cNvSpPr txBox="1"/>
          <p:nvPr/>
        </p:nvSpPr>
        <p:spPr>
          <a:xfrm>
            <a:off x="777240" y="5074920"/>
            <a:ext cx="6492240" cy="914400"/>
          </a:xfrm>
          <a:prstGeom prst="rect">
            <a:avLst/>
          </a:prstGeom>
          <a:noFill/>
          <a:ln/>
        </p:spPr>
        <p:txBody>
          <a:bodyPr wrap="square" lIns="0" tIns="0" rIns="0" bIns="0" rtlCol="0" anchor="ctr"/>
          <a:lstStyle/>
          <a:p>
            <a:pPr indent="0" marL="0">
              <a:buNone/>
            </a:pPr>
            <a:r>
              <a:rPr lang="en-US" sz="1300" b="1" dirty="0">
                <a:solidFill>
                  <a:schemeClr val="accent1"/>
                </a:solidFill>
              </a:rPr>
              <a:t>Core team</a:t>
            </a:r>
            <a:endParaRPr lang="en-US" sz="1400" dirty="0"/>
          </a:p>
          <a:p>
            <a:pPr indent="0" marL="0">
              <a:buNone/>
            </a:pPr>
            <a:r>
              <a:rPr lang="en-US" sz="1300" dirty="0">
                <a:solidFill>
                  <a:schemeClr val="tx1"/>
                </a:solidFill>
              </a:rPr>
              <a:t>Financial crime unit · MLRO / Principal Officer · Data engineers · LLM engineers · InfoSec · Internal audit</a:t>
            </a:r>
            <a:endParaRPr lang="en-US" sz="1400" dirty="0"/>
          </a:p>
        </p:txBody>
      </p:sp>
      <p:sp>
        <p:nvSpPr>
          <p:cNvPr id="28" name="Shape 25"/>
          <p:cNvSpPr/>
          <p:nvPr/>
        </p:nvSpPr>
        <p:spPr>
          <a:xfrm>
            <a:off x="7726680" y="4983480"/>
            <a:ext cx="3886200" cy="1097280"/>
          </a:xfrm>
          <a:prstGeom prst="roundRect">
            <a:avLst>
              <a:gd name="adj" fmla="val 8333"/>
            </a:avLst>
          </a:prstGeom>
          <a:solidFill>
            <a:schemeClr val="accent2">
              <a:alpha val="20000"/>
            </a:schemeClr>
          </a:solidFill>
          <a:ln w="9525">
            <a:solidFill>
              <a:schemeClr val="accent2"/>
            </a:solidFill>
            <a:prstDash val="solid"/>
          </a:ln>
        </p:spPr>
      </p:sp>
      <p:sp>
        <p:nvSpPr>
          <p:cNvPr id="29" name="Text 26"/>
          <p:cNvSpPr txBox="1"/>
          <p:nvPr/>
        </p:nvSpPr>
        <p:spPr>
          <a:xfrm>
            <a:off x="7909560" y="5074920"/>
            <a:ext cx="3566160" cy="914400"/>
          </a:xfrm>
          <a:prstGeom prst="rect">
            <a:avLst/>
          </a:prstGeom>
          <a:noFill/>
          <a:ln/>
        </p:spPr>
        <p:txBody>
          <a:bodyPr wrap="square" lIns="0" tIns="0" rIns="0" bIns="0" rtlCol="0" anchor="ctr"/>
          <a:lstStyle/>
          <a:p>
            <a:pPr indent="0" marL="0">
              <a:buNone/>
            </a:pPr>
            <a:r>
              <a:rPr lang="en-US" sz="1300" b="1" dirty="0">
                <a:solidFill>
                  <a:schemeClr val="tx2"/>
                </a:solidFill>
              </a:rPr>
              <a:t>Indicative timeline</a:t>
            </a:r>
            <a:endParaRPr lang="en-US" sz="1400" dirty="0"/>
          </a:p>
          <a:p>
            <a:pPr indent="0" marL="0">
              <a:buNone/>
            </a:pPr>
            <a:r>
              <a:rPr lang="en-US" sz="1300" dirty="0">
                <a:solidFill>
                  <a:schemeClr val="tx1"/>
                </a:solidFill>
              </a:rPr>
              <a:t>~12–18 weeks to pilot, with strict data access controls throughout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1463040"/>
            <a:ext cx="2743200" cy="1097280"/>
          </a:xfrm>
          <a:prstGeom prst="rect">
            <a:avLst/>
          </a:prstGeom>
          <a:noFill/>
          <a:ln/>
        </p:spPr>
        <p:txBody>
          <a:bodyPr wrap="square" lIns="0" tIns="0" rIns="0" bIns="0" rtlCol="0" anchor="b"/>
          <a:lstStyle/>
          <a:p>
            <a:pPr indent="0" marL="0">
              <a:buNone/>
            </a:pPr>
            <a:r>
              <a:rPr lang="en-US" sz="6000" b="1" dirty="0">
                <a:solidFill>
                  <a:schemeClr val="accent2"/>
                </a:solidFill>
                <a:latin typeface="Cambria" pitchFamily="34" charset="0"/>
                <a:ea typeface="Cambria" pitchFamily="34" charset="-122"/>
                <a:cs typeface="Cambria" pitchFamily="34" charset="-120"/>
              </a:rPr>
              <a:t>05</a:t>
            </a:r>
            <a:endParaRPr lang="en-US" sz="6000" dirty="0"/>
          </a:p>
        </p:txBody>
      </p:sp>
      <p:sp>
        <p:nvSpPr>
          <p:cNvPr id="3"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rPr>
              <a:t>Responsible Practice</a:t>
            </a:r>
            <a:endParaRPr lang="en-US" sz="4000" dirty="0"/>
          </a:p>
        </p:txBody>
      </p:sp>
      <p:sp>
        <p:nvSpPr>
          <p:cNvPr id="4" name="Text 0"/>
          <p:cNvSpPr/>
          <p:nvPr>
            <p:ph idx="101" type="body" hasCustomPrompt="1"/>
          </p:nvPr>
        </p:nvSpPr>
        <p:spPr>
          <a:xfrm>
            <a:off x="731520" y="3794760"/>
            <a:ext cx="10515600" cy="731520"/>
          </a:xfrm>
          <a:prstGeom prst="rect">
            <a:avLst/>
          </a:prstGeom>
          <a:noFill/>
          <a:ln/>
        </p:spPr>
        <p:txBody>
          <a:bodyPr wrap="square" rtlCol="0" anchor="t"/>
          <a:lstStyle/>
          <a:p>
            <a:pPr algn="l" indent="0" marL="0">
              <a:buNone/>
            </a:pPr>
            <a:r>
              <a:rPr lang="en-US" sz="1800" dirty="0">
                <a:solidFill>
                  <a:schemeClr val="accent2"/>
                </a:solidFill>
              </a:rPr>
              <a:t>Dos &amp; don’ts · standard practices · prompting standards</a:t>
            </a:r>
            <a:endParaRPr lang="en-US" sz="1800" dirty="0"/>
          </a:p>
        </p:txBody>
      </p:sp>
      <p:sp>
        <p:nvSpPr>
          <p:cNvPr id="5" name="Shape 3"/>
          <p:cNvSpPr/>
          <p:nvPr/>
        </p:nvSpPr>
        <p:spPr>
          <a:xfrm>
            <a:off x="9326880" y="4206240"/>
            <a:ext cx="3108960" cy="3108960"/>
          </a:xfrm>
          <a:prstGeom prst="ellipse">
            <a:avLst/>
          </a:prstGeom>
          <a:solidFill>
            <a:schemeClr val="accent1">
              <a:alpha val="0"/>
            </a:schemeClr>
          </a:solidFill>
          <a:ln w="25400">
            <a:solidFill>
              <a:schemeClr val="accent1">
                <a:alpha val="40000"/>
              </a:schemeClr>
            </a:solidFill>
            <a:prstDash val="solid"/>
          </a:ln>
        </p:spPr>
      </p:sp>
      <p:sp>
        <p:nvSpPr>
          <p:cNvPr id="6" name="Shape 4"/>
          <p:cNvSpPr/>
          <p:nvPr/>
        </p:nvSpPr>
        <p:spPr>
          <a:xfrm>
            <a:off x="9829800" y="4709160"/>
            <a:ext cx="2103120" cy="2103120"/>
          </a:xfrm>
          <a:prstGeom prst="ellipse">
            <a:avLst/>
          </a:prstGeom>
          <a:solidFill>
            <a:schemeClr val="accent2">
              <a:alpha val="0"/>
            </a:schemeClr>
          </a:solidFill>
          <a:ln w="25400">
            <a:solidFill>
              <a:schemeClr val="accent2">
                <a:alpha val="60000"/>
              </a:schemeClr>
            </a:solidFill>
            <a:prstDash val="solid"/>
          </a:ln>
        </p:spPr>
      </p:sp>
      <p:sp>
        <p:nvSpPr>
          <p:cNvPr id="7" name="Shape 5"/>
          <p:cNvSpPr/>
          <p:nvPr/>
        </p:nvSpPr>
        <p:spPr>
          <a:xfrm>
            <a:off x="10287000" y="5166360"/>
            <a:ext cx="1188720" cy="1188720"/>
          </a:xfrm>
          <a:prstGeom prst="ellipse">
            <a:avLst/>
          </a:prstGeom>
          <a:solidFill>
            <a:schemeClr val="accent2"/>
          </a:solidFill>
          <a:ln w="25400">
            <a:solidFill>
              <a:schemeClr val="accent2"/>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Dos and Don’ts for GenAI in Banking</a:t>
            </a:r>
            <a:endParaRPr lang="en-US" sz="3200" dirty="0"/>
          </a:p>
        </p:txBody>
      </p:sp>
      <p:sp>
        <p:nvSpPr>
          <p:cNvPr id="3" name="Shape 1"/>
          <p:cNvSpPr/>
          <p:nvPr/>
        </p:nvSpPr>
        <p:spPr>
          <a:xfrm>
            <a:off x="548640" y="1371600"/>
            <a:ext cx="5440680" cy="4846320"/>
          </a:xfrm>
          <a:prstGeom prst="roundRect">
            <a:avLst>
              <a:gd name="adj" fmla="val 1887"/>
            </a:avLst>
          </a:prstGeom>
          <a:solidFill>
            <a:schemeClr val="accent1">
              <a:alpha val="10000"/>
            </a:schemeClr>
          </a:solidFill>
          <a:ln w="9525">
            <a:solidFill>
              <a:schemeClr val="accent1"/>
            </a:solidFill>
            <a:prstDash val="solid"/>
          </a:ln>
        </p:spPr>
      </p:sp>
      <p:sp>
        <p:nvSpPr>
          <p:cNvPr id="4" name="Shape 2"/>
          <p:cNvSpPr/>
          <p:nvPr/>
        </p:nvSpPr>
        <p:spPr>
          <a:xfrm>
            <a:off x="777240" y="150876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02970" y="1634490"/>
            <a:ext cx="251460" cy="251460"/>
          </a:xfrm>
          <a:prstGeom prst="rect">
            <a:avLst/>
          </a:prstGeom>
        </p:spPr>
      </p:pic>
      <p:sp>
        <p:nvSpPr>
          <p:cNvPr id="6" name="Text 3"/>
          <p:cNvSpPr txBox="1"/>
          <p:nvPr/>
        </p:nvSpPr>
        <p:spPr>
          <a:xfrm>
            <a:off x="1417320" y="1508760"/>
            <a:ext cx="365760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Do</a:t>
            </a:r>
            <a:endParaRPr lang="en-US" sz="2000" dirty="0"/>
          </a:p>
        </p:txBody>
      </p:sp>
      <p:sp>
        <p:nvSpPr>
          <p:cNvPr id="7" name="Shape 4"/>
          <p:cNvSpPr/>
          <p:nvPr/>
        </p:nvSpPr>
        <p:spPr>
          <a:xfrm>
            <a:off x="868680" y="2313432"/>
            <a:ext cx="146304" cy="146304"/>
          </a:xfrm>
          <a:prstGeom prst="ellipse">
            <a:avLst/>
          </a:prstGeom>
          <a:solidFill>
            <a:schemeClr val="accent1"/>
          </a:solidFill>
          <a:ln w="12700">
            <a:solidFill>
              <a:schemeClr val="accent1"/>
            </a:solidFill>
            <a:prstDash val="solid"/>
          </a:ln>
        </p:spPr>
      </p:sp>
      <p:sp>
        <p:nvSpPr>
          <p:cNvPr id="8" name="Text 5"/>
          <p:cNvSpPr txBox="1"/>
          <p:nvPr/>
        </p:nvSpPr>
        <p:spPr>
          <a:xfrm>
            <a:off x="1188720" y="2194560"/>
            <a:ext cx="4617720" cy="411480"/>
          </a:xfrm>
          <a:prstGeom prst="rect">
            <a:avLst/>
          </a:prstGeom>
          <a:noFill/>
          <a:ln/>
        </p:spPr>
        <p:txBody>
          <a:bodyPr wrap="square" lIns="0" tIns="0" rIns="0" bIns="0" rtlCol="0" anchor="ctr"/>
          <a:lstStyle/>
          <a:p>
            <a:pPr indent="0" marL="0">
              <a:buNone/>
            </a:pPr>
            <a:r>
              <a:rPr lang="en-US" sz="1400" dirty="0">
                <a:solidFill>
                  <a:schemeClr val="tx1"/>
                </a:solidFill>
              </a:rPr>
              <a:t>Start with low-risk, high-volume internal use cases</a:t>
            </a:r>
            <a:endParaRPr lang="en-US" sz="1400" dirty="0"/>
          </a:p>
        </p:txBody>
      </p:sp>
      <p:sp>
        <p:nvSpPr>
          <p:cNvPr id="9" name="Shape 6"/>
          <p:cNvSpPr/>
          <p:nvPr/>
        </p:nvSpPr>
        <p:spPr>
          <a:xfrm>
            <a:off x="868680" y="2862072"/>
            <a:ext cx="146304" cy="146304"/>
          </a:xfrm>
          <a:prstGeom prst="ellipse">
            <a:avLst/>
          </a:prstGeom>
          <a:solidFill>
            <a:schemeClr val="accent1"/>
          </a:solidFill>
          <a:ln w="12700">
            <a:solidFill>
              <a:schemeClr val="accent1"/>
            </a:solidFill>
            <a:prstDash val="solid"/>
          </a:ln>
        </p:spPr>
      </p:sp>
      <p:sp>
        <p:nvSpPr>
          <p:cNvPr id="10" name="Text 7"/>
          <p:cNvSpPr txBox="1"/>
          <p:nvPr/>
        </p:nvSpPr>
        <p:spPr>
          <a:xfrm>
            <a:off x="1188720" y="2743200"/>
            <a:ext cx="4617720" cy="411480"/>
          </a:xfrm>
          <a:prstGeom prst="rect">
            <a:avLst/>
          </a:prstGeom>
          <a:noFill/>
          <a:ln/>
        </p:spPr>
        <p:txBody>
          <a:bodyPr wrap="square" lIns="0" tIns="0" rIns="0" bIns="0" rtlCol="0" anchor="ctr"/>
          <a:lstStyle/>
          <a:p>
            <a:pPr indent="0" marL="0">
              <a:buNone/>
            </a:pPr>
            <a:r>
              <a:rPr lang="en-US" sz="1400" dirty="0">
                <a:solidFill>
                  <a:schemeClr val="tx1"/>
                </a:solidFill>
              </a:rPr>
              <a:t>Ground answers in approved data (RAG) with citations</a:t>
            </a:r>
            <a:endParaRPr lang="en-US" sz="1400" dirty="0"/>
          </a:p>
        </p:txBody>
      </p:sp>
      <p:sp>
        <p:nvSpPr>
          <p:cNvPr id="11" name="Shape 8"/>
          <p:cNvSpPr/>
          <p:nvPr/>
        </p:nvSpPr>
        <p:spPr>
          <a:xfrm>
            <a:off x="868680" y="3410712"/>
            <a:ext cx="146304" cy="146304"/>
          </a:xfrm>
          <a:prstGeom prst="ellipse">
            <a:avLst/>
          </a:prstGeom>
          <a:solidFill>
            <a:schemeClr val="accent1"/>
          </a:solidFill>
          <a:ln w="12700">
            <a:solidFill>
              <a:schemeClr val="accent1"/>
            </a:solidFill>
            <a:prstDash val="solid"/>
          </a:ln>
        </p:spPr>
      </p:sp>
      <p:sp>
        <p:nvSpPr>
          <p:cNvPr id="12" name="Text 9"/>
          <p:cNvSpPr txBox="1"/>
          <p:nvPr/>
        </p:nvSpPr>
        <p:spPr>
          <a:xfrm>
            <a:off x="1188720" y="3291840"/>
            <a:ext cx="4617720" cy="411480"/>
          </a:xfrm>
          <a:prstGeom prst="rect">
            <a:avLst/>
          </a:prstGeom>
          <a:noFill/>
          <a:ln/>
        </p:spPr>
        <p:txBody>
          <a:bodyPr wrap="square" lIns="0" tIns="0" rIns="0" bIns="0" rtlCol="0" anchor="ctr"/>
          <a:lstStyle/>
          <a:p>
            <a:pPr indent="0" marL="0">
              <a:buNone/>
            </a:pPr>
            <a:r>
              <a:rPr lang="en-US" sz="1400" dirty="0">
                <a:solidFill>
                  <a:schemeClr val="tx1"/>
                </a:solidFill>
              </a:rPr>
              <a:t>Keep a human in the loop for customer-impacting decisions</a:t>
            </a:r>
            <a:endParaRPr lang="en-US" sz="1400" dirty="0"/>
          </a:p>
        </p:txBody>
      </p:sp>
      <p:sp>
        <p:nvSpPr>
          <p:cNvPr id="13" name="Shape 10"/>
          <p:cNvSpPr/>
          <p:nvPr/>
        </p:nvSpPr>
        <p:spPr>
          <a:xfrm>
            <a:off x="868680" y="3959352"/>
            <a:ext cx="146304" cy="146304"/>
          </a:xfrm>
          <a:prstGeom prst="ellipse">
            <a:avLst/>
          </a:prstGeom>
          <a:solidFill>
            <a:schemeClr val="accent1"/>
          </a:solidFill>
          <a:ln w="12700">
            <a:solidFill>
              <a:schemeClr val="accent1"/>
            </a:solidFill>
            <a:prstDash val="solid"/>
          </a:ln>
        </p:spPr>
      </p:sp>
      <p:sp>
        <p:nvSpPr>
          <p:cNvPr id="14" name="Text 11"/>
          <p:cNvSpPr txBox="1"/>
          <p:nvPr/>
        </p:nvSpPr>
        <p:spPr>
          <a:xfrm>
            <a:off x="1188720" y="3840480"/>
            <a:ext cx="4617720" cy="411480"/>
          </a:xfrm>
          <a:prstGeom prst="rect">
            <a:avLst/>
          </a:prstGeom>
          <a:noFill/>
          <a:ln/>
        </p:spPr>
        <p:txBody>
          <a:bodyPr wrap="square" lIns="0" tIns="0" rIns="0" bIns="0" rtlCol="0" anchor="ctr"/>
          <a:lstStyle/>
          <a:p>
            <a:pPr indent="0" marL="0">
              <a:buNone/>
            </a:pPr>
            <a:r>
              <a:rPr lang="en-US" sz="1400" dirty="0">
                <a:solidFill>
                  <a:schemeClr val="tx1"/>
                </a:solidFill>
              </a:rPr>
              <a:t>Mask PII and use private or VPC-hosted models</a:t>
            </a:r>
            <a:endParaRPr lang="en-US" sz="1400" dirty="0"/>
          </a:p>
        </p:txBody>
      </p:sp>
      <p:sp>
        <p:nvSpPr>
          <p:cNvPr id="15" name="Shape 12"/>
          <p:cNvSpPr/>
          <p:nvPr/>
        </p:nvSpPr>
        <p:spPr>
          <a:xfrm>
            <a:off x="868680" y="4507992"/>
            <a:ext cx="146304" cy="146304"/>
          </a:xfrm>
          <a:prstGeom prst="ellipse">
            <a:avLst/>
          </a:prstGeom>
          <a:solidFill>
            <a:schemeClr val="accent1"/>
          </a:solidFill>
          <a:ln w="12700">
            <a:solidFill>
              <a:schemeClr val="accent1"/>
            </a:solidFill>
            <a:prstDash val="solid"/>
          </a:ln>
        </p:spPr>
      </p:sp>
      <p:sp>
        <p:nvSpPr>
          <p:cNvPr id="16" name="Text 13"/>
          <p:cNvSpPr txBox="1"/>
          <p:nvPr/>
        </p:nvSpPr>
        <p:spPr>
          <a:xfrm>
            <a:off x="1188720" y="4389120"/>
            <a:ext cx="4617720" cy="411480"/>
          </a:xfrm>
          <a:prstGeom prst="rect">
            <a:avLst/>
          </a:prstGeom>
          <a:noFill/>
          <a:ln/>
        </p:spPr>
        <p:txBody>
          <a:bodyPr wrap="square" lIns="0" tIns="0" rIns="0" bIns="0" rtlCol="0" anchor="ctr"/>
          <a:lstStyle/>
          <a:p>
            <a:pPr indent="0" marL="0">
              <a:buNone/>
            </a:pPr>
            <a:r>
              <a:rPr lang="en-US" sz="1400" dirty="0">
                <a:solidFill>
                  <a:schemeClr val="tx1"/>
                </a:solidFill>
              </a:rPr>
              <a:t>Build evaluation sets and red-team before launch</a:t>
            </a:r>
            <a:endParaRPr lang="en-US" sz="1400" dirty="0"/>
          </a:p>
        </p:txBody>
      </p:sp>
      <p:sp>
        <p:nvSpPr>
          <p:cNvPr id="17" name="Shape 14"/>
          <p:cNvSpPr/>
          <p:nvPr/>
        </p:nvSpPr>
        <p:spPr>
          <a:xfrm>
            <a:off x="868680" y="5056632"/>
            <a:ext cx="146304" cy="146304"/>
          </a:xfrm>
          <a:prstGeom prst="ellipse">
            <a:avLst/>
          </a:prstGeom>
          <a:solidFill>
            <a:schemeClr val="accent1"/>
          </a:solidFill>
          <a:ln w="12700">
            <a:solidFill>
              <a:schemeClr val="accent1"/>
            </a:solidFill>
            <a:prstDash val="solid"/>
          </a:ln>
        </p:spPr>
      </p:sp>
      <p:sp>
        <p:nvSpPr>
          <p:cNvPr id="18" name="Text 15"/>
          <p:cNvSpPr txBox="1"/>
          <p:nvPr/>
        </p:nvSpPr>
        <p:spPr>
          <a:xfrm>
            <a:off x="1188720" y="4937760"/>
            <a:ext cx="4617720" cy="411480"/>
          </a:xfrm>
          <a:prstGeom prst="rect">
            <a:avLst/>
          </a:prstGeom>
          <a:noFill/>
          <a:ln/>
        </p:spPr>
        <p:txBody>
          <a:bodyPr wrap="square" lIns="0" tIns="0" rIns="0" bIns="0" rtlCol="0" anchor="ctr"/>
          <a:lstStyle/>
          <a:p>
            <a:pPr indent="0" marL="0">
              <a:buNone/>
            </a:pPr>
            <a:r>
              <a:rPr lang="en-US" sz="1400" dirty="0">
                <a:solidFill>
                  <a:schemeClr val="tx1"/>
                </a:solidFill>
              </a:rPr>
              <a:t>Log prompts, outputs and model versions for audit</a:t>
            </a:r>
            <a:endParaRPr lang="en-US" sz="1400" dirty="0"/>
          </a:p>
        </p:txBody>
      </p:sp>
      <p:sp>
        <p:nvSpPr>
          <p:cNvPr id="19" name="Shape 16"/>
          <p:cNvSpPr/>
          <p:nvPr/>
        </p:nvSpPr>
        <p:spPr>
          <a:xfrm>
            <a:off x="868680" y="5605272"/>
            <a:ext cx="146304" cy="146304"/>
          </a:xfrm>
          <a:prstGeom prst="ellipse">
            <a:avLst/>
          </a:prstGeom>
          <a:solidFill>
            <a:schemeClr val="accent1"/>
          </a:solidFill>
          <a:ln w="12700">
            <a:solidFill>
              <a:schemeClr val="accent1"/>
            </a:solidFill>
            <a:prstDash val="solid"/>
          </a:ln>
        </p:spPr>
      </p:sp>
      <p:sp>
        <p:nvSpPr>
          <p:cNvPr id="20" name="Text 17"/>
          <p:cNvSpPr txBox="1"/>
          <p:nvPr/>
        </p:nvSpPr>
        <p:spPr>
          <a:xfrm>
            <a:off x="1188720" y="5486400"/>
            <a:ext cx="4617720" cy="411480"/>
          </a:xfrm>
          <a:prstGeom prst="rect">
            <a:avLst/>
          </a:prstGeom>
          <a:noFill/>
          <a:ln/>
        </p:spPr>
        <p:txBody>
          <a:bodyPr wrap="square" lIns="0" tIns="0" rIns="0" bIns="0" rtlCol="0" anchor="ctr"/>
          <a:lstStyle/>
          <a:p>
            <a:pPr indent="0" marL="0">
              <a:buNone/>
            </a:pPr>
            <a:r>
              <a:rPr lang="en-US" sz="1400" dirty="0">
                <a:solidFill>
                  <a:schemeClr val="tx1"/>
                </a:solidFill>
              </a:rPr>
              <a:t>Tell customers when they are talking to AI</a:t>
            </a:r>
            <a:endParaRPr lang="en-US" sz="1400" dirty="0"/>
          </a:p>
        </p:txBody>
      </p:sp>
      <p:sp>
        <p:nvSpPr>
          <p:cNvPr id="21" name="Shape 18"/>
          <p:cNvSpPr/>
          <p:nvPr/>
        </p:nvSpPr>
        <p:spPr>
          <a:xfrm>
            <a:off x="6172200" y="1371600"/>
            <a:ext cx="5440680" cy="4846320"/>
          </a:xfrm>
          <a:prstGeom prst="roundRect">
            <a:avLst>
              <a:gd name="adj" fmla="val 1887"/>
            </a:avLst>
          </a:prstGeom>
          <a:solidFill>
            <a:schemeClr val="accent4">
              <a:alpha val="10000"/>
            </a:schemeClr>
          </a:solidFill>
          <a:ln w="9525">
            <a:solidFill>
              <a:schemeClr val="accent4"/>
            </a:solidFill>
            <a:prstDash val="solid"/>
          </a:ln>
        </p:spPr>
      </p:sp>
      <p:sp>
        <p:nvSpPr>
          <p:cNvPr id="22" name="Shape 19"/>
          <p:cNvSpPr/>
          <p:nvPr/>
        </p:nvSpPr>
        <p:spPr>
          <a:xfrm>
            <a:off x="6400800" y="1508760"/>
            <a:ext cx="502920" cy="502920"/>
          </a:xfrm>
          <a:prstGeom prst="ellipse">
            <a:avLst/>
          </a:prstGeom>
          <a:solidFill>
            <a:schemeClr val="accent4"/>
          </a:solidFill>
          <a:ln w="12700">
            <a:solidFill>
              <a:schemeClr val="accent4"/>
            </a:solidFill>
            <a:prstDash val="solid"/>
          </a:ln>
        </p:spPr>
      </p:sp>
      <p:pic>
        <p:nvPicPr>
          <p:cNvPr id="23" name="Image 1" descr="preencoded.png">    </p:cNvPr>
          <p:cNvPicPr>
            <a:picLocks noChangeAspect="1"/>
          </p:cNvPicPr>
          <p:nvPr/>
        </p:nvPicPr>
        <p:blipFill>
          <a:blip r:embed="rId2"/>
          <a:stretch>
            <a:fillRect/>
          </a:stretch>
        </p:blipFill>
        <p:spPr>
          <a:xfrm>
            <a:off x="6526530" y="1634490"/>
            <a:ext cx="251460" cy="251460"/>
          </a:xfrm>
          <a:prstGeom prst="rect">
            <a:avLst/>
          </a:prstGeom>
        </p:spPr>
      </p:pic>
      <p:sp>
        <p:nvSpPr>
          <p:cNvPr id="24" name="Text 20"/>
          <p:cNvSpPr txBox="1"/>
          <p:nvPr/>
        </p:nvSpPr>
        <p:spPr>
          <a:xfrm>
            <a:off x="7040880" y="1508760"/>
            <a:ext cx="3657600" cy="50292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Don’t</a:t>
            </a:r>
            <a:endParaRPr lang="en-US" sz="2000" dirty="0"/>
          </a:p>
        </p:txBody>
      </p:sp>
      <p:sp>
        <p:nvSpPr>
          <p:cNvPr id="25" name="Shape 21"/>
          <p:cNvSpPr/>
          <p:nvPr/>
        </p:nvSpPr>
        <p:spPr>
          <a:xfrm>
            <a:off x="6492240" y="2313432"/>
            <a:ext cx="146304" cy="146304"/>
          </a:xfrm>
          <a:prstGeom prst="ellipse">
            <a:avLst/>
          </a:prstGeom>
          <a:solidFill>
            <a:schemeClr val="accent4"/>
          </a:solidFill>
          <a:ln w="12700">
            <a:solidFill>
              <a:schemeClr val="accent4"/>
            </a:solidFill>
            <a:prstDash val="solid"/>
          </a:ln>
        </p:spPr>
      </p:sp>
      <p:sp>
        <p:nvSpPr>
          <p:cNvPr id="26" name="Text 22"/>
          <p:cNvSpPr txBox="1"/>
          <p:nvPr/>
        </p:nvSpPr>
        <p:spPr>
          <a:xfrm>
            <a:off x="6812280" y="2194560"/>
            <a:ext cx="4617720" cy="411480"/>
          </a:xfrm>
          <a:prstGeom prst="rect">
            <a:avLst/>
          </a:prstGeom>
          <a:noFill/>
          <a:ln/>
        </p:spPr>
        <p:txBody>
          <a:bodyPr wrap="square" lIns="0" tIns="0" rIns="0" bIns="0" rtlCol="0" anchor="ctr"/>
          <a:lstStyle/>
          <a:p>
            <a:pPr indent="0" marL="0">
              <a:buNone/>
            </a:pPr>
            <a:r>
              <a:rPr lang="en-US" sz="1400" dirty="0">
                <a:solidFill>
                  <a:schemeClr val="tx1"/>
                </a:solidFill>
              </a:rPr>
              <a:t>Paste customer data into public GenAI tools</a:t>
            </a:r>
            <a:endParaRPr lang="en-US" sz="1400" dirty="0"/>
          </a:p>
        </p:txBody>
      </p:sp>
      <p:sp>
        <p:nvSpPr>
          <p:cNvPr id="27" name="Shape 23"/>
          <p:cNvSpPr/>
          <p:nvPr/>
        </p:nvSpPr>
        <p:spPr>
          <a:xfrm>
            <a:off x="6492240" y="2862072"/>
            <a:ext cx="146304" cy="146304"/>
          </a:xfrm>
          <a:prstGeom prst="ellipse">
            <a:avLst/>
          </a:prstGeom>
          <a:solidFill>
            <a:schemeClr val="accent4"/>
          </a:solidFill>
          <a:ln w="12700">
            <a:solidFill>
              <a:schemeClr val="accent4"/>
            </a:solidFill>
            <a:prstDash val="solid"/>
          </a:ln>
        </p:spPr>
      </p:sp>
      <p:sp>
        <p:nvSpPr>
          <p:cNvPr id="28" name="Text 24"/>
          <p:cNvSpPr txBox="1"/>
          <p:nvPr/>
        </p:nvSpPr>
        <p:spPr>
          <a:xfrm>
            <a:off x="6812280" y="2743200"/>
            <a:ext cx="4617720" cy="411480"/>
          </a:xfrm>
          <a:prstGeom prst="rect">
            <a:avLst/>
          </a:prstGeom>
          <a:noFill/>
          <a:ln/>
        </p:spPr>
        <p:txBody>
          <a:bodyPr wrap="square" lIns="0" tIns="0" rIns="0" bIns="0" rtlCol="0" anchor="ctr"/>
          <a:lstStyle/>
          <a:p>
            <a:pPr indent="0" marL="0">
              <a:buNone/>
            </a:pPr>
            <a:r>
              <a:rPr lang="en-US" sz="1400" dirty="0">
                <a:solidFill>
                  <a:schemeClr val="tx1"/>
                </a:solidFill>
              </a:rPr>
              <a:t>Let an LLM make final credit, fraud or AML decisions</a:t>
            </a:r>
            <a:endParaRPr lang="en-US" sz="1400" dirty="0"/>
          </a:p>
        </p:txBody>
      </p:sp>
      <p:sp>
        <p:nvSpPr>
          <p:cNvPr id="29" name="Shape 25"/>
          <p:cNvSpPr/>
          <p:nvPr/>
        </p:nvSpPr>
        <p:spPr>
          <a:xfrm>
            <a:off x="6492240" y="3410712"/>
            <a:ext cx="146304" cy="146304"/>
          </a:xfrm>
          <a:prstGeom prst="ellipse">
            <a:avLst/>
          </a:prstGeom>
          <a:solidFill>
            <a:schemeClr val="accent4"/>
          </a:solidFill>
          <a:ln w="12700">
            <a:solidFill>
              <a:schemeClr val="accent4"/>
            </a:solidFill>
            <a:prstDash val="solid"/>
          </a:ln>
        </p:spPr>
      </p:sp>
      <p:sp>
        <p:nvSpPr>
          <p:cNvPr id="30" name="Text 26"/>
          <p:cNvSpPr txBox="1"/>
          <p:nvPr/>
        </p:nvSpPr>
        <p:spPr>
          <a:xfrm>
            <a:off x="6812280" y="3291840"/>
            <a:ext cx="4617720" cy="411480"/>
          </a:xfrm>
          <a:prstGeom prst="rect">
            <a:avLst/>
          </a:prstGeom>
          <a:noFill/>
          <a:ln/>
        </p:spPr>
        <p:txBody>
          <a:bodyPr wrap="square" lIns="0" tIns="0" rIns="0" bIns="0" rtlCol="0" anchor="ctr"/>
          <a:lstStyle/>
          <a:p>
            <a:pPr indent="0" marL="0">
              <a:buNone/>
            </a:pPr>
            <a:r>
              <a:rPr lang="en-US" sz="1400" dirty="0">
                <a:solidFill>
                  <a:schemeClr val="tx1"/>
                </a:solidFill>
              </a:rPr>
              <a:t>Use GenAI for exact calculations (EMI, interest) — use code</a:t>
            </a:r>
            <a:endParaRPr lang="en-US" sz="1400" dirty="0"/>
          </a:p>
        </p:txBody>
      </p:sp>
      <p:sp>
        <p:nvSpPr>
          <p:cNvPr id="31" name="Shape 27"/>
          <p:cNvSpPr/>
          <p:nvPr/>
        </p:nvSpPr>
        <p:spPr>
          <a:xfrm>
            <a:off x="6492240" y="3959352"/>
            <a:ext cx="146304" cy="146304"/>
          </a:xfrm>
          <a:prstGeom prst="ellipse">
            <a:avLst/>
          </a:prstGeom>
          <a:solidFill>
            <a:schemeClr val="accent4"/>
          </a:solidFill>
          <a:ln w="12700">
            <a:solidFill>
              <a:schemeClr val="accent4"/>
            </a:solidFill>
            <a:prstDash val="solid"/>
          </a:ln>
        </p:spPr>
      </p:sp>
      <p:sp>
        <p:nvSpPr>
          <p:cNvPr id="32" name="Text 28"/>
          <p:cNvSpPr txBox="1"/>
          <p:nvPr/>
        </p:nvSpPr>
        <p:spPr>
          <a:xfrm>
            <a:off x="6812280" y="3840480"/>
            <a:ext cx="4617720" cy="411480"/>
          </a:xfrm>
          <a:prstGeom prst="rect">
            <a:avLst/>
          </a:prstGeom>
          <a:noFill/>
          <a:ln/>
        </p:spPr>
        <p:txBody>
          <a:bodyPr wrap="square" lIns="0" tIns="0" rIns="0" bIns="0" rtlCol="0" anchor="ctr"/>
          <a:lstStyle/>
          <a:p>
            <a:pPr indent="0" marL="0">
              <a:buNone/>
            </a:pPr>
            <a:r>
              <a:rPr lang="en-US" sz="1400" dirty="0">
                <a:solidFill>
                  <a:schemeClr val="tx1"/>
                </a:solidFill>
              </a:rPr>
              <a:t>Go live without prompt-injection guardrails</a:t>
            </a:r>
            <a:endParaRPr lang="en-US" sz="1400" dirty="0"/>
          </a:p>
        </p:txBody>
      </p:sp>
      <p:sp>
        <p:nvSpPr>
          <p:cNvPr id="33" name="Shape 29"/>
          <p:cNvSpPr/>
          <p:nvPr/>
        </p:nvSpPr>
        <p:spPr>
          <a:xfrm>
            <a:off x="6492240" y="4507992"/>
            <a:ext cx="146304" cy="146304"/>
          </a:xfrm>
          <a:prstGeom prst="ellipse">
            <a:avLst/>
          </a:prstGeom>
          <a:solidFill>
            <a:schemeClr val="accent4"/>
          </a:solidFill>
          <a:ln w="12700">
            <a:solidFill>
              <a:schemeClr val="accent4"/>
            </a:solidFill>
            <a:prstDash val="solid"/>
          </a:ln>
        </p:spPr>
      </p:sp>
      <p:sp>
        <p:nvSpPr>
          <p:cNvPr id="34" name="Text 30"/>
          <p:cNvSpPr txBox="1"/>
          <p:nvPr/>
        </p:nvSpPr>
        <p:spPr>
          <a:xfrm>
            <a:off x="6812280" y="4389120"/>
            <a:ext cx="4617720" cy="411480"/>
          </a:xfrm>
          <a:prstGeom prst="rect">
            <a:avLst/>
          </a:prstGeom>
          <a:noFill/>
          <a:ln/>
        </p:spPr>
        <p:txBody>
          <a:bodyPr wrap="square" lIns="0" tIns="0" rIns="0" bIns="0" rtlCol="0" anchor="ctr"/>
          <a:lstStyle/>
          <a:p>
            <a:pPr indent="0" marL="0">
              <a:buNone/>
            </a:pPr>
            <a:r>
              <a:rPr lang="en-US" sz="1400" dirty="0">
                <a:solidFill>
                  <a:schemeClr val="tx1"/>
                </a:solidFill>
              </a:rPr>
              <a:t>Trust outputs without a verifiable source</a:t>
            </a:r>
            <a:endParaRPr lang="en-US" sz="1400" dirty="0"/>
          </a:p>
        </p:txBody>
      </p:sp>
      <p:sp>
        <p:nvSpPr>
          <p:cNvPr id="35" name="Shape 31"/>
          <p:cNvSpPr/>
          <p:nvPr/>
        </p:nvSpPr>
        <p:spPr>
          <a:xfrm>
            <a:off x="6492240" y="5056632"/>
            <a:ext cx="146304" cy="146304"/>
          </a:xfrm>
          <a:prstGeom prst="ellipse">
            <a:avLst/>
          </a:prstGeom>
          <a:solidFill>
            <a:schemeClr val="accent4"/>
          </a:solidFill>
          <a:ln w="12700">
            <a:solidFill>
              <a:schemeClr val="accent4"/>
            </a:solidFill>
            <a:prstDash val="solid"/>
          </a:ln>
        </p:spPr>
      </p:sp>
      <p:sp>
        <p:nvSpPr>
          <p:cNvPr id="36" name="Text 32"/>
          <p:cNvSpPr txBox="1"/>
          <p:nvPr/>
        </p:nvSpPr>
        <p:spPr>
          <a:xfrm>
            <a:off x="6812280" y="4937760"/>
            <a:ext cx="4617720" cy="411480"/>
          </a:xfrm>
          <a:prstGeom prst="rect">
            <a:avLst/>
          </a:prstGeom>
          <a:noFill/>
          <a:ln/>
        </p:spPr>
        <p:txBody>
          <a:bodyPr wrap="square" lIns="0" tIns="0" rIns="0" bIns="0" rtlCol="0" anchor="ctr"/>
          <a:lstStyle/>
          <a:p>
            <a:pPr indent="0" marL="0">
              <a:buNone/>
            </a:pPr>
            <a:r>
              <a:rPr lang="en-US" sz="1400" dirty="0">
                <a:solidFill>
                  <a:schemeClr val="tx1"/>
                </a:solidFill>
              </a:rPr>
              <a:t>Fine-tune on sensitive data without consent and governance</a:t>
            </a:r>
            <a:endParaRPr lang="en-US" sz="1400" dirty="0"/>
          </a:p>
        </p:txBody>
      </p:sp>
      <p:sp>
        <p:nvSpPr>
          <p:cNvPr id="37" name="Shape 33"/>
          <p:cNvSpPr/>
          <p:nvPr/>
        </p:nvSpPr>
        <p:spPr>
          <a:xfrm>
            <a:off x="6492240" y="5605272"/>
            <a:ext cx="146304" cy="146304"/>
          </a:xfrm>
          <a:prstGeom prst="ellipse">
            <a:avLst/>
          </a:prstGeom>
          <a:solidFill>
            <a:schemeClr val="accent4"/>
          </a:solidFill>
          <a:ln w="12700">
            <a:solidFill>
              <a:schemeClr val="accent4"/>
            </a:solidFill>
            <a:prstDash val="solid"/>
          </a:ln>
        </p:spPr>
      </p:sp>
      <p:sp>
        <p:nvSpPr>
          <p:cNvPr id="38" name="Text 34"/>
          <p:cNvSpPr txBox="1"/>
          <p:nvPr/>
        </p:nvSpPr>
        <p:spPr>
          <a:xfrm>
            <a:off x="6812280" y="5486400"/>
            <a:ext cx="4617720" cy="411480"/>
          </a:xfrm>
          <a:prstGeom prst="rect">
            <a:avLst/>
          </a:prstGeom>
          <a:noFill/>
          <a:ln/>
        </p:spPr>
        <p:txBody>
          <a:bodyPr wrap="square" lIns="0" tIns="0" rIns="0" bIns="0" rtlCol="0" anchor="ctr"/>
          <a:lstStyle/>
          <a:p>
            <a:pPr indent="0" marL="0">
              <a:buNone/>
            </a:pPr>
            <a:r>
              <a:rPr lang="en-US" sz="1400" dirty="0">
                <a:solidFill>
                  <a:schemeClr val="tx1"/>
                </a:solidFill>
              </a:rPr>
              <a:t>Treat a pilot demo as production-ready</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Standard Practices for Enterprise GenAI</a:t>
            </a:r>
            <a:endParaRPr lang="en-US" sz="3200" dirty="0"/>
          </a:p>
        </p:txBody>
      </p:sp>
      <p:sp>
        <p:nvSpPr>
          <p:cNvPr id="3" name="Shape 1"/>
          <p:cNvSpPr/>
          <p:nvPr/>
        </p:nvSpPr>
        <p:spPr>
          <a:xfrm>
            <a:off x="548640" y="1371600"/>
            <a:ext cx="5440680" cy="1051560"/>
          </a:xfrm>
          <a:prstGeom prst="roundRect">
            <a:avLst>
              <a:gd name="adj" fmla="val 8696"/>
            </a:avLst>
          </a:prstGeom>
          <a:solidFill>
            <a:schemeClr val="bg2"/>
          </a:solidFill>
          <a:ln w="9525">
            <a:solidFill>
              <a:schemeClr val="bg2"/>
            </a:solidFill>
            <a:prstDash val="solid"/>
          </a:ln>
        </p:spPr>
      </p:sp>
      <p:sp>
        <p:nvSpPr>
          <p:cNvPr id="4" name="Text 2"/>
          <p:cNvSpPr txBox="1"/>
          <p:nvPr/>
        </p:nvSpPr>
        <p:spPr>
          <a:xfrm>
            <a:off x="548640" y="1371600"/>
            <a:ext cx="777240" cy="1051560"/>
          </a:xfrm>
          <a:prstGeom prst="roundRect">
            <a:avLst>
              <a:gd name="adj" fmla="val 941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01</a:t>
            </a:r>
            <a:endParaRPr lang="en-US" sz="2000" dirty="0"/>
          </a:p>
        </p:txBody>
      </p:sp>
      <p:sp>
        <p:nvSpPr>
          <p:cNvPr id="5" name="Text 3"/>
          <p:cNvSpPr txBox="1"/>
          <p:nvPr/>
        </p:nvSpPr>
        <p:spPr>
          <a:xfrm>
            <a:off x="1554480" y="1490472"/>
            <a:ext cx="4251960" cy="365760"/>
          </a:xfrm>
          <a:prstGeom prst="rect">
            <a:avLst/>
          </a:prstGeom>
          <a:noFill/>
          <a:ln/>
        </p:spPr>
        <p:txBody>
          <a:bodyPr wrap="square" lIns="0" tIns="0" rIns="0" bIns="0" rtlCol="0" anchor="t"/>
          <a:lstStyle/>
          <a:p>
            <a:pPr indent="0" marL="0">
              <a:buNone/>
            </a:pPr>
            <a:r>
              <a:rPr lang="en-US" sz="1500" b="1" dirty="0">
                <a:solidFill>
                  <a:schemeClr val="tx2"/>
                </a:solidFill>
              </a:rPr>
              <a:t>Risk-tier every use case</a:t>
            </a:r>
            <a:endParaRPr lang="en-US" sz="1500" dirty="0"/>
          </a:p>
        </p:txBody>
      </p:sp>
      <p:sp>
        <p:nvSpPr>
          <p:cNvPr id="6" name="Text 4"/>
          <p:cNvSpPr txBox="1"/>
          <p:nvPr/>
        </p:nvSpPr>
        <p:spPr>
          <a:xfrm>
            <a:off x="1554480" y="1874520"/>
            <a:ext cx="4251960" cy="457200"/>
          </a:xfrm>
          <a:prstGeom prst="rect">
            <a:avLst/>
          </a:prstGeom>
          <a:noFill/>
          <a:ln/>
        </p:spPr>
        <p:txBody>
          <a:bodyPr wrap="square" lIns="0" tIns="0" rIns="0" bIns="0" rtlCol="0" anchor="t"/>
          <a:lstStyle/>
          <a:p>
            <a:pPr indent="0" marL="0">
              <a:buNone/>
            </a:pPr>
            <a:r>
              <a:rPr lang="en-US" sz="1300" dirty="0">
                <a:solidFill>
                  <a:schemeClr val="tx1"/>
                </a:solidFill>
              </a:rPr>
              <a:t>Classify by customer impact and autonomy; controls scale with the tier.</a:t>
            </a:r>
            <a:endParaRPr lang="en-US" sz="1300" dirty="0"/>
          </a:p>
        </p:txBody>
      </p:sp>
      <p:sp>
        <p:nvSpPr>
          <p:cNvPr id="7" name="Shape 5"/>
          <p:cNvSpPr/>
          <p:nvPr/>
        </p:nvSpPr>
        <p:spPr>
          <a:xfrm>
            <a:off x="6172200" y="1371600"/>
            <a:ext cx="5440680" cy="1051560"/>
          </a:xfrm>
          <a:prstGeom prst="roundRect">
            <a:avLst>
              <a:gd name="adj" fmla="val 8696"/>
            </a:avLst>
          </a:prstGeom>
          <a:solidFill>
            <a:schemeClr val="bg2"/>
          </a:solidFill>
          <a:ln w="9525">
            <a:solidFill>
              <a:schemeClr val="bg2"/>
            </a:solidFill>
            <a:prstDash val="solid"/>
          </a:ln>
        </p:spPr>
      </p:sp>
      <p:sp>
        <p:nvSpPr>
          <p:cNvPr id="8" name="Text 6"/>
          <p:cNvSpPr txBox="1"/>
          <p:nvPr/>
        </p:nvSpPr>
        <p:spPr>
          <a:xfrm>
            <a:off x="6172200" y="1371600"/>
            <a:ext cx="777240" cy="1051560"/>
          </a:xfrm>
          <a:prstGeom prst="roundRect">
            <a:avLst>
              <a:gd name="adj" fmla="val 9412"/>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02</a:t>
            </a:r>
            <a:endParaRPr lang="en-US" sz="2000" dirty="0"/>
          </a:p>
        </p:txBody>
      </p:sp>
      <p:sp>
        <p:nvSpPr>
          <p:cNvPr id="9" name="Text 7"/>
          <p:cNvSpPr txBox="1"/>
          <p:nvPr/>
        </p:nvSpPr>
        <p:spPr>
          <a:xfrm>
            <a:off x="7178040" y="1490472"/>
            <a:ext cx="4251960" cy="365760"/>
          </a:xfrm>
          <a:prstGeom prst="rect">
            <a:avLst/>
          </a:prstGeom>
          <a:noFill/>
          <a:ln/>
        </p:spPr>
        <p:txBody>
          <a:bodyPr wrap="square" lIns="0" tIns="0" rIns="0" bIns="0" rtlCol="0" anchor="t"/>
          <a:lstStyle/>
          <a:p>
            <a:pPr indent="0" marL="0">
              <a:buNone/>
            </a:pPr>
            <a:r>
              <a:rPr lang="en-US" sz="1500" b="1" dirty="0">
                <a:solidFill>
                  <a:schemeClr val="tx2"/>
                </a:solidFill>
              </a:rPr>
              <a:t>Govern data &amp; privacy</a:t>
            </a:r>
            <a:endParaRPr lang="en-US" sz="1500" dirty="0"/>
          </a:p>
        </p:txBody>
      </p:sp>
      <p:sp>
        <p:nvSpPr>
          <p:cNvPr id="10" name="Text 8"/>
          <p:cNvSpPr txBox="1"/>
          <p:nvPr/>
        </p:nvSpPr>
        <p:spPr>
          <a:xfrm>
            <a:off x="7178040" y="1874520"/>
            <a:ext cx="4251960" cy="457200"/>
          </a:xfrm>
          <a:prstGeom prst="rect">
            <a:avLst/>
          </a:prstGeom>
          <a:noFill/>
          <a:ln/>
        </p:spPr>
        <p:txBody>
          <a:bodyPr wrap="square" lIns="0" tIns="0" rIns="0" bIns="0" rtlCol="0" anchor="t"/>
          <a:lstStyle/>
          <a:p>
            <a:pPr indent="0" marL="0">
              <a:buNone/>
            </a:pPr>
            <a:r>
              <a:rPr lang="en-US" sz="1300" dirty="0">
                <a:solidFill>
                  <a:schemeClr val="tx1"/>
                </a:solidFill>
              </a:rPr>
              <a:t>DPDP Act consent, data minimisation, localisation, retention limits.</a:t>
            </a:r>
            <a:endParaRPr lang="en-US" sz="1300" dirty="0"/>
          </a:p>
        </p:txBody>
      </p:sp>
      <p:sp>
        <p:nvSpPr>
          <p:cNvPr id="11" name="Shape 9"/>
          <p:cNvSpPr/>
          <p:nvPr/>
        </p:nvSpPr>
        <p:spPr>
          <a:xfrm>
            <a:off x="548640" y="2578608"/>
            <a:ext cx="5440680" cy="1051560"/>
          </a:xfrm>
          <a:prstGeom prst="roundRect">
            <a:avLst>
              <a:gd name="adj" fmla="val 8696"/>
            </a:avLst>
          </a:prstGeom>
          <a:solidFill>
            <a:schemeClr val="bg2"/>
          </a:solidFill>
          <a:ln w="9525">
            <a:solidFill>
              <a:schemeClr val="bg2"/>
            </a:solidFill>
            <a:prstDash val="solid"/>
          </a:ln>
        </p:spPr>
      </p:sp>
      <p:sp>
        <p:nvSpPr>
          <p:cNvPr id="12" name="Text 10"/>
          <p:cNvSpPr txBox="1"/>
          <p:nvPr/>
        </p:nvSpPr>
        <p:spPr>
          <a:xfrm>
            <a:off x="548640" y="2578608"/>
            <a:ext cx="777240" cy="1051560"/>
          </a:xfrm>
          <a:prstGeom prst="roundRect">
            <a:avLst>
              <a:gd name="adj" fmla="val 941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03</a:t>
            </a:r>
            <a:endParaRPr lang="en-US" sz="2000" dirty="0"/>
          </a:p>
        </p:txBody>
      </p:sp>
      <p:sp>
        <p:nvSpPr>
          <p:cNvPr id="13" name="Text 11"/>
          <p:cNvSpPr txBox="1"/>
          <p:nvPr/>
        </p:nvSpPr>
        <p:spPr>
          <a:xfrm>
            <a:off x="1554480" y="2697480"/>
            <a:ext cx="4251960" cy="365760"/>
          </a:xfrm>
          <a:prstGeom prst="rect">
            <a:avLst/>
          </a:prstGeom>
          <a:noFill/>
          <a:ln/>
        </p:spPr>
        <p:txBody>
          <a:bodyPr wrap="square" lIns="0" tIns="0" rIns="0" bIns="0" rtlCol="0" anchor="t"/>
          <a:lstStyle/>
          <a:p>
            <a:pPr indent="0" marL="0">
              <a:buNone/>
            </a:pPr>
            <a:r>
              <a:rPr lang="en-US" sz="1500" b="1" dirty="0">
                <a:solidFill>
                  <a:schemeClr val="tx2"/>
                </a:solidFill>
              </a:rPr>
              <a:t>Manage model risk</a:t>
            </a:r>
            <a:endParaRPr lang="en-US" sz="1500" dirty="0"/>
          </a:p>
        </p:txBody>
      </p:sp>
      <p:sp>
        <p:nvSpPr>
          <p:cNvPr id="14" name="Text 12"/>
          <p:cNvSpPr txBox="1"/>
          <p:nvPr/>
        </p:nvSpPr>
        <p:spPr>
          <a:xfrm>
            <a:off x="1554480" y="3081528"/>
            <a:ext cx="4251960" cy="457200"/>
          </a:xfrm>
          <a:prstGeom prst="rect">
            <a:avLst/>
          </a:prstGeom>
          <a:noFill/>
          <a:ln/>
        </p:spPr>
        <p:txBody>
          <a:bodyPr wrap="square" lIns="0" tIns="0" rIns="0" bIns="0" rtlCol="0" anchor="t"/>
          <a:lstStyle/>
          <a:p>
            <a:pPr indent="0" marL="0">
              <a:buNone/>
            </a:pPr>
            <a:r>
              <a:rPr lang="en-US" sz="1300" dirty="0">
                <a:solidFill>
                  <a:schemeClr val="tx1"/>
                </a:solidFill>
              </a:rPr>
              <a:t>Model inventory, documentation, independent validation, periodic review.</a:t>
            </a:r>
            <a:endParaRPr lang="en-US" sz="1300" dirty="0"/>
          </a:p>
        </p:txBody>
      </p:sp>
      <p:sp>
        <p:nvSpPr>
          <p:cNvPr id="15" name="Shape 13"/>
          <p:cNvSpPr/>
          <p:nvPr/>
        </p:nvSpPr>
        <p:spPr>
          <a:xfrm>
            <a:off x="6172200" y="2578608"/>
            <a:ext cx="5440680" cy="1051560"/>
          </a:xfrm>
          <a:prstGeom prst="roundRect">
            <a:avLst>
              <a:gd name="adj" fmla="val 8696"/>
            </a:avLst>
          </a:prstGeom>
          <a:solidFill>
            <a:schemeClr val="bg2"/>
          </a:solidFill>
          <a:ln w="9525">
            <a:solidFill>
              <a:schemeClr val="bg2"/>
            </a:solidFill>
            <a:prstDash val="solid"/>
          </a:ln>
        </p:spPr>
      </p:sp>
      <p:sp>
        <p:nvSpPr>
          <p:cNvPr id="16" name="Text 14"/>
          <p:cNvSpPr txBox="1"/>
          <p:nvPr/>
        </p:nvSpPr>
        <p:spPr>
          <a:xfrm>
            <a:off x="6172200" y="2578608"/>
            <a:ext cx="777240" cy="1051560"/>
          </a:xfrm>
          <a:prstGeom prst="roundRect">
            <a:avLst>
              <a:gd name="adj" fmla="val 9412"/>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04</a:t>
            </a:r>
            <a:endParaRPr lang="en-US" sz="2000" dirty="0"/>
          </a:p>
        </p:txBody>
      </p:sp>
      <p:sp>
        <p:nvSpPr>
          <p:cNvPr id="17" name="Text 15"/>
          <p:cNvSpPr txBox="1"/>
          <p:nvPr/>
        </p:nvSpPr>
        <p:spPr>
          <a:xfrm>
            <a:off x="7178040" y="2697480"/>
            <a:ext cx="4251960" cy="365760"/>
          </a:xfrm>
          <a:prstGeom prst="rect">
            <a:avLst/>
          </a:prstGeom>
          <a:noFill/>
          <a:ln/>
        </p:spPr>
        <p:txBody>
          <a:bodyPr wrap="square" lIns="0" tIns="0" rIns="0" bIns="0" rtlCol="0" anchor="t"/>
          <a:lstStyle/>
          <a:p>
            <a:pPr indent="0" marL="0">
              <a:buNone/>
            </a:pPr>
            <a:r>
              <a:rPr lang="en-US" sz="1500" b="1" dirty="0">
                <a:solidFill>
                  <a:schemeClr val="tx2"/>
                </a:solidFill>
              </a:rPr>
              <a:t>Ground and guard</a:t>
            </a:r>
            <a:endParaRPr lang="en-US" sz="1500" dirty="0"/>
          </a:p>
        </p:txBody>
      </p:sp>
      <p:sp>
        <p:nvSpPr>
          <p:cNvPr id="18" name="Text 16"/>
          <p:cNvSpPr txBox="1"/>
          <p:nvPr/>
        </p:nvSpPr>
        <p:spPr>
          <a:xfrm>
            <a:off x="7178040" y="3081528"/>
            <a:ext cx="4251960" cy="457200"/>
          </a:xfrm>
          <a:prstGeom prst="rect">
            <a:avLst/>
          </a:prstGeom>
          <a:noFill/>
          <a:ln/>
        </p:spPr>
        <p:txBody>
          <a:bodyPr wrap="square" lIns="0" tIns="0" rIns="0" bIns="0" rtlCol="0" anchor="t"/>
          <a:lstStyle/>
          <a:p>
            <a:pPr indent="0" marL="0">
              <a:buNone/>
            </a:pPr>
            <a:r>
              <a:rPr lang="en-US" sz="1300" dirty="0">
                <a:solidFill>
                  <a:schemeClr val="tx1"/>
                </a:solidFill>
              </a:rPr>
              <a:t>RAG with citations; input and output guardrails on every call.</a:t>
            </a:r>
            <a:endParaRPr lang="en-US" sz="1300" dirty="0"/>
          </a:p>
        </p:txBody>
      </p:sp>
      <p:sp>
        <p:nvSpPr>
          <p:cNvPr id="19" name="Shape 17"/>
          <p:cNvSpPr/>
          <p:nvPr/>
        </p:nvSpPr>
        <p:spPr>
          <a:xfrm>
            <a:off x="548640" y="3785616"/>
            <a:ext cx="5440680" cy="1051560"/>
          </a:xfrm>
          <a:prstGeom prst="roundRect">
            <a:avLst>
              <a:gd name="adj" fmla="val 8696"/>
            </a:avLst>
          </a:prstGeom>
          <a:solidFill>
            <a:schemeClr val="bg2"/>
          </a:solidFill>
          <a:ln w="9525">
            <a:solidFill>
              <a:schemeClr val="bg2"/>
            </a:solidFill>
            <a:prstDash val="solid"/>
          </a:ln>
        </p:spPr>
      </p:sp>
      <p:sp>
        <p:nvSpPr>
          <p:cNvPr id="20" name="Text 18"/>
          <p:cNvSpPr txBox="1"/>
          <p:nvPr/>
        </p:nvSpPr>
        <p:spPr>
          <a:xfrm>
            <a:off x="548640" y="3785616"/>
            <a:ext cx="777240" cy="1051560"/>
          </a:xfrm>
          <a:prstGeom prst="roundRect">
            <a:avLst>
              <a:gd name="adj" fmla="val 941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05</a:t>
            </a:r>
            <a:endParaRPr lang="en-US" sz="2000" dirty="0"/>
          </a:p>
        </p:txBody>
      </p:sp>
      <p:sp>
        <p:nvSpPr>
          <p:cNvPr id="21" name="Text 19"/>
          <p:cNvSpPr txBox="1"/>
          <p:nvPr/>
        </p:nvSpPr>
        <p:spPr>
          <a:xfrm>
            <a:off x="1554480" y="3904488"/>
            <a:ext cx="4251960" cy="365760"/>
          </a:xfrm>
          <a:prstGeom prst="rect">
            <a:avLst/>
          </a:prstGeom>
          <a:noFill/>
          <a:ln/>
        </p:spPr>
        <p:txBody>
          <a:bodyPr wrap="square" lIns="0" tIns="0" rIns="0" bIns="0" rtlCol="0" anchor="t"/>
          <a:lstStyle/>
          <a:p>
            <a:pPr indent="0" marL="0">
              <a:buNone/>
            </a:pPr>
            <a:r>
              <a:rPr lang="en-US" sz="1500" b="1" dirty="0">
                <a:solidFill>
                  <a:schemeClr val="tx2"/>
                </a:solidFill>
              </a:rPr>
              <a:t>Design human oversight</a:t>
            </a:r>
            <a:endParaRPr lang="en-US" sz="1500" dirty="0"/>
          </a:p>
        </p:txBody>
      </p:sp>
      <p:sp>
        <p:nvSpPr>
          <p:cNvPr id="22" name="Text 20"/>
          <p:cNvSpPr txBox="1"/>
          <p:nvPr/>
        </p:nvSpPr>
        <p:spPr>
          <a:xfrm>
            <a:off x="1554480" y="4288536"/>
            <a:ext cx="4251960" cy="457200"/>
          </a:xfrm>
          <a:prstGeom prst="rect">
            <a:avLst/>
          </a:prstGeom>
          <a:noFill/>
          <a:ln/>
        </p:spPr>
        <p:txBody>
          <a:bodyPr wrap="square" lIns="0" tIns="0" rIns="0" bIns="0" rtlCol="0" anchor="t"/>
          <a:lstStyle/>
          <a:p>
            <a:pPr indent="0" marL="0">
              <a:buNone/>
            </a:pPr>
            <a:r>
              <a:rPr lang="en-US" sz="1300" dirty="0">
                <a:solidFill>
                  <a:schemeClr val="tx1"/>
                </a:solidFill>
              </a:rPr>
              <a:t>Clear thresholds for review, escalation paths, override tracking.</a:t>
            </a:r>
            <a:endParaRPr lang="en-US" sz="1300" dirty="0"/>
          </a:p>
        </p:txBody>
      </p:sp>
      <p:sp>
        <p:nvSpPr>
          <p:cNvPr id="23" name="Shape 21"/>
          <p:cNvSpPr/>
          <p:nvPr/>
        </p:nvSpPr>
        <p:spPr>
          <a:xfrm>
            <a:off x="6172200" y="3785616"/>
            <a:ext cx="5440680" cy="1051560"/>
          </a:xfrm>
          <a:prstGeom prst="roundRect">
            <a:avLst>
              <a:gd name="adj" fmla="val 8696"/>
            </a:avLst>
          </a:prstGeom>
          <a:solidFill>
            <a:schemeClr val="bg2"/>
          </a:solidFill>
          <a:ln w="9525">
            <a:solidFill>
              <a:schemeClr val="bg2"/>
            </a:solidFill>
            <a:prstDash val="solid"/>
          </a:ln>
        </p:spPr>
      </p:sp>
      <p:sp>
        <p:nvSpPr>
          <p:cNvPr id="24" name="Text 22"/>
          <p:cNvSpPr txBox="1"/>
          <p:nvPr/>
        </p:nvSpPr>
        <p:spPr>
          <a:xfrm>
            <a:off x="6172200" y="3785616"/>
            <a:ext cx="777240" cy="1051560"/>
          </a:xfrm>
          <a:prstGeom prst="roundRect">
            <a:avLst>
              <a:gd name="adj" fmla="val 9412"/>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06</a:t>
            </a:r>
            <a:endParaRPr lang="en-US" sz="2000" dirty="0"/>
          </a:p>
        </p:txBody>
      </p:sp>
      <p:sp>
        <p:nvSpPr>
          <p:cNvPr id="25" name="Text 23"/>
          <p:cNvSpPr txBox="1"/>
          <p:nvPr/>
        </p:nvSpPr>
        <p:spPr>
          <a:xfrm>
            <a:off x="7178040" y="3904488"/>
            <a:ext cx="4251960" cy="365760"/>
          </a:xfrm>
          <a:prstGeom prst="rect">
            <a:avLst/>
          </a:prstGeom>
          <a:noFill/>
          <a:ln/>
        </p:spPr>
        <p:txBody>
          <a:bodyPr wrap="square" lIns="0" tIns="0" rIns="0" bIns="0" rtlCol="0" anchor="t"/>
          <a:lstStyle/>
          <a:p>
            <a:pPr indent="0" marL="0">
              <a:buNone/>
            </a:pPr>
            <a:r>
              <a:rPr lang="en-US" sz="1500" b="1" dirty="0">
                <a:solidFill>
                  <a:schemeClr val="tx2"/>
                </a:solidFill>
              </a:rPr>
              <a:t>Evaluate continuously</a:t>
            </a:r>
            <a:endParaRPr lang="en-US" sz="1500" dirty="0"/>
          </a:p>
        </p:txBody>
      </p:sp>
      <p:sp>
        <p:nvSpPr>
          <p:cNvPr id="26" name="Text 24"/>
          <p:cNvSpPr txBox="1"/>
          <p:nvPr/>
        </p:nvSpPr>
        <p:spPr>
          <a:xfrm>
            <a:off x="7178040" y="4288536"/>
            <a:ext cx="4251960" cy="457200"/>
          </a:xfrm>
          <a:prstGeom prst="rect">
            <a:avLst/>
          </a:prstGeom>
          <a:noFill/>
          <a:ln/>
        </p:spPr>
        <p:txBody>
          <a:bodyPr wrap="square" lIns="0" tIns="0" rIns="0" bIns="0" rtlCol="0" anchor="t"/>
          <a:lstStyle/>
          <a:p>
            <a:pPr indent="0" marL="0">
              <a:buNone/>
            </a:pPr>
            <a:r>
              <a:rPr lang="en-US" sz="1300" dirty="0">
                <a:solidFill>
                  <a:schemeClr val="tx1"/>
                </a:solidFill>
              </a:rPr>
              <a:t>Golden datasets, red-teaming, bias tests, regression tests on every change.</a:t>
            </a:r>
            <a:endParaRPr lang="en-US" sz="1300" dirty="0"/>
          </a:p>
        </p:txBody>
      </p:sp>
      <p:sp>
        <p:nvSpPr>
          <p:cNvPr id="27" name="Shape 25"/>
          <p:cNvSpPr/>
          <p:nvPr/>
        </p:nvSpPr>
        <p:spPr>
          <a:xfrm>
            <a:off x="548640" y="4992624"/>
            <a:ext cx="5440680" cy="1051560"/>
          </a:xfrm>
          <a:prstGeom prst="roundRect">
            <a:avLst>
              <a:gd name="adj" fmla="val 8696"/>
            </a:avLst>
          </a:prstGeom>
          <a:solidFill>
            <a:schemeClr val="bg2"/>
          </a:solidFill>
          <a:ln w="9525">
            <a:solidFill>
              <a:schemeClr val="bg2"/>
            </a:solidFill>
            <a:prstDash val="solid"/>
          </a:ln>
        </p:spPr>
      </p:sp>
      <p:sp>
        <p:nvSpPr>
          <p:cNvPr id="28" name="Text 26"/>
          <p:cNvSpPr txBox="1"/>
          <p:nvPr/>
        </p:nvSpPr>
        <p:spPr>
          <a:xfrm>
            <a:off x="548640" y="4992624"/>
            <a:ext cx="777240" cy="1051560"/>
          </a:xfrm>
          <a:prstGeom prst="roundRect">
            <a:avLst>
              <a:gd name="adj" fmla="val 9412"/>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07</a:t>
            </a:r>
            <a:endParaRPr lang="en-US" sz="2000" dirty="0"/>
          </a:p>
        </p:txBody>
      </p:sp>
      <p:sp>
        <p:nvSpPr>
          <p:cNvPr id="29" name="Text 27"/>
          <p:cNvSpPr txBox="1"/>
          <p:nvPr/>
        </p:nvSpPr>
        <p:spPr>
          <a:xfrm>
            <a:off x="1554480" y="5111496"/>
            <a:ext cx="4251960" cy="365760"/>
          </a:xfrm>
          <a:prstGeom prst="rect">
            <a:avLst/>
          </a:prstGeom>
          <a:noFill/>
          <a:ln/>
        </p:spPr>
        <p:txBody>
          <a:bodyPr wrap="square" lIns="0" tIns="0" rIns="0" bIns="0" rtlCol="0" anchor="t"/>
          <a:lstStyle/>
          <a:p>
            <a:pPr indent="0" marL="0">
              <a:buNone/>
            </a:pPr>
            <a:r>
              <a:rPr lang="en-US" sz="1500" b="1" dirty="0">
                <a:solidFill>
                  <a:schemeClr val="tx2"/>
                </a:solidFill>
              </a:rPr>
              <a:t>Run LLMOps</a:t>
            </a:r>
            <a:endParaRPr lang="en-US" sz="1500" dirty="0"/>
          </a:p>
        </p:txBody>
      </p:sp>
      <p:sp>
        <p:nvSpPr>
          <p:cNvPr id="30" name="Text 28"/>
          <p:cNvSpPr txBox="1"/>
          <p:nvPr/>
        </p:nvSpPr>
        <p:spPr>
          <a:xfrm>
            <a:off x="1554480" y="5495544"/>
            <a:ext cx="4251960" cy="457200"/>
          </a:xfrm>
          <a:prstGeom prst="rect">
            <a:avLst/>
          </a:prstGeom>
          <a:noFill/>
          <a:ln/>
        </p:spPr>
        <p:txBody>
          <a:bodyPr wrap="square" lIns="0" tIns="0" rIns="0" bIns="0" rtlCol="0" anchor="t"/>
          <a:lstStyle/>
          <a:p>
            <a:pPr indent="0" marL="0">
              <a:buNone/>
            </a:pPr>
            <a:r>
              <a:rPr lang="en-US" sz="1300" dirty="0">
                <a:solidFill>
                  <a:schemeClr val="tx1"/>
                </a:solidFill>
              </a:rPr>
              <a:t>Monitor quality, drift, latency, cost; version prompts like code.</a:t>
            </a:r>
            <a:endParaRPr lang="en-US" sz="1300" dirty="0"/>
          </a:p>
        </p:txBody>
      </p:sp>
      <p:sp>
        <p:nvSpPr>
          <p:cNvPr id="31" name="Shape 29"/>
          <p:cNvSpPr/>
          <p:nvPr/>
        </p:nvSpPr>
        <p:spPr>
          <a:xfrm>
            <a:off x="6172200" y="4992624"/>
            <a:ext cx="5440680" cy="1051560"/>
          </a:xfrm>
          <a:prstGeom prst="roundRect">
            <a:avLst>
              <a:gd name="adj" fmla="val 8696"/>
            </a:avLst>
          </a:prstGeom>
          <a:solidFill>
            <a:schemeClr val="bg2"/>
          </a:solidFill>
          <a:ln w="9525">
            <a:solidFill>
              <a:schemeClr val="bg2"/>
            </a:solidFill>
            <a:prstDash val="solid"/>
          </a:ln>
        </p:spPr>
      </p:sp>
      <p:sp>
        <p:nvSpPr>
          <p:cNvPr id="32" name="Text 30"/>
          <p:cNvSpPr txBox="1"/>
          <p:nvPr/>
        </p:nvSpPr>
        <p:spPr>
          <a:xfrm>
            <a:off x="6172200" y="4992624"/>
            <a:ext cx="777240" cy="1051560"/>
          </a:xfrm>
          <a:prstGeom prst="roundRect">
            <a:avLst>
              <a:gd name="adj" fmla="val 9412"/>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08</a:t>
            </a:r>
            <a:endParaRPr lang="en-US" sz="2000" dirty="0"/>
          </a:p>
        </p:txBody>
      </p:sp>
      <p:sp>
        <p:nvSpPr>
          <p:cNvPr id="33" name="Text 31"/>
          <p:cNvSpPr txBox="1"/>
          <p:nvPr/>
        </p:nvSpPr>
        <p:spPr>
          <a:xfrm>
            <a:off x="7178040" y="5111496"/>
            <a:ext cx="4251960" cy="365760"/>
          </a:xfrm>
          <a:prstGeom prst="rect">
            <a:avLst/>
          </a:prstGeom>
          <a:noFill/>
          <a:ln/>
        </p:spPr>
        <p:txBody>
          <a:bodyPr wrap="square" lIns="0" tIns="0" rIns="0" bIns="0" rtlCol="0" anchor="t"/>
          <a:lstStyle/>
          <a:p>
            <a:pPr indent="0" marL="0">
              <a:buNone/>
            </a:pPr>
            <a:r>
              <a:rPr lang="en-US" sz="1500" b="1" dirty="0">
                <a:solidFill>
                  <a:schemeClr val="tx2"/>
                </a:solidFill>
              </a:rPr>
              <a:t>Be transparent &amp; accountable</a:t>
            </a:r>
            <a:endParaRPr lang="en-US" sz="1500" dirty="0"/>
          </a:p>
        </p:txBody>
      </p:sp>
      <p:sp>
        <p:nvSpPr>
          <p:cNvPr id="34" name="Text 32"/>
          <p:cNvSpPr txBox="1"/>
          <p:nvPr/>
        </p:nvSpPr>
        <p:spPr>
          <a:xfrm>
            <a:off x="7178040" y="5495544"/>
            <a:ext cx="4251960" cy="457200"/>
          </a:xfrm>
          <a:prstGeom prst="rect">
            <a:avLst/>
          </a:prstGeom>
          <a:noFill/>
          <a:ln/>
        </p:spPr>
        <p:txBody>
          <a:bodyPr wrap="square" lIns="0" tIns="0" rIns="0" bIns="0" rtlCol="0" anchor="t"/>
          <a:lstStyle/>
          <a:p>
            <a:pPr indent="0" marL="0">
              <a:buNone/>
            </a:pPr>
            <a:r>
              <a:rPr lang="en-US" sz="1300" dirty="0">
                <a:solidFill>
                  <a:schemeClr val="tx1"/>
                </a:solidFill>
              </a:rPr>
              <a:t>AI disclosures, named owners, audit trails; align with RBI FREE-AI principles.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Prompting Standards: Anatomy of a Good Prompt</a:t>
            </a:r>
            <a:endParaRPr lang="en-US" sz="3200" dirty="0"/>
          </a:p>
        </p:txBody>
      </p:sp>
      <p:sp>
        <p:nvSpPr>
          <p:cNvPr id="3" name="Text 1"/>
          <p:cNvSpPr txBox="1"/>
          <p:nvPr/>
        </p:nvSpPr>
        <p:spPr>
          <a:xfrm>
            <a:off x="548640" y="1371600"/>
            <a:ext cx="1554480" cy="640080"/>
          </a:xfrm>
          <a:prstGeom prst="roundRect">
            <a:avLst>
              <a:gd name="adj" fmla="val 11429"/>
            </a:avLst>
          </a:prstGeom>
          <a:solidFill>
            <a:schemeClr val="accent1"/>
          </a:solidFill>
          <a:ln w="9525">
            <a:solidFill>
              <a:schemeClr val="accent1"/>
            </a:solidFill>
          </a:ln>
        </p:spPr>
        <p:txBody>
          <a:bodyPr wrap="square" lIns="50800" tIns="50800" rIns="50800" bIns="50800" rtlCol="0" anchor="ctr"/>
          <a:lstStyle/>
          <a:p>
            <a:pPr algn="ctr" indent="0" marL="0">
              <a:buNone/>
            </a:pPr>
            <a:r>
              <a:rPr lang="en-US" sz="1400" b="1" dirty="0">
                <a:solidFill>
                  <a:schemeClr val="bg1"/>
                </a:solidFill>
              </a:rPr>
              <a:t>Role</a:t>
            </a:r>
            <a:endParaRPr lang="en-US" sz="1400" dirty="0"/>
          </a:p>
        </p:txBody>
      </p:sp>
      <p:sp>
        <p:nvSpPr>
          <p:cNvPr id="4" name="Text 2"/>
          <p:cNvSpPr txBox="1"/>
          <p:nvPr/>
        </p:nvSpPr>
        <p:spPr>
          <a:xfrm>
            <a:off x="2286000" y="1371600"/>
            <a:ext cx="3017520" cy="640080"/>
          </a:xfrm>
          <a:prstGeom prst="rect">
            <a:avLst/>
          </a:prstGeom>
          <a:noFill/>
          <a:ln/>
        </p:spPr>
        <p:txBody>
          <a:bodyPr wrap="square" lIns="0" tIns="0" rIns="0" bIns="0" rtlCol="0" anchor="ctr"/>
          <a:lstStyle/>
          <a:p>
            <a:pPr indent="0" marL="0">
              <a:buNone/>
            </a:pPr>
            <a:r>
              <a:rPr lang="en-US" sz="1400" dirty="0">
                <a:solidFill>
                  <a:schemeClr val="tx1"/>
                </a:solidFill>
              </a:rPr>
              <a:t>Who the model should act as</a:t>
            </a:r>
            <a:endParaRPr lang="en-US" sz="1400" dirty="0"/>
          </a:p>
        </p:txBody>
      </p:sp>
      <p:sp>
        <p:nvSpPr>
          <p:cNvPr id="5" name="Text 3"/>
          <p:cNvSpPr txBox="1"/>
          <p:nvPr/>
        </p:nvSpPr>
        <p:spPr>
          <a:xfrm>
            <a:off x="548640" y="2176272"/>
            <a:ext cx="1554480" cy="640080"/>
          </a:xfrm>
          <a:prstGeom prst="roundRect">
            <a:avLst>
              <a:gd name="adj" fmla="val 11429"/>
            </a:avLst>
          </a:prstGeom>
          <a:solidFill>
            <a:schemeClr val="accent3"/>
          </a:solidFill>
          <a:ln w="9525">
            <a:solidFill>
              <a:schemeClr val="accent3"/>
            </a:solidFill>
          </a:ln>
        </p:spPr>
        <p:txBody>
          <a:bodyPr wrap="square" lIns="50800" tIns="50800" rIns="50800" bIns="50800" rtlCol="0" anchor="ctr"/>
          <a:lstStyle/>
          <a:p>
            <a:pPr algn="ctr" indent="0" marL="0">
              <a:buNone/>
            </a:pPr>
            <a:r>
              <a:rPr lang="en-US" sz="1400" b="1" dirty="0">
                <a:solidFill>
                  <a:schemeClr val="bg1"/>
                </a:solidFill>
              </a:rPr>
              <a:t>Context</a:t>
            </a:r>
            <a:endParaRPr lang="en-US" sz="1400" dirty="0"/>
          </a:p>
        </p:txBody>
      </p:sp>
      <p:sp>
        <p:nvSpPr>
          <p:cNvPr id="6" name="Text 4"/>
          <p:cNvSpPr txBox="1"/>
          <p:nvPr/>
        </p:nvSpPr>
        <p:spPr>
          <a:xfrm>
            <a:off x="2286000" y="2176272"/>
            <a:ext cx="3017520" cy="640080"/>
          </a:xfrm>
          <a:prstGeom prst="rect">
            <a:avLst/>
          </a:prstGeom>
          <a:noFill/>
          <a:ln/>
        </p:spPr>
        <p:txBody>
          <a:bodyPr wrap="square" lIns="0" tIns="0" rIns="0" bIns="0" rtlCol="0" anchor="ctr"/>
          <a:lstStyle/>
          <a:p>
            <a:pPr indent="0" marL="0">
              <a:buNone/>
            </a:pPr>
            <a:r>
              <a:rPr lang="en-US" sz="1400" dirty="0">
                <a:solidFill>
                  <a:schemeClr val="tx1"/>
                </a:solidFill>
              </a:rPr>
              <a:t>Retrieved facts it must rely on</a:t>
            </a:r>
            <a:endParaRPr lang="en-US" sz="1400" dirty="0"/>
          </a:p>
        </p:txBody>
      </p:sp>
      <p:sp>
        <p:nvSpPr>
          <p:cNvPr id="7" name="Text 5"/>
          <p:cNvSpPr txBox="1"/>
          <p:nvPr/>
        </p:nvSpPr>
        <p:spPr>
          <a:xfrm>
            <a:off x="548640" y="2980944"/>
            <a:ext cx="1554480" cy="640080"/>
          </a:xfrm>
          <a:prstGeom prst="roundRect">
            <a:avLst>
              <a:gd name="adj" fmla="val 11429"/>
            </a:avLst>
          </a:prstGeom>
          <a:solidFill>
            <a:schemeClr val="accent5"/>
          </a:solidFill>
          <a:ln w="9525">
            <a:solidFill>
              <a:schemeClr val="accent5"/>
            </a:solidFill>
          </a:ln>
        </p:spPr>
        <p:txBody>
          <a:bodyPr wrap="square" lIns="50800" tIns="50800" rIns="50800" bIns="50800" rtlCol="0" anchor="ctr"/>
          <a:lstStyle/>
          <a:p>
            <a:pPr algn="ctr" indent="0" marL="0">
              <a:buNone/>
            </a:pPr>
            <a:r>
              <a:rPr lang="en-US" sz="1400" b="1" dirty="0">
                <a:solidFill>
                  <a:schemeClr val="bg1"/>
                </a:solidFill>
              </a:rPr>
              <a:t>Task</a:t>
            </a:r>
            <a:endParaRPr lang="en-US" sz="1400" dirty="0"/>
          </a:p>
        </p:txBody>
      </p:sp>
      <p:sp>
        <p:nvSpPr>
          <p:cNvPr id="8" name="Text 6"/>
          <p:cNvSpPr txBox="1"/>
          <p:nvPr/>
        </p:nvSpPr>
        <p:spPr>
          <a:xfrm>
            <a:off x="2286000" y="2980944"/>
            <a:ext cx="3017520" cy="640080"/>
          </a:xfrm>
          <a:prstGeom prst="rect">
            <a:avLst/>
          </a:prstGeom>
          <a:noFill/>
          <a:ln/>
        </p:spPr>
        <p:txBody>
          <a:bodyPr wrap="square" lIns="0" tIns="0" rIns="0" bIns="0" rtlCol="0" anchor="ctr"/>
          <a:lstStyle/>
          <a:p>
            <a:pPr indent="0" marL="0">
              <a:buNone/>
            </a:pPr>
            <a:r>
              <a:rPr lang="en-US" sz="1400" dirty="0">
                <a:solidFill>
                  <a:schemeClr val="tx1"/>
                </a:solidFill>
              </a:rPr>
              <a:t>The exact job to perform</a:t>
            </a:r>
            <a:endParaRPr lang="en-US" sz="1400" dirty="0"/>
          </a:p>
        </p:txBody>
      </p:sp>
      <p:sp>
        <p:nvSpPr>
          <p:cNvPr id="9" name="Text 7"/>
          <p:cNvSpPr txBox="1"/>
          <p:nvPr/>
        </p:nvSpPr>
        <p:spPr>
          <a:xfrm>
            <a:off x="548640" y="3785616"/>
            <a:ext cx="1554480" cy="640080"/>
          </a:xfrm>
          <a:prstGeom prst="roundRect">
            <a:avLst>
              <a:gd name="adj" fmla="val 11429"/>
            </a:avLst>
          </a:prstGeom>
          <a:solidFill>
            <a:schemeClr val="accent6"/>
          </a:solidFill>
          <a:ln w="9525">
            <a:solidFill>
              <a:schemeClr val="accent6"/>
            </a:solidFill>
          </a:ln>
        </p:spPr>
        <p:txBody>
          <a:bodyPr wrap="square" lIns="50800" tIns="50800" rIns="50800" bIns="50800" rtlCol="0" anchor="ctr"/>
          <a:lstStyle/>
          <a:p>
            <a:pPr algn="ctr" indent="0" marL="0">
              <a:buNone/>
            </a:pPr>
            <a:r>
              <a:rPr lang="en-US" sz="1400" b="1" dirty="0">
                <a:solidFill>
                  <a:schemeClr val="bg1"/>
                </a:solidFill>
              </a:rPr>
              <a:t>Format</a:t>
            </a:r>
            <a:endParaRPr lang="en-US" sz="1400" dirty="0"/>
          </a:p>
        </p:txBody>
      </p:sp>
      <p:sp>
        <p:nvSpPr>
          <p:cNvPr id="10" name="Text 8"/>
          <p:cNvSpPr txBox="1"/>
          <p:nvPr/>
        </p:nvSpPr>
        <p:spPr>
          <a:xfrm>
            <a:off x="2286000" y="3785616"/>
            <a:ext cx="3017520" cy="640080"/>
          </a:xfrm>
          <a:prstGeom prst="rect">
            <a:avLst/>
          </a:prstGeom>
          <a:noFill/>
          <a:ln/>
        </p:spPr>
        <p:txBody>
          <a:bodyPr wrap="square" lIns="0" tIns="0" rIns="0" bIns="0" rtlCol="0" anchor="ctr"/>
          <a:lstStyle/>
          <a:p>
            <a:pPr indent="0" marL="0">
              <a:buNone/>
            </a:pPr>
            <a:r>
              <a:rPr lang="en-US" sz="1400" dirty="0">
                <a:solidFill>
                  <a:schemeClr val="tx1"/>
                </a:solidFill>
              </a:rPr>
              <a:t>Length, structure, JSON schema</a:t>
            </a:r>
            <a:endParaRPr lang="en-US" sz="1400" dirty="0"/>
          </a:p>
        </p:txBody>
      </p:sp>
      <p:sp>
        <p:nvSpPr>
          <p:cNvPr id="11" name="Text 9"/>
          <p:cNvSpPr txBox="1"/>
          <p:nvPr/>
        </p:nvSpPr>
        <p:spPr>
          <a:xfrm>
            <a:off x="548640" y="4590288"/>
            <a:ext cx="1554480" cy="640080"/>
          </a:xfrm>
          <a:prstGeom prst="roundRect">
            <a:avLst>
              <a:gd name="adj" fmla="val 11429"/>
            </a:avLst>
          </a:prstGeom>
          <a:solidFill>
            <a:schemeClr val="accent4"/>
          </a:solidFill>
          <a:ln w="9525">
            <a:solidFill>
              <a:schemeClr val="accent4"/>
            </a:solidFill>
          </a:ln>
        </p:spPr>
        <p:txBody>
          <a:bodyPr wrap="square" lIns="50800" tIns="50800" rIns="50800" bIns="50800" rtlCol="0" anchor="ctr"/>
          <a:lstStyle/>
          <a:p>
            <a:pPr algn="ctr" indent="0" marL="0">
              <a:buNone/>
            </a:pPr>
            <a:r>
              <a:rPr lang="en-US" sz="1400" b="1" dirty="0">
                <a:solidFill>
                  <a:schemeClr val="bg1"/>
                </a:solidFill>
              </a:rPr>
              <a:t>Constraints</a:t>
            </a:r>
            <a:endParaRPr lang="en-US" sz="1400" dirty="0"/>
          </a:p>
        </p:txBody>
      </p:sp>
      <p:sp>
        <p:nvSpPr>
          <p:cNvPr id="12" name="Text 10"/>
          <p:cNvSpPr txBox="1"/>
          <p:nvPr/>
        </p:nvSpPr>
        <p:spPr>
          <a:xfrm>
            <a:off x="2286000" y="4590288"/>
            <a:ext cx="3017520" cy="640080"/>
          </a:xfrm>
          <a:prstGeom prst="rect">
            <a:avLst/>
          </a:prstGeom>
          <a:noFill/>
          <a:ln/>
        </p:spPr>
        <p:txBody>
          <a:bodyPr wrap="square" lIns="0" tIns="0" rIns="0" bIns="0" rtlCol="0" anchor="ctr"/>
          <a:lstStyle/>
          <a:p>
            <a:pPr indent="0" marL="0">
              <a:buNone/>
            </a:pPr>
            <a:r>
              <a:rPr lang="en-US" sz="1400" dirty="0">
                <a:solidFill>
                  <a:schemeClr val="tx1"/>
                </a:solidFill>
              </a:rPr>
              <a:t>What it must never do; fallback</a:t>
            </a:r>
            <a:endParaRPr lang="en-US" sz="1400" dirty="0"/>
          </a:p>
        </p:txBody>
      </p:sp>
      <p:sp>
        <p:nvSpPr>
          <p:cNvPr id="13" name="Text 11"/>
          <p:cNvSpPr txBox="1"/>
          <p:nvPr/>
        </p:nvSpPr>
        <p:spPr>
          <a:xfrm>
            <a:off x="548640" y="5394960"/>
            <a:ext cx="1554480" cy="640080"/>
          </a:xfrm>
          <a:prstGeom prst="roundRect">
            <a:avLst>
              <a:gd name="adj" fmla="val 11429"/>
            </a:avLst>
          </a:prstGeom>
          <a:solidFill>
            <a:schemeClr val="accent2"/>
          </a:solidFill>
          <a:ln w="9525">
            <a:solidFill>
              <a:schemeClr val="accent2"/>
            </a:solidFill>
          </a:ln>
        </p:spPr>
        <p:txBody>
          <a:bodyPr wrap="square" lIns="50800" tIns="50800" rIns="50800" bIns="50800" rtlCol="0" anchor="ctr"/>
          <a:lstStyle/>
          <a:p>
            <a:pPr algn="ctr" indent="0" marL="0">
              <a:buNone/>
            </a:pPr>
            <a:r>
              <a:rPr lang="en-US" sz="1400" b="1" dirty="0">
                <a:solidFill>
                  <a:schemeClr val="tx1"/>
                </a:solidFill>
              </a:rPr>
              <a:t>Examples</a:t>
            </a:r>
            <a:endParaRPr lang="en-US" sz="1400" dirty="0"/>
          </a:p>
        </p:txBody>
      </p:sp>
      <p:sp>
        <p:nvSpPr>
          <p:cNvPr id="14" name="Text 12"/>
          <p:cNvSpPr txBox="1"/>
          <p:nvPr/>
        </p:nvSpPr>
        <p:spPr>
          <a:xfrm>
            <a:off x="2286000" y="5394960"/>
            <a:ext cx="3017520" cy="640080"/>
          </a:xfrm>
          <a:prstGeom prst="rect">
            <a:avLst/>
          </a:prstGeom>
          <a:noFill/>
          <a:ln/>
        </p:spPr>
        <p:txBody>
          <a:bodyPr wrap="square" lIns="0" tIns="0" rIns="0" bIns="0" rtlCol="0" anchor="ctr"/>
          <a:lstStyle/>
          <a:p>
            <a:pPr indent="0" marL="0">
              <a:buNone/>
            </a:pPr>
            <a:r>
              <a:rPr lang="en-US" sz="1400" dirty="0">
                <a:solidFill>
                  <a:schemeClr val="tx1"/>
                </a:solidFill>
              </a:rPr>
              <a:t>One or two ideal input → output pairs</a:t>
            </a:r>
            <a:endParaRPr lang="en-US" sz="1400" dirty="0"/>
          </a:p>
        </p:txBody>
      </p:sp>
      <p:sp>
        <p:nvSpPr>
          <p:cNvPr id="15" name="Shape 13"/>
          <p:cNvSpPr/>
          <p:nvPr/>
        </p:nvSpPr>
        <p:spPr>
          <a:xfrm>
            <a:off x="5669280" y="1371600"/>
            <a:ext cx="5943600" cy="4800600"/>
          </a:xfrm>
          <a:prstGeom prst="roundRect">
            <a:avLst>
              <a:gd name="adj" fmla="val 1905"/>
            </a:avLst>
          </a:prstGeom>
          <a:solidFill>
            <a:schemeClr val="tx2"/>
          </a:solidFill>
          <a:ln w="9525">
            <a:solidFill>
              <a:schemeClr val="tx2"/>
            </a:solidFill>
            <a:prstDash val="solid"/>
          </a:ln>
        </p:spPr>
      </p:sp>
      <p:sp>
        <p:nvSpPr>
          <p:cNvPr id="16" name="Text 14"/>
          <p:cNvSpPr txBox="1"/>
          <p:nvPr/>
        </p:nvSpPr>
        <p:spPr>
          <a:xfrm>
            <a:off x="5897880" y="1554480"/>
            <a:ext cx="5486400" cy="448056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ROLE: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You are a customer-service assistant for XYZ Bank.</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CONTEXT: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Use ONLY the policy excerpts below.</a:t>
            </a:r>
            <a:endParaRPr lang="en-US" sz="1300" dirty="0"/>
          </a:p>
          <a:p>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&lt;context&gt;{retrieved_chunks}&lt;/context&gt;</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TASK: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Answer the customer’s question about home-loan prepayment charges.</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FORMAT: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Max 120 words, plain English, cite the policy section.</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CONSTRAINTS: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If the answer is not in the context, say so and offer an agent. Never ask for OTP, PIN or full card number.</a:t>
            </a:r>
            <a:endParaRPr lang="en-US" sz="1300" dirty="0"/>
          </a:p>
          <a:p>
            <a:pPr indent="0" marL="0">
              <a:buNone/>
            </a:pPr>
            <a:r>
              <a:rPr lang="en-US" sz="1300" b="1" dirty="0">
                <a:solidFill>
                  <a:schemeClr val="accent2"/>
                </a:solidFill>
                <a:latin typeface="Courier New" pitchFamily="34" charset="0"/>
                <a:ea typeface="Courier New" pitchFamily="34" charset="-122"/>
                <a:cs typeface="Courier New" pitchFamily="34" charset="-120"/>
              </a:rPr>
              <a:t>EXAMPLE: </a:t>
            </a:r>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Q: Is there a fee to prepay?</a:t>
            </a:r>
            <a:endParaRPr lang="en-US" sz="1300" dirty="0"/>
          </a:p>
          <a:p>
            <a:pPr indent="0" marL="0">
              <a:spcAft>
                <a:spcPts val="1200"/>
              </a:spcAft>
              <a:buNone/>
            </a:pPr>
            <a:r>
              <a:rPr lang="en-US" sz="1300" dirty="0">
                <a:solidFill>
                  <a:schemeClr val="bg1"/>
                </a:solidFill>
                <a:latin typeface="Courier New" pitchFamily="34" charset="0"/>
                <a:ea typeface="Courier New" pitchFamily="34" charset="-122"/>
                <a:cs typeface="Courier New" pitchFamily="34" charset="-120"/>
              </a:rPr>
              <a:t>A: For floating-rate home loans… [Policy 4.2]</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bg1"/>
                </a:solidFill>
              </a:rPr>
              <a:t>Key Takeaways</a:t>
            </a:r>
            <a:endParaRPr lang="en-US" sz="3200" dirty="0"/>
          </a:p>
        </p:txBody>
      </p:sp>
      <p:sp>
        <p:nvSpPr>
          <p:cNvPr id="3" name="Text 1"/>
          <p:cNvSpPr txBox="1"/>
          <p:nvPr/>
        </p:nvSpPr>
        <p:spPr>
          <a:xfrm>
            <a:off x="548640" y="1417320"/>
            <a:ext cx="91440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01</a:t>
            </a:r>
            <a:endParaRPr lang="en-US" sz="3200" dirty="0"/>
          </a:p>
        </p:txBody>
      </p:sp>
      <p:sp>
        <p:nvSpPr>
          <p:cNvPr id="4" name="Text 2"/>
          <p:cNvSpPr txBox="1"/>
          <p:nvPr/>
        </p:nvSpPr>
        <p:spPr>
          <a:xfrm>
            <a:off x="1600200" y="1417320"/>
            <a:ext cx="9966960" cy="822960"/>
          </a:xfrm>
          <a:prstGeom prst="rect">
            <a:avLst/>
          </a:prstGeom>
          <a:noFill/>
          <a:ln/>
        </p:spPr>
        <p:txBody>
          <a:bodyPr wrap="square" lIns="0" tIns="0" rIns="0" bIns="0" rtlCol="0" anchor="ctr"/>
          <a:lstStyle/>
          <a:p>
            <a:pPr indent="0" marL="0">
              <a:buNone/>
            </a:pPr>
            <a:r>
              <a:rPr lang="en-US" sz="1800" b="1" dirty="0">
                <a:solidFill>
                  <a:schemeClr val="bg1"/>
                </a:solidFill>
              </a:rPr>
              <a:t>GenAI generates; ML predicts.</a:t>
            </a:r>
            <a:endParaRPr lang="en-US" sz="1400" dirty="0"/>
          </a:p>
          <a:p>
            <a:pPr indent="0" marL="0">
              <a:buNone/>
            </a:pPr>
            <a:r>
              <a:rPr lang="en-US" sz="1400" dirty="0">
                <a:solidFill>
                  <a:schemeClr val="bg2"/>
                </a:solidFill>
              </a:rPr>
              <a:t>Use each where it fits — and keep rules and code for exact logic.</a:t>
            </a:r>
            <a:endParaRPr lang="en-US" sz="1400" dirty="0"/>
          </a:p>
        </p:txBody>
      </p:sp>
      <p:sp>
        <p:nvSpPr>
          <p:cNvPr id="5" name="Text 3"/>
          <p:cNvSpPr txBox="1"/>
          <p:nvPr/>
        </p:nvSpPr>
        <p:spPr>
          <a:xfrm>
            <a:off x="548640" y="2377440"/>
            <a:ext cx="91440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02</a:t>
            </a:r>
            <a:endParaRPr lang="en-US" sz="3200" dirty="0"/>
          </a:p>
        </p:txBody>
      </p:sp>
      <p:sp>
        <p:nvSpPr>
          <p:cNvPr id="6" name="Text 4"/>
          <p:cNvSpPr txBox="1"/>
          <p:nvPr/>
        </p:nvSpPr>
        <p:spPr>
          <a:xfrm>
            <a:off x="1600200" y="2377440"/>
            <a:ext cx="9966960" cy="822960"/>
          </a:xfrm>
          <a:prstGeom prst="rect">
            <a:avLst/>
          </a:prstGeom>
          <a:noFill/>
          <a:ln/>
        </p:spPr>
        <p:txBody>
          <a:bodyPr wrap="square" lIns="0" tIns="0" rIns="0" bIns="0" rtlCol="0" anchor="ctr"/>
          <a:lstStyle/>
          <a:p>
            <a:pPr indent="0" marL="0">
              <a:buNone/>
            </a:pPr>
            <a:r>
              <a:rPr lang="en-US" sz="1800" b="1" dirty="0">
                <a:solidFill>
                  <a:schemeClr val="bg1"/>
                </a:solidFill>
              </a:rPr>
              <a:t>It is next-token prediction at scale.</a:t>
            </a:r>
            <a:endParaRPr lang="en-US" sz="1400" dirty="0"/>
          </a:p>
          <a:p>
            <a:pPr indent="0" marL="0">
              <a:buNone/>
            </a:pPr>
            <a:r>
              <a:rPr lang="en-US" sz="1400" dirty="0">
                <a:solidFill>
                  <a:schemeClr val="bg2"/>
                </a:solidFill>
              </a:rPr>
              <a:t>Tokens → embeddings → attention → probabilities → sampling, in a loop.</a:t>
            </a:r>
            <a:endParaRPr lang="en-US" sz="1400" dirty="0"/>
          </a:p>
        </p:txBody>
      </p:sp>
      <p:sp>
        <p:nvSpPr>
          <p:cNvPr id="7" name="Text 5"/>
          <p:cNvSpPr txBox="1"/>
          <p:nvPr/>
        </p:nvSpPr>
        <p:spPr>
          <a:xfrm>
            <a:off x="548640" y="3337560"/>
            <a:ext cx="91440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03</a:t>
            </a:r>
            <a:endParaRPr lang="en-US" sz="3200" dirty="0"/>
          </a:p>
        </p:txBody>
      </p:sp>
      <p:sp>
        <p:nvSpPr>
          <p:cNvPr id="8" name="Text 6"/>
          <p:cNvSpPr txBox="1"/>
          <p:nvPr/>
        </p:nvSpPr>
        <p:spPr>
          <a:xfrm>
            <a:off x="1600200" y="3337560"/>
            <a:ext cx="9966960" cy="822960"/>
          </a:xfrm>
          <a:prstGeom prst="rect">
            <a:avLst/>
          </a:prstGeom>
          <a:noFill/>
          <a:ln/>
        </p:spPr>
        <p:txBody>
          <a:bodyPr wrap="square" lIns="0" tIns="0" rIns="0" bIns="0" rtlCol="0" anchor="ctr"/>
          <a:lstStyle/>
          <a:p>
            <a:pPr indent="0" marL="0">
              <a:buNone/>
            </a:pPr>
            <a:r>
              <a:rPr lang="en-US" sz="1800" b="1" dirty="0">
                <a:solidFill>
                  <a:schemeClr val="bg1"/>
                </a:solidFill>
              </a:rPr>
              <a:t>Bias, hallucination and stochasticity are built in.</a:t>
            </a:r>
            <a:endParaRPr lang="en-US" sz="1400" dirty="0"/>
          </a:p>
          <a:p>
            <a:pPr indent="0" marL="0">
              <a:buNone/>
            </a:pPr>
            <a:r>
              <a:rPr lang="en-US" sz="1400" dirty="0">
                <a:solidFill>
                  <a:schemeClr val="bg2"/>
                </a:solidFill>
              </a:rPr>
              <a:t>Design controls around them; they cannot be trained away completely.</a:t>
            </a:r>
            <a:endParaRPr lang="en-US" sz="1400" dirty="0"/>
          </a:p>
        </p:txBody>
      </p:sp>
      <p:sp>
        <p:nvSpPr>
          <p:cNvPr id="9" name="Text 7"/>
          <p:cNvSpPr txBox="1"/>
          <p:nvPr/>
        </p:nvSpPr>
        <p:spPr>
          <a:xfrm>
            <a:off x="548640" y="4297680"/>
            <a:ext cx="91440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04</a:t>
            </a:r>
            <a:endParaRPr lang="en-US" sz="3200" dirty="0"/>
          </a:p>
        </p:txBody>
      </p:sp>
      <p:sp>
        <p:nvSpPr>
          <p:cNvPr id="10" name="Text 8"/>
          <p:cNvSpPr txBox="1"/>
          <p:nvPr/>
        </p:nvSpPr>
        <p:spPr>
          <a:xfrm>
            <a:off x="1600200" y="4297680"/>
            <a:ext cx="9966960" cy="822960"/>
          </a:xfrm>
          <a:prstGeom prst="rect">
            <a:avLst/>
          </a:prstGeom>
          <a:noFill/>
          <a:ln/>
        </p:spPr>
        <p:txBody>
          <a:bodyPr wrap="square" lIns="0" tIns="0" rIns="0" bIns="0" rtlCol="0" anchor="ctr"/>
          <a:lstStyle/>
          <a:p>
            <a:pPr indent="0" marL="0">
              <a:buNone/>
            </a:pPr>
            <a:r>
              <a:rPr lang="en-US" sz="1800" b="1" dirty="0">
                <a:solidFill>
                  <a:schemeClr val="bg1"/>
                </a:solidFill>
              </a:rPr>
              <a:t>Deployment is a governance problem as much as a tech one.</a:t>
            </a:r>
            <a:endParaRPr lang="en-US" sz="1400" dirty="0"/>
          </a:p>
          <a:p>
            <a:pPr indent="0" marL="0">
              <a:buNone/>
            </a:pPr>
            <a:r>
              <a:rPr lang="en-US" sz="1400" dirty="0">
                <a:solidFill>
                  <a:schemeClr val="bg2"/>
                </a:solidFill>
              </a:rPr>
              <a:t>Privacy, model risk, accountability and cost decide success.</a:t>
            </a:r>
            <a:endParaRPr lang="en-US" sz="1400" dirty="0"/>
          </a:p>
        </p:txBody>
      </p:sp>
      <p:sp>
        <p:nvSpPr>
          <p:cNvPr id="11" name="Text 9"/>
          <p:cNvSpPr txBox="1"/>
          <p:nvPr/>
        </p:nvSpPr>
        <p:spPr>
          <a:xfrm>
            <a:off x="548640" y="5257800"/>
            <a:ext cx="91440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05</a:t>
            </a:r>
            <a:endParaRPr lang="en-US" sz="3200" dirty="0"/>
          </a:p>
        </p:txBody>
      </p:sp>
      <p:sp>
        <p:nvSpPr>
          <p:cNvPr id="12" name="Text 10"/>
          <p:cNvSpPr txBox="1"/>
          <p:nvPr/>
        </p:nvSpPr>
        <p:spPr>
          <a:xfrm>
            <a:off x="1600200" y="5257800"/>
            <a:ext cx="9966960" cy="822960"/>
          </a:xfrm>
          <a:prstGeom prst="rect">
            <a:avLst/>
          </a:prstGeom>
          <a:noFill/>
          <a:ln/>
        </p:spPr>
        <p:txBody>
          <a:bodyPr wrap="square" lIns="0" tIns="0" rIns="0" bIns="0" rtlCol="0" anchor="ctr"/>
          <a:lstStyle/>
          <a:p>
            <a:pPr indent="0" marL="0">
              <a:buNone/>
            </a:pPr>
            <a:r>
              <a:rPr lang="en-US" sz="1800" b="1" dirty="0">
                <a:solidFill>
                  <a:schemeClr val="bg1"/>
                </a:solidFill>
              </a:rPr>
              <a:t>Draft, assist, augment.</a:t>
            </a:r>
            <a:endParaRPr lang="en-US" sz="1400" dirty="0"/>
          </a:p>
          <a:p>
            <a:pPr indent="0" marL="0">
              <a:buNone/>
            </a:pPr>
            <a:r>
              <a:rPr lang="en-US" sz="1400" dirty="0">
                <a:solidFill>
                  <a:schemeClr val="bg2"/>
                </a:solidFill>
              </a:rPr>
              <a:t>GenAI drafts, humans decide, systems calculate — in every banking use case.</a:t>
            </a:r>
            <a:endParaRPr lang="en-US" sz="1400" dirty="0"/>
          </a:p>
        </p:txBody>
      </p:sp>
    </p:spTree>
  </p:cSld>
  <p:clrMapOvr>
    <a:masterClrMapping/>
  </p:clrMapOvr>
</p:sld>
</file>

<file path=ppt/theme/theme1.xml><?xml version="1.0" encoding="utf-8"?>
<a:theme xmlns:a="http://schemas.openxmlformats.org/drawingml/2006/main" name="GenAI Banking">
  <a:themeElements>
    <a:clrScheme name="GenAI Banking">
      <a:dk1>
        <a:srgbClr val="16242B"/>
      </a:dk1>
      <a:lt1>
        <a:srgbClr val="FFFFFF"/>
      </a:lt1>
      <a:dk2>
        <a:srgbClr val="0E3B3C"/>
      </a:dk2>
      <a:lt2>
        <a:srgbClr val="EDF3F1"/>
      </a:lt2>
      <a:accent1>
        <a:srgbClr val="0F6E62"/>
      </a:accent1>
      <a:accent2>
        <a:srgbClr val="D99A1E"/>
      </a:accent2>
      <a:accent3>
        <a:srgbClr val="2E4A7D"/>
      </a:accent3>
      <a:accent4>
        <a:srgbClr val="B5523B"/>
      </a:accent4>
      <a:accent5>
        <a:srgbClr val="5E8466"/>
      </a:accent5>
      <a:accent6>
        <a:srgbClr val="7A5FA6"/>
      </a:accent6>
      <a:hlink>
        <a:srgbClr val="0F6E62"/>
      </a:hlink>
      <a:folHlink>
        <a:srgbClr val="5E8466"/>
      </a:folHlink>
    </a:clrScheme>
    <a:fontScheme name="GenAI Bank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in Banking</dc:title>
  <dc:subject>PptxGenJS Presentation</dc:subject>
  <dc:creator>GenAI Training</dc:creator>
  <cp:lastModifiedBy>GenAI Training</cp:lastModifiedBy>
  <cp:revision>1</cp:revision>
  <dcterms:created xsi:type="dcterms:W3CDTF">2026-10-16T02:53:06Z</dcterms:created>
  <dcterms:modified xsi:type="dcterms:W3CDTF">2026-10-16T02:53:06Z</dcterms:modified>
</cp:coreProperties>
</file>